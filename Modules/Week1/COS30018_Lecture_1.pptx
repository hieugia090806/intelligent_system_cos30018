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87" r:id="rId3"/>
    <p:sldId id="259" r:id="rId4"/>
    <p:sldId id="288" r:id="rId5"/>
    <p:sldId id="261" r:id="rId6"/>
    <p:sldId id="290" r:id="rId7"/>
    <p:sldId id="262" r:id="rId8"/>
    <p:sldId id="291" r:id="rId9"/>
    <p:sldId id="263" r:id="rId10"/>
    <p:sldId id="292" r:id="rId11"/>
    <p:sldId id="264" r:id="rId12"/>
    <p:sldId id="265" r:id="rId13"/>
    <p:sldId id="294" r:id="rId14"/>
    <p:sldId id="295" r:id="rId15"/>
    <p:sldId id="268" r:id="rId16"/>
    <p:sldId id="320" r:id="rId17"/>
    <p:sldId id="270" r:id="rId18"/>
    <p:sldId id="298" r:id="rId19"/>
    <p:sldId id="328" r:id="rId20"/>
    <p:sldId id="299" r:id="rId21"/>
    <p:sldId id="321" r:id="rId22"/>
    <p:sldId id="322" r:id="rId23"/>
    <p:sldId id="300" r:id="rId24"/>
    <p:sldId id="323" r:id="rId25"/>
    <p:sldId id="324" r:id="rId26"/>
    <p:sldId id="272" r:id="rId27"/>
    <p:sldId id="329" r:id="rId28"/>
    <p:sldId id="302" r:id="rId29"/>
    <p:sldId id="274" r:id="rId30"/>
    <p:sldId id="303" r:id="rId31"/>
    <p:sldId id="275" r:id="rId32"/>
    <p:sldId id="304" r:id="rId33"/>
    <p:sldId id="276" r:id="rId34"/>
    <p:sldId id="305" r:id="rId35"/>
    <p:sldId id="315" r:id="rId36"/>
    <p:sldId id="316" r:id="rId37"/>
    <p:sldId id="317" r:id="rId38"/>
    <p:sldId id="318" r:id="rId39"/>
    <p:sldId id="319" r:id="rId40"/>
    <p:sldId id="308" r:id="rId41"/>
    <p:sldId id="280" r:id="rId42"/>
    <p:sldId id="330" r:id="rId43"/>
    <p:sldId id="309" r:id="rId44"/>
    <p:sldId id="281" r:id="rId45"/>
    <p:sldId id="310" r:id="rId46"/>
    <p:sldId id="282" r:id="rId47"/>
    <p:sldId id="311" r:id="rId48"/>
    <p:sldId id="283" r:id="rId49"/>
    <p:sldId id="325" r:id="rId50"/>
    <p:sldId id="326" r:id="rId51"/>
    <p:sldId id="312" r:id="rId52"/>
    <p:sldId id="327" r:id="rId53"/>
    <p:sldId id="284" r:id="rId54"/>
  </p:sldIdLst>
  <p:sldSz cx="7556500" cy="5346700"/>
  <p:notesSz cx="7556500" cy="10693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p:cViewPr>
        <p:scale>
          <a:sx n="100" d="100"/>
          <a:sy n="100" d="100"/>
        </p:scale>
        <p:origin x="147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3645BD7D-349A-4A51-BC9C-2480CDB41739}" type="datetimeFigureOut">
              <a:rPr lang="en-001" smtClean="0"/>
              <a:t>14/05/2026</a:t>
            </a:fld>
            <a:endParaRPr lang="en-001"/>
          </a:p>
        </p:txBody>
      </p:sp>
      <p:sp>
        <p:nvSpPr>
          <p:cNvPr id="4" name="Slide Image Placeholder 3"/>
          <p:cNvSpPr>
            <a:spLocks noGrp="1" noRot="1" noChangeAspect="1"/>
          </p:cNvSpPr>
          <p:nvPr>
            <p:ph type="sldImg" idx="2"/>
          </p:nvPr>
        </p:nvSpPr>
        <p:spPr>
          <a:xfrm>
            <a:off x="1228725" y="1336675"/>
            <a:ext cx="5099050" cy="3608388"/>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2B1E8B5F-A777-4787-905A-146F5B2F8353}" type="slidenum">
              <a:rPr lang="en-001" smtClean="0"/>
              <a:t>‹#›</a:t>
            </a:fld>
            <a:endParaRPr lang="en-001"/>
          </a:p>
        </p:txBody>
      </p:sp>
    </p:spTree>
    <p:extLst>
      <p:ext uri="{BB962C8B-B14F-4D97-AF65-F5344CB8AC3E}">
        <p14:creationId xmlns:p14="http://schemas.microsoft.com/office/powerpoint/2010/main" val="2547063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eeksforgeeks.org/artificial-intelligence/simple-reflex-agents-in-ai/"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eeksforgeeks.org/artificial-intelligence/model-based-reflex-agents-in-ai/"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geeksforgeeks.org/artificial-intelligence/goal-based-ai-agents/"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geeksforgeeks.org/artificial-intelligence/utility-based-agents-in-ai/"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geeksforgeeks.org/artificial-intelligence/learning-agents-in-ai/"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geeksforgeeks.org/artificial-intelligence/multi-agent-system-in-ai/"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75569"/>
                </a:solidFill>
                <a:latin typeface="Calibri" pitchFamily="34" charset="0"/>
                <a:ea typeface="Calibri" pitchFamily="34" charset="-122"/>
                <a:cs typeface="Calibri" pitchFamily="34" charset="-120"/>
              </a:rPr>
              <a:t>Siri, Google, and Alexa now hold context across a conversation — not just keyword lookup</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75569"/>
                </a:solidFill>
                <a:latin typeface="Calibri" pitchFamily="34" charset="0"/>
                <a:ea typeface="Calibri" pitchFamily="34" charset="-122"/>
                <a:cs typeface="Calibri" pitchFamily="34" charset="-120"/>
              </a:rPr>
              <a:t>TikTok &amp; Netflix models process billions of signals to surface what keeps you watching</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75569"/>
                </a:solidFill>
                <a:latin typeface="Calibri" pitchFamily="34" charset="0"/>
                <a:ea typeface="Calibri" pitchFamily="34" charset="-122"/>
                <a:cs typeface="Calibri" pitchFamily="34" charset="-120"/>
              </a:rPr>
              <a:t>Waymo completed 2M+ fully autonomous trips in 2025; Tesla FSD v13 handles city streets</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75569"/>
                </a:solidFill>
                <a:latin typeface="Calibri" pitchFamily="34" charset="0"/>
                <a:ea typeface="Calibri" pitchFamily="34" charset="-122"/>
                <a:cs typeface="Calibri" pitchFamily="34" charset="-120"/>
              </a:rPr>
              <a:t>GitHub Copilot writes ~46% of new code; Claude &amp; GPT-4o can debug, test, and document</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75569"/>
                </a:solidFill>
                <a:latin typeface="Calibri" pitchFamily="34" charset="0"/>
                <a:ea typeface="Calibri" pitchFamily="34" charset="-122"/>
                <a:cs typeface="Calibri" pitchFamily="34" charset="-120"/>
              </a:rPr>
              <a:t>Google Lens, GPT-4o, and Gemini read images, diagrams, receipts — not just typed queries</a:t>
            </a:r>
            <a:endParaRPr lang="en-US" sz="1200" dirty="0"/>
          </a:p>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13</a:t>
            </a:fld>
            <a:endParaRPr lang="en-001"/>
          </a:p>
        </p:txBody>
      </p:sp>
    </p:spTree>
    <p:extLst>
      <p:ext uri="{BB962C8B-B14F-4D97-AF65-F5344CB8AC3E}">
        <p14:creationId xmlns:p14="http://schemas.microsoft.com/office/powerpoint/2010/main" val="2093769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A system that perceives its environment, processes information, reasons under uncertainty, and acts autonomously to achieve goals.“</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Perception:</a:t>
            </a:r>
            <a:r>
              <a:rPr lang="en-US" sz="1200" b="0" i="0" kern="1200" dirty="0">
                <a:solidFill>
                  <a:schemeClr val="tx1"/>
                </a:solidFill>
                <a:effectLst/>
                <a:latin typeface="+mn-lt"/>
                <a:ea typeface="+mn-ea"/>
                <a:cs typeface="+mn-cs"/>
              </a:rPr>
              <a:t> Video, text, and sensors.</a:t>
            </a:r>
          </a:p>
          <a:p>
            <a:r>
              <a:rPr lang="en-US" sz="1200" b="1" i="0" kern="1200" dirty="0">
                <a:solidFill>
                  <a:schemeClr val="tx1"/>
                </a:solidFill>
                <a:effectLst/>
                <a:latin typeface="+mn-lt"/>
                <a:ea typeface="+mn-ea"/>
                <a:cs typeface="+mn-cs"/>
              </a:rPr>
              <a:t>Reasoning:</a:t>
            </a:r>
            <a:r>
              <a:rPr lang="en-US" sz="1200" b="0" i="0" kern="1200" dirty="0">
                <a:solidFill>
                  <a:schemeClr val="tx1"/>
                </a:solidFill>
                <a:effectLst/>
                <a:latin typeface="+mn-lt"/>
                <a:ea typeface="+mn-ea"/>
                <a:cs typeface="+mn-cs"/>
              </a:rPr>
              <a:t> Pattern recognition and logic.</a:t>
            </a:r>
          </a:p>
          <a:p>
            <a:r>
              <a:rPr lang="en-US" sz="1200" b="1" i="0" kern="1200" dirty="0">
                <a:solidFill>
                  <a:schemeClr val="tx1"/>
                </a:solidFill>
                <a:effectLst/>
                <a:latin typeface="+mn-lt"/>
                <a:ea typeface="+mn-ea"/>
                <a:cs typeface="+mn-cs"/>
              </a:rPr>
              <a:t>Autonomy:</a:t>
            </a:r>
            <a:r>
              <a:rPr lang="en-US" sz="1200" b="0" i="0" kern="1200" dirty="0">
                <a:solidFill>
                  <a:schemeClr val="tx1"/>
                </a:solidFill>
                <a:effectLst/>
                <a:latin typeface="+mn-lt"/>
                <a:ea typeface="+mn-ea"/>
                <a:cs typeface="+mn-cs"/>
              </a:rPr>
              <a:t> Independent goal achievement.</a:t>
            </a:r>
          </a:p>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15</a:t>
            </a:fld>
            <a:endParaRPr lang="en-001"/>
          </a:p>
        </p:txBody>
      </p:sp>
    </p:spTree>
    <p:extLst>
      <p:ext uri="{BB962C8B-B14F-4D97-AF65-F5344CB8AC3E}">
        <p14:creationId xmlns:p14="http://schemas.microsoft.com/office/powerpoint/2010/main" val="3312037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17</a:t>
            </a:fld>
            <a:endParaRPr lang="en-001"/>
          </a:p>
        </p:txBody>
      </p:sp>
    </p:spTree>
    <p:extLst>
      <p:ext uri="{BB962C8B-B14F-4D97-AF65-F5344CB8AC3E}">
        <p14:creationId xmlns:p14="http://schemas.microsoft.com/office/powerpoint/2010/main" val="1334581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F1F3D"/>
                </a:solidFill>
                <a:latin typeface="Calibri" pitchFamily="34" charset="0"/>
                <a:ea typeface="Calibri" pitchFamily="34" charset="-122"/>
                <a:cs typeface="Calibri" pitchFamily="34" charset="-120"/>
              </a:rPr>
              <a:t>Why 'Acting Rationally' Dominates: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1E293B"/>
                </a:solidFill>
                <a:latin typeface="Calibri" pitchFamily="34" charset="0"/>
                <a:ea typeface="Calibri" pitchFamily="34" charset="-122"/>
                <a:cs typeface="Calibri" pitchFamily="34" charset="-120"/>
              </a:rPr>
              <a:t>No need to model human quirks: </a:t>
            </a:r>
            <a:r>
              <a:rPr lang="en-US" sz="1200" dirty="0">
                <a:solidFill>
                  <a:srgbClr val="475569"/>
                </a:solidFill>
                <a:latin typeface="Calibri" pitchFamily="34" charset="0"/>
                <a:ea typeface="Calibri" pitchFamily="34" charset="-122"/>
                <a:cs typeface="Calibri" pitchFamily="34" charset="-120"/>
              </a:rPr>
              <a:t>Human intelligence is irrational, inconsistent, and context-dependent. Rational agents don't need to mimic these flaws — they just need to reach goals effectively.</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1E293B"/>
                </a:solidFill>
                <a:latin typeface="Calibri" pitchFamily="34" charset="0"/>
                <a:ea typeface="Calibri" pitchFamily="34" charset="-122"/>
                <a:cs typeface="Calibri" pitchFamily="34" charset="-120"/>
              </a:rPr>
              <a:t>Measurable, optimizable objective: </a:t>
            </a:r>
            <a:r>
              <a:rPr lang="en-US" sz="1200" dirty="0">
                <a:solidFill>
                  <a:srgbClr val="475569"/>
                </a:solidFill>
                <a:latin typeface="Calibri" pitchFamily="34" charset="0"/>
                <a:ea typeface="Calibri" pitchFamily="34" charset="-122"/>
                <a:cs typeface="Calibri" pitchFamily="34" charset="-120"/>
              </a:rPr>
              <a:t>We can formally specify a utility function. The agent maximizes it. This makes evaluation, training (RL), and improvement tractable — you know when it's getting better.</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1E293B"/>
                </a:solidFill>
                <a:latin typeface="Calibri" pitchFamily="34" charset="0"/>
                <a:ea typeface="Calibri" pitchFamily="34" charset="-122"/>
                <a:cs typeface="Calibri" pitchFamily="34" charset="-120"/>
              </a:rPr>
              <a:t>Works across radically different domains: </a:t>
            </a:r>
            <a:r>
              <a:rPr lang="en-US" sz="1200" dirty="0">
                <a:solidFill>
                  <a:srgbClr val="475569"/>
                </a:solidFill>
                <a:latin typeface="Calibri" pitchFamily="34" charset="0"/>
                <a:ea typeface="Calibri" pitchFamily="34" charset="-122"/>
                <a:cs typeface="Calibri" pitchFamily="34" charset="-120"/>
              </a:rPr>
              <a:t>The same rational-agent framework describes a chess engine, a recommendation system, a trading algorithm, and a humanoid robot. Universal and powerful.</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p>
        </p:txBody>
      </p:sp>
      <p:sp>
        <p:nvSpPr>
          <p:cNvPr id="4" name="Slide Number Placeholder 3"/>
          <p:cNvSpPr>
            <a:spLocks noGrp="1"/>
          </p:cNvSpPr>
          <p:nvPr>
            <p:ph type="sldNum" sz="quarter" idx="5"/>
          </p:nvPr>
        </p:nvSpPr>
        <p:spPr/>
        <p:txBody>
          <a:bodyPr/>
          <a:lstStyle/>
          <a:p>
            <a:fld id="{2B1E8B5F-A777-4787-905A-146F5B2F8353}" type="slidenum">
              <a:rPr lang="en-001" smtClean="0"/>
              <a:t>21</a:t>
            </a:fld>
            <a:endParaRPr lang="en-001"/>
          </a:p>
        </p:txBody>
      </p:sp>
    </p:spTree>
    <p:extLst>
      <p:ext uri="{BB962C8B-B14F-4D97-AF65-F5344CB8AC3E}">
        <p14:creationId xmlns:p14="http://schemas.microsoft.com/office/powerpoint/2010/main" val="2335168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E0F4E-CBC7-4ADD-91F7-556A8B754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99011-0066-53F9-06F0-E461C74B55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695E57-7E95-E40B-0A49-C8793DB19D89}"/>
              </a:ext>
            </a:extLst>
          </p:cNvPr>
          <p:cNvSpPr>
            <a:spLocks noGrp="1"/>
          </p:cNvSpPr>
          <p:nvPr>
            <p:ph type="body" idx="1"/>
          </p:nvPr>
        </p:nvSpPr>
        <p:spPr/>
        <p:txBody>
          <a:bodyPr/>
          <a:lstStyle/>
          <a:p>
            <a:endParaRPr lang="en-001" dirty="0"/>
          </a:p>
        </p:txBody>
      </p:sp>
      <p:sp>
        <p:nvSpPr>
          <p:cNvPr id="4" name="Slide Number Placeholder 3">
            <a:extLst>
              <a:ext uri="{FF2B5EF4-FFF2-40B4-BE49-F238E27FC236}">
                <a16:creationId xmlns:a16="http://schemas.microsoft.com/office/drawing/2014/main" id="{18A5F21B-8A60-7FA3-325F-A7B263DAAA7B}"/>
              </a:ext>
            </a:extLst>
          </p:cNvPr>
          <p:cNvSpPr>
            <a:spLocks noGrp="1"/>
          </p:cNvSpPr>
          <p:nvPr>
            <p:ph type="sldNum" sz="quarter" idx="5"/>
          </p:nvPr>
        </p:nvSpPr>
        <p:spPr/>
        <p:txBody>
          <a:bodyPr/>
          <a:lstStyle/>
          <a:p>
            <a:fld id="{2B1E8B5F-A777-4787-905A-146F5B2F8353}" type="slidenum">
              <a:rPr lang="en-001" smtClean="0"/>
              <a:t>22</a:t>
            </a:fld>
            <a:endParaRPr lang="en-001"/>
          </a:p>
        </p:txBody>
      </p:sp>
    </p:spTree>
    <p:extLst>
      <p:ext uri="{BB962C8B-B14F-4D97-AF65-F5344CB8AC3E}">
        <p14:creationId xmlns:p14="http://schemas.microsoft.com/office/powerpoint/2010/main" val="2080644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25</a:t>
            </a:fld>
            <a:endParaRPr lang="en-001"/>
          </a:p>
        </p:txBody>
      </p:sp>
    </p:spTree>
    <p:extLst>
      <p:ext uri="{BB962C8B-B14F-4D97-AF65-F5344CB8AC3E}">
        <p14:creationId xmlns:p14="http://schemas.microsoft.com/office/powerpoint/2010/main" val="439703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38</a:t>
            </a:fld>
            <a:endParaRPr lang="en-001"/>
          </a:p>
        </p:txBody>
      </p:sp>
    </p:spTree>
    <p:extLst>
      <p:ext uri="{BB962C8B-B14F-4D97-AF65-F5344CB8AC3E}">
        <p14:creationId xmlns:p14="http://schemas.microsoft.com/office/powerpoint/2010/main" val="3696266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sng" kern="1200" dirty="0">
                <a:solidFill>
                  <a:schemeClr val="tx1"/>
                </a:solidFill>
                <a:effectLst/>
                <a:latin typeface="+mn-lt"/>
                <a:ea typeface="+mn-ea"/>
                <a:cs typeface="+mn-cs"/>
                <a:hlinkClick r:id="rId3"/>
              </a:rPr>
              <a:t>Simple reflex agents</a:t>
            </a:r>
            <a:r>
              <a:rPr lang="en-US" sz="1200" b="0" i="0" kern="1200" dirty="0">
                <a:solidFill>
                  <a:schemeClr val="tx1"/>
                </a:solidFill>
                <a:effectLst/>
                <a:latin typeface="+mn-lt"/>
                <a:ea typeface="+mn-ea"/>
                <a:cs typeface="+mn-cs"/>
              </a:rPr>
              <a:t> act solely on the current percept using predefined condition–action rules, without storing or considering any history. They are fast and easy to implement, making them suitable for fully observable, stable environments with clear and simple rules. However, they tend to fail in dynamic or partially observable situations because they lack memory and deeper reasoning capabilities.</a:t>
            </a:r>
          </a:p>
          <a:p>
            <a:pPr fontAlgn="base"/>
            <a:r>
              <a:rPr lang="en-US" sz="1200" b="1" i="0" kern="1200" dirty="0">
                <a:solidFill>
                  <a:schemeClr val="tx1"/>
                </a:solidFill>
                <a:effectLst/>
                <a:latin typeface="+mn-lt"/>
                <a:ea typeface="+mn-ea"/>
                <a:cs typeface="+mn-cs"/>
              </a:rPr>
              <a:t>Key Characteristics: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Reactive:</a:t>
            </a:r>
            <a:r>
              <a:rPr lang="en-US" sz="1200" b="0" i="0" kern="1200" dirty="0">
                <a:solidFill>
                  <a:schemeClr val="tx1"/>
                </a:solidFill>
                <a:effectLst/>
                <a:latin typeface="+mn-lt"/>
                <a:ea typeface="+mn-ea"/>
                <a:cs typeface="+mn-cs"/>
              </a:rPr>
              <a:t> These agents respond immediately to inputs without consideration for prior events or predicting future outcomes.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Limited Scope:</a:t>
            </a:r>
            <a:r>
              <a:rPr lang="en-US" sz="1200" b="0" i="0" kern="1200" dirty="0">
                <a:solidFill>
                  <a:schemeClr val="tx1"/>
                </a:solidFill>
                <a:effectLst/>
                <a:latin typeface="+mn-lt"/>
                <a:ea typeface="+mn-ea"/>
                <a:cs typeface="+mn-cs"/>
              </a:rPr>
              <a:t> They excel in predictable environments where tasks are straightforward and the relationships between actions and results are well understood.</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Quick Response: </a:t>
            </a:r>
            <a:r>
              <a:rPr lang="en-US" sz="1200" b="0" i="0" kern="1200" dirty="0">
                <a:solidFill>
                  <a:schemeClr val="tx1"/>
                </a:solidFill>
                <a:effectLst/>
                <a:latin typeface="+mn-lt"/>
                <a:ea typeface="+mn-ea"/>
                <a:cs typeface="+mn-cs"/>
              </a:rPr>
              <a:t>Since decisions are made based only on immediate input, it can react without delay.</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No Learning:</a:t>
            </a:r>
            <a:r>
              <a:rPr lang="en-US" sz="1200" b="0" i="0" kern="1200" dirty="0">
                <a:solidFill>
                  <a:schemeClr val="tx1"/>
                </a:solidFill>
                <a:effectLst/>
                <a:latin typeface="+mn-lt"/>
                <a:ea typeface="+mn-ea"/>
                <a:cs typeface="+mn-cs"/>
              </a:rPr>
              <a:t> These agents cannot improve or change their behavior based on past experiences.</a:t>
            </a:r>
          </a:p>
          <a:p>
            <a:pPr marL="171450" indent="-171450" rtl="0" fontAlgn="base">
              <a:buFont typeface="Arial" panose="020B0604020202020204" pitchFamily="34" charset="0"/>
              <a:buChar char="•"/>
            </a:pPr>
            <a:r>
              <a:rPr lang="en-US" sz="1200" b="1" i="0" kern="1200" dirty="0">
                <a:solidFill>
                  <a:schemeClr val="tx1"/>
                </a:solidFill>
                <a:effectLst/>
                <a:latin typeface="+mn-lt"/>
                <a:ea typeface="+mn-ea"/>
                <a:cs typeface="+mn-cs"/>
              </a:rPr>
              <a:t>Example: </a:t>
            </a:r>
            <a:r>
              <a:rPr lang="en-US" sz="1200" b="0" i="0" kern="1200" dirty="0">
                <a:solidFill>
                  <a:schemeClr val="tx1"/>
                </a:solidFill>
                <a:effectLst/>
                <a:latin typeface="+mn-lt"/>
                <a:ea typeface="+mn-ea"/>
                <a:cs typeface="+mn-cs"/>
              </a:rPr>
              <a:t>Traffic light control systems that change signals based on fixed timing.</a:t>
            </a:r>
          </a:p>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44</a:t>
            </a:fld>
            <a:endParaRPr lang="en-001"/>
          </a:p>
        </p:txBody>
      </p:sp>
    </p:spTree>
    <p:extLst>
      <p:ext uri="{BB962C8B-B14F-4D97-AF65-F5344CB8AC3E}">
        <p14:creationId xmlns:p14="http://schemas.microsoft.com/office/powerpoint/2010/main" val="3115547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sng" kern="1200" dirty="0">
                <a:solidFill>
                  <a:schemeClr val="tx1"/>
                </a:solidFill>
                <a:effectLst/>
                <a:latin typeface="+mn-lt"/>
                <a:ea typeface="+mn-ea"/>
                <a:cs typeface="+mn-cs"/>
                <a:hlinkClick r:id="rId3"/>
              </a:rPr>
              <a:t>Model-based reflex agents</a:t>
            </a:r>
            <a:r>
              <a:rPr lang="en-US" sz="1200" b="0" i="0" kern="1200" dirty="0">
                <a:solidFill>
                  <a:schemeClr val="tx1"/>
                </a:solidFill>
                <a:effectLst/>
                <a:latin typeface="+mn-lt"/>
                <a:ea typeface="+mn-ea"/>
                <a:cs typeface="+mn-cs"/>
              </a:rPr>
              <a:t> enhance the simple reflex approach by maintaining an internal state or model of the world, that tracks aspects of the environment not directly observable at each moment. This enables them to deal with partial observability and dynamic changes more effectively, although their decisions are still largely reactive and dependent on the accuracy of the model they maintain.</a:t>
            </a:r>
          </a:p>
          <a:p>
            <a:pPr rtl="0" fontAlgn="base"/>
            <a:r>
              <a:rPr lang="en-US" sz="1200" b="1" i="0" kern="1200" dirty="0">
                <a:solidFill>
                  <a:schemeClr val="tx1"/>
                </a:solidFill>
                <a:effectLst/>
                <a:latin typeface="+mn-lt"/>
                <a:ea typeface="+mn-ea"/>
                <a:cs typeface="+mn-cs"/>
              </a:rPr>
              <a:t>Key Characteristics:</a:t>
            </a: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Internal State: </a:t>
            </a:r>
            <a:r>
              <a:rPr lang="en-US" sz="1200" b="0" i="0" kern="1200" dirty="0">
                <a:solidFill>
                  <a:schemeClr val="tx1"/>
                </a:solidFill>
                <a:effectLst/>
                <a:latin typeface="+mn-lt"/>
                <a:ea typeface="+mn-ea"/>
                <a:cs typeface="+mn-cs"/>
              </a:rPr>
              <a:t>By maintaining an internal model of the environment, these agents can handle scenarios where some aspects are not directly observable thus it provides more flexible decision-making.</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Adaptive: </a:t>
            </a:r>
            <a:r>
              <a:rPr lang="en-US" sz="1200" b="0" i="0" kern="1200" dirty="0">
                <a:solidFill>
                  <a:schemeClr val="tx1"/>
                </a:solidFill>
                <a:effectLst/>
                <a:latin typeface="+mn-lt"/>
                <a:ea typeface="+mn-ea"/>
                <a:cs typeface="+mn-cs"/>
              </a:rPr>
              <a:t>They update their internal model based on new information which allows them to adapt to changes in the environment.</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Better Decision-Making: </a:t>
            </a:r>
            <a:r>
              <a:rPr lang="en-US" sz="1200" b="0" i="0" kern="1200" dirty="0">
                <a:solidFill>
                  <a:schemeClr val="tx1"/>
                </a:solidFill>
                <a:effectLst/>
                <a:latin typeface="+mn-lt"/>
                <a:ea typeface="+mn-ea"/>
                <a:cs typeface="+mn-cs"/>
              </a:rPr>
              <a:t>The ability to refer to the internal model helps agents make more informed decisions which reduces the risk of making impulsive or suboptimal choices.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Increased Complexity:</a:t>
            </a:r>
            <a:r>
              <a:rPr lang="en-US" sz="1200" b="0" i="0" kern="1200" dirty="0">
                <a:solidFill>
                  <a:schemeClr val="tx1"/>
                </a:solidFill>
                <a:effectLst/>
                <a:latin typeface="+mn-lt"/>
                <a:ea typeface="+mn-ea"/>
                <a:cs typeface="+mn-cs"/>
              </a:rPr>
              <a:t> Maintaining an internal model increases computational demands which requires more memory and processing power to track changes in the environment.</a:t>
            </a:r>
          </a:p>
          <a:p>
            <a:pPr marL="171450" indent="-171450" rtl="0" fontAlgn="base">
              <a:buFont typeface="Arial" panose="020B0604020202020204" pitchFamily="34" charset="0"/>
              <a:buChar char="•"/>
            </a:pPr>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Robot vacuum cleaners that map rooms and tracks cleaned areas.</a:t>
            </a:r>
          </a:p>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45</a:t>
            </a:fld>
            <a:endParaRPr lang="en-001"/>
          </a:p>
        </p:txBody>
      </p:sp>
    </p:spTree>
    <p:extLst>
      <p:ext uri="{BB962C8B-B14F-4D97-AF65-F5344CB8AC3E}">
        <p14:creationId xmlns:p14="http://schemas.microsoft.com/office/powerpoint/2010/main" val="3831517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sng" kern="1200" dirty="0">
                <a:solidFill>
                  <a:schemeClr val="tx1"/>
                </a:solidFill>
                <a:effectLst/>
                <a:latin typeface="+mn-lt"/>
                <a:ea typeface="+mn-ea"/>
                <a:cs typeface="+mn-cs"/>
                <a:hlinkClick r:id="rId3"/>
              </a:rPr>
              <a:t>Goal-based agents</a:t>
            </a:r>
            <a:r>
              <a:rPr lang="en-US" sz="1200" b="0" i="0" kern="1200" dirty="0">
                <a:solidFill>
                  <a:schemeClr val="tx1"/>
                </a:solidFill>
                <a:effectLst/>
                <a:latin typeface="+mn-lt"/>
                <a:ea typeface="+mn-ea"/>
                <a:cs typeface="+mn-cs"/>
              </a:rPr>
              <a:t> select actions by considering future states relative to explicit goals. They are capable of planning sequences of actions to reach these goals rather than just reacting to the current state which enables more flexible and intelligent problem-solving. However, they require well-defined goals and effective planning algorithms to perform well in complex domains.</a:t>
            </a:r>
          </a:p>
          <a:p>
            <a:pPr rtl="0" fontAlgn="base"/>
            <a:r>
              <a:rPr lang="en-US" sz="1200" b="1" i="0" kern="1200" dirty="0">
                <a:solidFill>
                  <a:schemeClr val="tx1"/>
                </a:solidFill>
                <a:effectLst/>
                <a:latin typeface="+mn-lt"/>
                <a:ea typeface="+mn-ea"/>
                <a:cs typeface="+mn-cs"/>
              </a:rPr>
              <a:t>Key Characteristics:</a:t>
            </a: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Goal-Oriented: </a:t>
            </a:r>
            <a:r>
              <a:rPr lang="en-US" sz="1200" b="0" i="0" kern="1200" dirty="0">
                <a:solidFill>
                  <a:schemeClr val="tx1"/>
                </a:solidFill>
                <a:effectLst/>
                <a:latin typeface="+mn-lt"/>
                <a:ea typeface="+mn-ea"/>
                <a:cs typeface="+mn-cs"/>
              </a:rPr>
              <a:t>They have explicit goals and make decisions based on how well their actions align with these objectives.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Planning and Search:</a:t>
            </a:r>
            <a:r>
              <a:rPr lang="en-US" sz="1200" b="0" i="0" kern="1200" dirty="0">
                <a:solidFill>
                  <a:schemeClr val="tx1"/>
                </a:solidFill>
                <a:effectLst/>
                <a:latin typeface="+mn-lt"/>
                <a:ea typeface="+mn-ea"/>
                <a:cs typeface="+mn-cs"/>
              </a:rPr>
              <a:t> They often use planning algorithms that explore multiple possible actions to find the most effective sequence of steps that lead to their goal.</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Flexible:</a:t>
            </a:r>
            <a:r>
              <a:rPr lang="en-US" sz="1200" b="0" i="0" kern="1200" dirty="0">
                <a:solidFill>
                  <a:schemeClr val="tx1"/>
                </a:solidFill>
                <a:effectLst/>
                <a:latin typeface="+mn-lt"/>
                <a:ea typeface="+mn-ea"/>
                <a:cs typeface="+mn-cs"/>
              </a:rPr>
              <a:t> If conditions change or new information arises, it can re-plan and adjust their strategies to stay on track toward their objective.</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Future-Oriented: </a:t>
            </a:r>
            <a:r>
              <a:rPr lang="en-US" sz="1200" b="0" i="0" kern="1200" dirty="0">
                <a:solidFill>
                  <a:schemeClr val="tx1"/>
                </a:solidFill>
                <a:effectLst/>
                <a:latin typeface="+mn-lt"/>
                <a:ea typeface="+mn-ea"/>
                <a:cs typeface="+mn-cs"/>
              </a:rPr>
              <a:t>Unlike reflex agents, they think ahead and predict future outcomes to find the best course of action.</a:t>
            </a:r>
          </a:p>
          <a:p>
            <a:pPr marL="171450" indent="-171450" rtl="0" fontAlgn="base">
              <a:buFont typeface="Arial" panose="020B0604020202020204" pitchFamily="34" charset="0"/>
              <a:buChar char="•"/>
            </a:pPr>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Logistics routing agents that find optimal delivery routes based on factors like distance and time. They continuously adjust to reach the most efficient route.</a:t>
            </a:r>
          </a:p>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46</a:t>
            </a:fld>
            <a:endParaRPr lang="en-001"/>
          </a:p>
        </p:txBody>
      </p:sp>
    </p:spTree>
    <p:extLst>
      <p:ext uri="{BB962C8B-B14F-4D97-AF65-F5344CB8AC3E}">
        <p14:creationId xmlns:p14="http://schemas.microsoft.com/office/powerpoint/2010/main" val="1300814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sng" kern="1200" dirty="0">
                <a:solidFill>
                  <a:schemeClr val="tx1"/>
                </a:solidFill>
                <a:effectLst/>
                <a:latin typeface="+mn-lt"/>
                <a:ea typeface="+mn-ea"/>
                <a:cs typeface="+mn-cs"/>
                <a:hlinkClick r:id="rId3"/>
              </a:rPr>
              <a:t>Utility-based agents</a:t>
            </a:r>
            <a:r>
              <a:rPr lang="en-US" sz="1200" b="0" i="0" kern="1200" dirty="0">
                <a:solidFill>
                  <a:schemeClr val="tx1"/>
                </a:solidFill>
                <a:effectLst/>
                <a:latin typeface="+mn-lt"/>
                <a:ea typeface="+mn-ea"/>
                <a:cs typeface="+mn-cs"/>
              </a:rPr>
              <a:t> extend goal-based reasoning by considering not only whether a goal is met but also how valuable or desirable a particular outcome is. They use a utility function to quantify preferences and make trade-offs between competing objectives, enabling nuanced decision-making in uncertain or resource-limited situations. Designing an appropriate utility function is crucial for their effectiveness.</a:t>
            </a:r>
          </a:p>
          <a:p>
            <a:pPr rtl="0" fontAlgn="base"/>
            <a:r>
              <a:rPr lang="en-US" sz="1200" b="1" i="0" kern="1200" dirty="0">
                <a:solidFill>
                  <a:schemeClr val="tx1"/>
                </a:solidFill>
                <a:effectLst/>
                <a:latin typeface="+mn-lt"/>
                <a:ea typeface="+mn-ea"/>
                <a:cs typeface="+mn-cs"/>
              </a:rPr>
              <a:t>Key Characteristics:</a:t>
            </a: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Multi-Criteria Decision Making: </a:t>
            </a:r>
            <a:r>
              <a:rPr lang="en-US" sz="1200" b="0" i="0" kern="1200" dirty="0">
                <a:solidFill>
                  <a:schemeClr val="tx1"/>
                </a:solidFill>
                <a:effectLst/>
                <a:latin typeface="+mn-lt"/>
                <a:ea typeface="+mn-ea"/>
                <a:cs typeface="+mn-cs"/>
              </a:rPr>
              <a:t>These agents find multiple factors like cost, benefits, risk, time,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to find the best possible course of action.</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Trade-Offs: </a:t>
            </a:r>
            <a:r>
              <a:rPr lang="en-US" sz="1200" b="0" i="0" kern="1200" dirty="0">
                <a:solidFill>
                  <a:schemeClr val="tx1"/>
                </a:solidFill>
                <a:effectLst/>
                <a:latin typeface="+mn-lt"/>
                <a:ea typeface="+mn-ea"/>
                <a:cs typeface="+mn-cs"/>
              </a:rPr>
              <a:t>They can make decisions by balancing competing goals and preferences often finding the best "compromise."</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Subjectivity:</a:t>
            </a:r>
            <a:r>
              <a:rPr lang="en-US" sz="1200" b="0" i="0" kern="1200" dirty="0">
                <a:solidFill>
                  <a:schemeClr val="tx1"/>
                </a:solidFill>
                <a:effectLst/>
                <a:latin typeface="+mn-lt"/>
                <a:ea typeface="+mn-ea"/>
                <a:cs typeface="+mn-cs"/>
              </a:rPr>
              <a:t> They are customizable to reflect subjective preferences or goals, making them more adjustable to individual or organizational needs.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Increased Complexity: </a:t>
            </a:r>
            <a:r>
              <a:rPr lang="en-US" sz="1200" b="0" i="0" kern="1200" dirty="0">
                <a:solidFill>
                  <a:schemeClr val="tx1"/>
                </a:solidFill>
                <a:effectLst/>
                <a:latin typeface="+mn-lt"/>
                <a:ea typeface="+mn-ea"/>
                <a:cs typeface="+mn-cs"/>
              </a:rPr>
              <a:t>Finding utility functions for different factors can be computationally intensive and complex.</a:t>
            </a:r>
          </a:p>
          <a:p>
            <a:pPr marL="171450" indent="-171450" rtl="0" fontAlgn="base">
              <a:buFont typeface="Arial" panose="020B0604020202020204" pitchFamily="34" charset="0"/>
              <a:buChar char="•"/>
            </a:pPr>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Financial portfolio management agents that evaluate investments based on factors like risk, return and diversification operate by choosing options that provide the most value.</a:t>
            </a:r>
          </a:p>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47</a:t>
            </a:fld>
            <a:endParaRPr lang="en-001"/>
          </a:p>
        </p:txBody>
      </p:sp>
    </p:spTree>
    <p:extLst>
      <p:ext uri="{BB962C8B-B14F-4D97-AF65-F5344CB8AC3E}">
        <p14:creationId xmlns:p14="http://schemas.microsoft.com/office/powerpoint/2010/main" val="656714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sng" kern="1200" dirty="0">
                <a:solidFill>
                  <a:schemeClr val="tx1"/>
                </a:solidFill>
                <a:effectLst/>
                <a:latin typeface="+mn-lt"/>
                <a:ea typeface="+mn-ea"/>
                <a:cs typeface="+mn-cs"/>
                <a:hlinkClick r:id="rId3"/>
              </a:rPr>
              <a:t>Learning agents</a:t>
            </a:r>
            <a:r>
              <a:rPr lang="en-US" sz="1200" b="0" i="0" kern="1200" dirty="0">
                <a:solidFill>
                  <a:schemeClr val="tx1"/>
                </a:solidFill>
                <a:effectLst/>
                <a:latin typeface="+mn-lt"/>
                <a:ea typeface="+mn-ea"/>
                <a:cs typeface="+mn-cs"/>
              </a:rPr>
              <a:t> improve their performance over time by learning from experience and updating their internal models, strategies or policies. They can adapt to changes in the environment and often outperform static agents in dynamic contexts. Learning may involve supervised, unsupervised or reinforcement learning techniques and these agents typically contain both a performance element (for acting) and a learning element (for improving future actions).</a:t>
            </a:r>
          </a:p>
          <a:p>
            <a:pPr rtl="0" fontAlgn="base"/>
            <a:r>
              <a:rPr lang="en-US" sz="1200" b="1" i="0" kern="1200" dirty="0">
                <a:solidFill>
                  <a:schemeClr val="tx1"/>
                </a:solidFill>
                <a:effectLst/>
                <a:latin typeface="+mn-lt"/>
                <a:ea typeface="+mn-ea"/>
                <a:cs typeface="+mn-cs"/>
              </a:rPr>
              <a:t>Key Characteristics:</a:t>
            </a: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Adaptive Learning: </a:t>
            </a:r>
            <a:r>
              <a:rPr lang="en-US" sz="1200" b="0" i="0" kern="1200" dirty="0">
                <a:solidFill>
                  <a:schemeClr val="tx1"/>
                </a:solidFill>
                <a:effectLst/>
                <a:latin typeface="+mn-lt"/>
                <a:ea typeface="+mn-ea"/>
                <a:cs typeface="+mn-cs"/>
              </a:rPr>
              <a:t>It improve their decision-making through continuous feedback from their actions.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Exploration vs. Exploitation: </a:t>
            </a:r>
            <a:r>
              <a:rPr lang="en-US" sz="1200" b="0" i="0" kern="1200" dirty="0">
                <a:solidFill>
                  <a:schemeClr val="tx1"/>
                </a:solidFill>
                <a:effectLst/>
                <a:latin typeface="+mn-lt"/>
                <a:ea typeface="+mn-ea"/>
                <a:cs typeface="+mn-cs"/>
              </a:rPr>
              <a:t>These agents balance exploring new actions that may lead to better outcomes with exploiting known successful strategies.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Flexibility:</a:t>
            </a:r>
            <a:r>
              <a:rPr lang="en-US" sz="1200" b="0" i="0" kern="1200" dirty="0">
                <a:solidFill>
                  <a:schemeClr val="tx1"/>
                </a:solidFill>
                <a:effectLst/>
                <a:latin typeface="+mn-lt"/>
                <a:ea typeface="+mn-ea"/>
                <a:cs typeface="+mn-cs"/>
              </a:rPr>
              <a:t> They can adapt to a wide variety of tasks or environments by modifying their behavior based on new data.</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Generalization: </a:t>
            </a:r>
            <a:r>
              <a:rPr lang="en-US" sz="1200" b="0" i="0" kern="1200" dirty="0">
                <a:solidFill>
                  <a:schemeClr val="tx1"/>
                </a:solidFill>
                <a:effectLst/>
                <a:latin typeface="+mn-lt"/>
                <a:ea typeface="+mn-ea"/>
                <a:cs typeface="+mn-cs"/>
              </a:rPr>
              <a:t>It can apply lessons learned in one context to new, similar situations enhancing their versatility.</a:t>
            </a:r>
          </a:p>
          <a:p>
            <a:pPr marL="171450" indent="-171450" rtl="0" fontAlgn="base">
              <a:buFont typeface="Arial" panose="020B0604020202020204" pitchFamily="34" charset="0"/>
              <a:buChar char="•"/>
            </a:pPr>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Customer service chatbots can improve response accuracy over time by learning from previous interactions and adapting to user needs.</a:t>
            </a:r>
          </a:p>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48</a:t>
            </a:fld>
            <a:endParaRPr lang="en-001"/>
          </a:p>
        </p:txBody>
      </p:sp>
    </p:spTree>
    <p:extLst>
      <p:ext uri="{BB962C8B-B14F-4D97-AF65-F5344CB8AC3E}">
        <p14:creationId xmlns:p14="http://schemas.microsoft.com/office/powerpoint/2010/main" val="2747123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36105-0B3E-28FD-8E98-005F72C1B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E79D8-2557-E850-68E0-6F13DFC19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A235B-2DDE-CF6D-7FC7-C8AD98B4152A}"/>
              </a:ext>
            </a:extLst>
          </p:cNvPr>
          <p:cNvSpPr>
            <a:spLocks noGrp="1"/>
          </p:cNvSpPr>
          <p:nvPr>
            <p:ph type="body" idx="1"/>
          </p:nvPr>
        </p:nvSpPr>
        <p:spPr/>
        <p:txBody>
          <a:bodyPr/>
          <a:lstStyle/>
          <a:p>
            <a:pPr rtl="0" fontAlgn="base"/>
            <a:r>
              <a:rPr lang="en-US" sz="1200" b="0" i="0" u="sng" kern="1200" dirty="0">
                <a:solidFill>
                  <a:schemeClr val="tx1"/>
                </a:solidFill>
                <a:effectLst/>
                <a:latin typeface="+mn-lt"/>
                <a:ea typeface="+mn-ea"/>
                <a:cs typeface="+mn-cs"/>
                <a:hlinkClick r:id="rId3"/>
              </a:rPr>
              <a:t>Multi-agent systems</a:t>
            </a:r>
            <a:r>
              <a:rPr lang="en-US" sz="1200" b="0" i="0" kern="1200" dirty="0">
                <a:solidFill>
                  <a:schemeClr val="tx1"/>
                </a:solidFill>
                <a:effectLst/>
                <a:latin typeface="+mn-lt"/>
                <a:ea typeface="+mn-ea"/>
                <a:cs typeface="+mn-cs"/>
              </a:rPr>
              <a:t> operate in environments shared with other agents, either cooperating or competing to achieve individual or group goals. These systems are decentralized, often requiring communication, negotiation or coordination protocols. They are well-suited to distributed problem solving but can be complex to design due to emergent and unpredictable behaviors. Types of multi-agent systems: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Cooperative MAS:</a:t>
            </a:r>
            <a:r>
              <a:rPr lang="en-US" sz="1200" b="0" i="0" kern="1200" dirty="0">
                <a:solidFill>
                  <a:schemeClr val="tx1"/>
                </a:solidFill>
                <a:effectLst/>
                <a:latin typeface="+mn-lt"/>
                <a:ea typeface="+mn-ea"/>
                <a:cs typeface="+mn-cs"/>
              </a:rPr>
              <a:t> Agents work together toward shared objectives.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Competitive MAS:</a:t>
            </a:r>
            <a:r>
              <a:rPr lang="en-US" sz="1200" b="0" i="0" kern="1200" dirty="0">
                <a:solidFill>
                  <a:schemeClr val="tx1"/>
                </a:solidFill>
                <a:effectLst/>
                <a:latin typeface="+mn-lt"/>
                <a:ea typeface="+mn-ea"/>
                <a:cs typeface="+mn-cs"/>
              </a:rPr>
              <a:t> Agents pursue individual goals that may conflict.</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Mixed MAS:</a:t>
            </a:r>
            <a:r>
              <a:rPr lang="en-US" sz="1200" b="0" i="0" kern="1200" dirty="0">
                <a:solidFill>
                  <a:schemeClr val="tx1"/>
                </a:solidFill>
                <a:effectLst/>
                <a:latin typeface="+mn-lt"/>
                <a:ea typeface="+mn-ea"/>
                <a:cs typeface="+mn-cs"/>
              </a:rPr>
              <a:t> Agents cooperate in some scenarios and compete in others.</a:t>
            </a:r>
          </a:p>
          <a:p>
            <a:pPr rtl="0" fontAlgn="base"/>
            <a:r>
              <a:rPr lang="en-US" sz="1200" b="1" i="0" kern="1200" dirty="0">
                <a:solidFill>
                  <a:schemeClr val="tx1"/>
                </a:solidFill>
                <a:effectLst/>
                <a:latin typeface="+mn-lt"/>
                <a:ea typeface="+mn-ea"/>
                <a:cs typeface="+mn-cs"/>
              </a:rPr>
              <a:t>Key Characteristics:</a:t>
            </a: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Autonomous Agents</a:t>
            </a:r>
            <a:r>
              <a:rPr lang="en-US" sz="1200" b="0" i="0" kern="1200" dirty="0">
                <a:solidFill>
                  <a:schemeClr val="tx1"/>
                </a:solidFill>
                <a:effectLst/>
                <a:latin typeface="+mn-lt"/>
                <a:ea typeface="+mn-ea"/>
                <a:cs typeface="+mn-cs"/>
              </a:rPr>
              <a:t>: Each agent acts on its own based on its goals and knowledge.</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Interactions:</a:t>
            </a:r>
            <a:r>
              <a:rPr lang="en-US" sz="1200" b="0" i="0" kern="1200" dirty="0">
                <a:solidFill>
                  <a:schemeClr val="tx1"/>
                </a:solidFill>
                <a:effectLst/>
                <a:latin typeface="+mn-lt"/>
                <a:ea typeface="+mn-ea"/>
                <a:cs typeface="+mn-cs"/>
              </a:rPr>
              <a:t> Agents communicate, cooperate or compete to achieve individual or shared objectives.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Distributed Problem Solving: </a:t>
            </a:r>
            <a:r>
              <a:rPr lang="en-US" sz="1200" b="0" i="0" kern="1200" dirty="0">
                <a:solidFill>
                  <a:schemeClr val="tx1"/>
                </a:solidFill>
                <a:effectLst/>
                <a:latin typeface="+mn-lt"/>
                <a:ea typeface="+mn-ea"/>
                <a:cs typeface="+mn-cs"/>
              </a:rPr>
              <a:t>Agents work together to solve complex problems more efficiently than they could alone.</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Decentralization: </a:t>
            </a:r>
            <a:r>
              <a:rPr lang="en-US" sz="1200" b="0" i="0" kern="1200" dirty="0">
                <a:solidFill>
                  <a:schemeClr val="tx1"/>
                </a:solidFill>
                <a:effectLst/>
                <a:latin typeface="+mn-lt"/>
                <a:ea typeface="+mn-ea"/>
                <a:cs typeface="+mn-cs"/>
              </a:rPr>
              <a:t>No central control, agents make decisions independently.</a:t>
            </a:r>
          </a:p>
          <a:p>
            <a:pPr rtl="0" fontAlgn="base"/>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A warehouse robot might use:</a:t>
            </a:r>
          </a:p>
          <a:p>
            <a:pPr fontAlgn="base"/>
            <a:r>
              <a:rPr lang="en-US" sz="1200" b="0" i="0" kern="1200" dirty="0">
                <a:solidFill>
                  <a:schemeClr val="tx1"/>
                </a:solidFill>
                <a:effectLst/>
                <a:latin typeface="+mn-lt"/>
                <a:ea typeface="+mn-ea"/>
                <a:cs typeface="+mn-cs"/>
              </a:rPr>
              <a:t>Model-based reflexes for navigation</a:t>
            </a:r>
          </a:p>
          <a:p>
            <a:pPr fontAlgn="base"/>
            <a:r>
              <a:rPr lang="en-US" sz="1200" b="0" i="0" kern="1200" dirty="0">
                <a:solidFill>
                  <a:schemeClr val="tx1"/>
                </a:solidFill>
                <a:effectLst/>
                <a:latin typeface="+mn-lt"/>
                <a:ea typeface="+mn-ea"/>
                <a:cs typeface="+mn-cs"/>
              </a:rPr>
              <a:t>Goal-based planning for task sequencing</a:t>
            </a:r>
          </a:p>
          <a:p>
            <a:pPr fontAlgn="base"/>
            <a:r>
              <a:rPr lang="en-US" sz="1200" b="0" i="0" kern="1200" dirty="0">
                <a:solidFill>
                  <a:schemeClr val="tx1"/>
                </a:solidFill>
                <a:effectLst/>
                <a:latin typeface="+mn-lt"/>
                <a:ea typeface="+mn-ea"/>
                <a:cs typeface="+mn-cs"/>
              </a:rPr>
              <a:t>Utility-based decision-making for prioritizing tasks</a:t>
            </a:r>
          </a:p>
          <a:p>
            <a:pPr fontAlgn="base"/>
            <a:r>
              <a:rPr lang="en-US" sz="1200" b="0" i="0" kern="1200" dirty="0">
                <a:solidFill>
                  <a:schemeClr val="tx1"/>
                </a:solidFill>
                <a:effectLst/>
                <a:latin typeface="+mn-lt"/>
                <a:ea typeface="+mn-ea"/>
                <a:cs typeface="+mn-cs"/>
              </a:rPr>
              <a:t>Learning capabilities for route optimization</a:t>
            </a:r>
          </a:p>
          <a:p>
            <a:endParaRPr lang="en-001" dirty="0"/>
          </a:p>
        </p:txBody>
      </p:sp>
      <p:sp>
        <p:nvSpPr>
          <p:cNvPr id="4" name="Slide Number Placeholder 3">
            <a:extLst>
              <a:ext uri="{FF2B5EF4-FFF2-40B4-BE49-F238E27FC236}">
                <a16:creationId xmlns:a16="http://schemas.microsoft.com/office/drawing/2014/main" id="{DCC652D3-5925-964B-578E-93247527EDD6}"/>
              </a:ext>
            </a:extLst>
          </p:cNvPr>
          <p:cNvSpPr>
            <a:spLocks noGrp="1"/>
          </p:cNvSpPr>
          <p:nvPr>
            <p:ph type="sldNum" sz="quarter" idx="5"/>
          </p:nvPr>
        </p:nvSpPr>
        <p:spPr/>
        <p:txBody>
          <a:bodyPr/>
          <a:lstStyle/>
          <a:p>
            <a:fld id="{2B1E8B5F-A777-4787-905A-146F5B2F8353}" type="slidenum">
              <a:rPr lang="en-001" smtClean="0"/>
              <a:t>49</a:t>
            </a:fld>
            <a:endParaRPr lang="en-001"/>
          </a:p>
        </p:txBody>
      </p:sp>
    </p:spTree>
    <p:extLst>
      <p:ext uri="{BB962C8B-B14F-4D97-AF65-F5344CB8AC3E}">
        <p14:creationId xmlns:p14="http://schemas.microsoft.com/office/powerpoint/2010/main" val="2426730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3C98D-B0C9-FC83-C809-084B7E5D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BE4D1-4348-6860-1889-2C11C6607C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4AA14-A26A-8BB1-2D6C-87470D0E861E}"/>
              </a:ext>
            </a:extLst>
          </p:cNvPr>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Hierarchical agents organize behavior into multiple layers such as strategic, tactical and operational. Higher levels make abstract decisions that break down into more specific subgoals for lower levels to execute. This structure improves scalability, reusability of skills and management of complex tasks, but requires designing effective interfaces between layers.</a:t>
            </a:r>
          </a:p>
          <a:p>
            <a:pPr rtl="0" fontAlgn="base"/>
            <a:r>
              <a:rPr lang="en-US" sz="1200" b="1" i="0" kern="1200" dirty="0">
                <a:solidFill>
                  <a:schemeClr val="tx1"/>
                </a:solidFill>
                <a:effectLst/>
                <a:latin typeface="+mn-lt"/>
                <a:ea typeface="+mn-ea"/>
                <a:cs typeface="+mn-cs"/>
              </a:rPr>
              <a:t>Key Characteristics:</a:t>
            </a: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Structured Decision-Making: </a:t>
            </a:r>
            <a:r>
              <a:rPr lang="en-US" sz="1200" b="0" i="0" kern="1200" dirty="0">
                <a:solidFill>
                  <a:schemeClr val="tx1"/>
                </a:solidFill>
                <a:effectLst/>
                <a:latin typeface="+mn-lt"/>
                <a:ea typeface="+mn-ea"/>
                <a:cs typeface="+mn-cs"/>
              </a:rPr>
              <a:t>Decision-making is divided into different levels for more efficient task handling.</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Task Division:</a:t>
            </a:r>
            <a:r>
              <a:rPr lang="en-US" sz="1200" b="0" i="0" kern="1200" dirty="0">
                <a:solidFill>
                  <a:schemeClr val="tx1"/>
                </a:solidFill>
                <a:effectLst/>
                <a:latin typeface="+mn-lt"/>
                <a:ea typeface="+mn-ea"/>
                <a:cs typeface="+mn-cs"/>
              </a:rPr>
              <a:t> Complex tasks are broken down into simpler subtasks.</a:t>
            </a: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Control and Guidance:</a:t>
            </a:r>
            <a:r>
              <a:rPr lang="en-US" sz="1200" b="0" i="0" kern="1200" dirty="0">
                <a:solidFill>
                  <a:schemeClr val="tx1"/>
                </a:solidFill>
                <a:effectLst/>
                <a:latin typeface="+mn-lt"/>
                <a:ea typeface="+mn-ea"/>
                <a:cs typeface="+mn-cs"/>
              </a:rPr>
              <a:t> Higher levels direct lower levels for coordinated action.</a:t>
            </a:r>
          </a:p>
          <a:p>
            <a:pPr marL="171450" indent="-171450" rtl="0" fontAlgn="base">
              <a:buFont typeface="Arial" panose="020B0604020202020204" pitchFamily="34" charset="0"/>
              <a:buChar char="•"/>
            </a:pPr>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Drone delivery systems in which fleet management is done at top level and individual navigation at lower level.</a:t>
            </a:r>
          </a:p>
          <a:p>
            <a:endParaRPr lang="en-001" dirty="0"/>
          </a:p>
        </p:txBody>
      </p:sp>
      <p:sp>
        <p:nvSpPr>
          <p:cNvPr id="4" name="Slide Number Placeholder 3">
            <a:extLst>
              <a:ext uri="{FF2B5EF4-FFF2-40B4-BE49-F238E27FC236}">
                <a16:creationId xmlns:a16="http://schemas.microsoft.com/office/drawing/2014/main" id="{8FE68A91-349D-F964-EA09-F73AC5713B55}"/>
              </a:ext>
            </a:extLst>
          </p:cNvPr>
          <p:cNvSpPr>
            <a:spLocks noGrp="1"/>
          </p:cNvSpPr>
          <p:nvPr>
            <p:ph type="sldNum" sz="quarter" idx="5"/>
          </p:nvPr>
        </p:nvSpPr>
        <p:spPr/>
        <p:txBody>
          <a:bodyPr/>
          <a:lstStyle/>
          <a:p>
            <a:fld id="{2B1E8B5F-A777-4787-905A-146F5B2F8353}" type="slidenum">
              <a:rPr lang="en-001" smtClean="0"/>
              <a:t>50</a:t>
            </a:fld>
            <a:endParaRPr lang="en-001"/>
          </a:p>
        </p:txBody>
      </p:sp>
    </p:spTree>
    <p:extLst>
      <p:ext uri="{BB962C8B-B14F-4D97-AF65-F5344CB8AC3E}">
        <p14:creationId xmlns:p14="http://schemas.microsoft.com/office/powerpoint/2010/main" val="3692265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When to Use Each AI Agent Type</a:t>
            </a:r>
          </a:p>
          <a:p>
            <a:pPr rtl="0" fontAlgn="base"/>
            <a:r>
              <a:rPr lang="en-US" sz="1200" b="1" i="0" kern="1200" dirty="0">
                <a:solidFill>
                  <a:schemeClr val="tx1"/>
                </a:solidFill>
                <a:effectLst/>
                <a:latin typeface="+mn-lt"/>
                <a:ea typeface="+mn-ea"/>
                <a:cs typeface="+mn-cs"/>
              </a:rPr>
              <a:t>1. Simple Reflex Agent</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Environment is fully observable and predictable</a:t>
            </a:r>
          </a:p>
          <a:p>
            <a:pPr fontAlgn="base"/>
            <a:r>
              <a:rPr lang="en-US" sz="1200" b="0" i="0" kern="1200" dirty="0">
                <a:solidFill>
                  <a:schemeClr val="tx1"/>
                </a:solidFill>
                <a:effectLst/>
                <a:latin typeface="+mn-lt"/>
                <a:ea typeface="+mn-ea"/>
                <a:cs typeface="+mn-cs"/>
              </a:rPr>
              <a:t>Tasks are repetitive with fixed rules</a:t>
            </a:r>
          </a:p>
          <a:p>
            <a:pPr rtl="0" fontAlgn="base"/>
            <a:r>
              <a:rPr lang="en-US" sz="1200" b="1" i="0" kern="1200" dirty="0">
                <a:solidFill>
                  <a:schemeClr val="tx1"/>
                </a:solidFill>
                <a:effectLst/>
                <a:latin typeface="+mn-lt"/>
                <a:ea typeface="+mn-ea"/>
                <a:cs typeface="+mn-cs"/>
              </a:rPr>
              <a:t>2. Model-Based Reflex Agent</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Some information about the environment is hidden but can be modeled</a:t>
            </a:r>
          </a:p>
          <a:p>
            <a:pPr fontAlgn="base"/>
            <a:r>
              <a:rPr lang="en-US" sz="1200" b="0" i="0" kern="1200" dirty="0">
                <a:solidFill>
                  <a:schemeClr val="tx1"/>
                </a:solidFill>
                <a:effectLst/>
                <a:latin typeface="+mn-lt"/>
                <a:ea typeface="+mn-ea"/>
                <a:cs typeface="+mn-cs"/>
              </a:rPr>
              <a:t>Environment changes but follows predictable patterns</a:t>
            </a:r>
          </a:p>
          <a:p>
            <a:pPr rtl="0" fontAlgn="base"/>
            <a:r>
              <a:rPr lang="en-US" sz="1200" b="1" i="0" kern="1200" dirty="0">
                <a:solidFill>
                  <a:schemeClr val="tx1"/>
                </a:solidFill>
                <a:effectLst/>
                <a:latin typeface="+mn-lt"/>
                <a:ea typeface="+mn-ea"/>
                <a:cs typeface="+mn-cs"/>
              </a:rPr>
              <a:t>3. Goal-Based Agent</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Tasks require planning multiple steps ahead</a:t>
            </a:r>
          </a:p>
          <a:p>
            <a:pPr fontAlgn="base"/>
            <a:r>
              <a:rPr lang="en-US" sz="1200" b="0" i="0" kern="1200" dirty="0">
                <a:solidFill>
                  <a:schemeClr val="tx1"/>
                </a:solidFill>
                <a:effectLst/>
                <a:latin typeface="+mn-lt"/>
                <a:ea typeface="+mn-ea"/>
                <a:cs typeface="+mn-cs"/>
              </a:rPr>
              <a:t>Clear goals are defined and can be measured</a:t>
            </a:r>
          </a:p>
          <a:p>
            <a:pPr rtl="0" fontAlgn="base"/>
            <a:r>
              <a:rPr lang="en-US" sz="1200" b="1" i="0" kern="1200" dirty="0">
                <a:solidFill>
                  <a:schemeClr val="tx1"/>
                </a:solidFill>
                <a:effectLst/>
                <a:latin typeface="+mn-lt"/>
                <a:ea typeface="+mn-ea"/>
                <a:cs typeface="+mn-cs"/>
              </a:rPr>
              <a:t>4. Utility-Based Agent</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Need to balance trade-offs like cost, time and risk</a:t>
            </a:r>
          </a:p>
          <a:p>
            <a:pPr fontAlgn="base"/>
            <a:r>
              <a:rPr lang="en-US" sz="1200" b="0" i="0" kern="1200" dirty="0">
                <a:solidFill>
                  <a:schemeClr val="tx1"/>
                </a:solidFill>
                <a:effectLst/>
                <a:latin typeface="+mn-lt"/>
                <a:ea typeface="+mn-ea"/>
                <a:cs typeface="+mn-cs"/>
              </a:rPr>
              <a:t>Multiple objectives must be prioritized</a:t>
            </a:r>
          </a:p>
          <a:p>
            <a:pPr rtl="0" fontAlgn="base"/>
            <a:r>
              <a:rPr lang="en-US" sz="1200" b="1" i="0" kern="1200" dirty="0">
                <a:solidFill>
                  <a:schemeClr val="tx1"/>
                </a:solidFill>
                <a:effectLst/>
                <a:latin typeface="+mn-lt"/>
                <a:ea typeface="+mn-ea"/>
                <a:cs typeface="+mn-cs"/>
              </a:rPr>
              <a:t>5. Learning Agent</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Environment changes over time and the system must adapt</a:t>
            </a:r>
          </a:p>
          <a:p>
            <a:pPr fontAlgn="base"/>
            <a:r>
              <a:rPr lang="en-US" sz="1200" b="0" i="0" kern="1200" dirty="0">
                <a:solidFill>
                  <a:schemeClr val="tx1"/>
                </a:solidFill>
                <a:effectLst/>
                <a:latin typeface="+mn-lt"/>
                <a:ea typeface="+mn-ea"/>
                <a:cs typeface="+mn-cs"/>
              </a:rPr>
              <a:t>Performance should improve with experience</a:t>
            </a:r>
          </a:p>
          <a:p>
            <a:pPr rtl="0" fontAlgn="base"/>
            <a:r>
              <a:rPr lang="en-US" sz="1200" b="1" i="0" kern="1200" dirty="0">
                <a:solidFill>
                  <a:schemeClr val="tx1"/>
                </a:solidFill>
                <a:effectLst/>
                <a:latin typeface="+mn-lt"/>
                <a:ea typeface="+mn-ea"/>
                <a:cs typeface="+mn-cs"/>
              </a:rPr>
              <a:t>6. Multi-Agent System (MAS)</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Multiple agents must work together or compete</a:t>
            </a:r>
          </a:p>
          <a:p>
            <a:pPr fontAlgn="base"/>
            <a:r>
              <a:rPr lang="en-US" sz="1200" b="0" i="0" kern="1200" dirty="0">
                <a:solidFill>
                  <a:schemeClr val="tx1"/>
                </a:solidFill>
                <a:effectLst/>
                <a:latin typeface="+mn-lt"/>
                <a:ea typeface="+mn-ea"/>
                <a:cs typeface="+mn-cs"/>
              </a:rPr>
              <a:t>Problem-solving is decentralized and distributed</a:t>
            </a:r>
          </a:p>
          <a:p>
            <a:pPr rtl="0" fontAlgn="base"/>
            <a:r>
              <a:rPr lang="en-US" sz="1200" b="1" i="0" kern="1200" dirty="0">
                <a:solidFill>
                  <a:schemeClr val="tx1"/>
                </a:solidFill>
                <a:effectLst/>
                <a:latin typeface="+mn-lt"/>
                <a:ea typeface="+mn-ea"/>
                <a:cs typeface="+mn-cs"/>
              </a:rPr>
              <a:t>7. Hierarchical Agent</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Tasks can be split into strategic, tactical and operational levels</a:t>
            </a:r>
          </a:p>
          <a:p>
            <a:pPr fontAlgn="base"/>
            <a:r>
              <a:rPr lang="en-US" sz="1200" b="0" i="0" kern="1200" dirty="0">
                <a:solidFill>
                  <a:schemeClr val="tx1"/>
                </a:solidFill>
                <a:effectLst/>
                <a:latin typeface="+mn-lt"/>
                <a:ea typeface="+mn-ea"/>
                <a:cs typeface="+mn-cs"/>
              </a:rPr>
              <a:t>Large-scale operations require coordination between layers</a:t>
            </a:r>
          </a:p>
          <a:p>
            <a:endParaRPr lang="en-001" dirty="0"/>
          </a:p>
        </p:txBody>
      </p:sp>
      <p:sp>
        <p:nvSpPr>
          <p:cNvPr id="4" name="Slide Number Placeholder 3"/>
          <p:cNvSpPr>
            <a:spLocks noGrp="1"/>
          </p:cNvSpPr>
          <p:nvPr>
            <p:ph type="sldNum" sz="quarter" idx="5"/>
          </p:nvPr>
        </p:nvSpPr>
        <p:spPr/>
        <p:txBody>
          <a:bodyPr/>
          <a:lstStyle/>
          <a:p>
            <a:fld id="{2B1E8B5F-A777-4787-905A-146F5B2F8353}" type="slidenum">
              <a:rPr lang="en-001" smtClean="0"/>
              <a:t>51</a:t>
            </a:fld>
            <a:endParaRPr lang="en-001"/>
          </a:p>
        </p:txBody>
      </p:sp>
    </p:spTree>
    <p:extLst>
      <p:ext uri="{BB962C8B-B14F-4D97-AF65-F5344CB8AC3E}">
        <p14:creationId xmlns:p14="http://schemas.microsoft.com/office/powerpoint/2010/main" val="4155469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0267B-783D-0EBE-DEF8-AA60940C9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CC949-3C0E-4BF4-99D6-C5E49720A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6978F3-3BD3-37AC-65F2-1534D6691D65}"/>
              </a:ext>
            </a:extLst>
          </p:cNvPr>
          <p:cNvSpPr>
            <a:spLocks noGrp="1"/>
          </p:cNvSpPr>
          <p:nvPr>
            <p:ph type="body" idx="1"/>
          </p:nvPr>
        </p:nvSpPr>
        <p:spPr/>
        <p:txBody>
          <a:bodyPr/>
          <a:lstStyle/>
          <a:p>
            <a:r>
              <a:rPr lang="en-US" sz="1200" b="1" u="none" strike="noStrike" kern="1200" dirty="0">
                <a:solidFill>
                  <a:schemeClr val="tx1"/>
                </a:solidFill>
                <a:effectLst/>
                <a:latin typeface="+mn-lt"/>
                <a:ea typeface="+mn-ea"/>
                <a:cs typeface="+mn-cs"/>
              </a:rPr>
              <a:t>Agent Core (The Brain):</a:t>
            </a:r>
            <a:r>
              <a:rPr lang="en-US" sz="1200" b="0" u="none" strike="noStrike" kern="1200" dirty="0">
                <a:solidFill>
                  <a:schemeClr val="tx1"/>
                </a:solidFill>
                <a:effectLst/>
                <a:latin typeface="+mn-lt"/>
                <a:ea typeface="+mn-ea"/>
                <a:cs typeface="+mn-cs"/>
              </a:rPr>
              <a:t> The foundational LLM that processes input data, applies domain knowledge, and handles decision-making. It is guided by specialized prompts that outline its goal and define its specific persona or behavioral constraints.</a:t>
            </a:r>
          </a:p>
          <a:p>
            <a:r>
              <a:rPr lang="en-US" sz="1200" b="1" u="none" strike="noStrike" kern="1200" dirty="0">
                <a:solidFill>
                  <a:schemeClr val="tx1"/>
                </a:solidFill>
                <a:effectLst/>
                <a:latin typeface="+mn-lt"/>
                <a:ea typeface="+mn-ea"/>
                <a:cs typeface="+mn-cs"/>
              </a:rPr>
              <a:t>Planning Module:</a:t>
            </a:r>
            <a:r>
              <a:rPr lang="en-US" sz="1200" b="0" u="none" strike="noStrike" kern="1200" dirty="0">
                <a:solidFill>
                  <a:schemeClr val="tx1"/>
                </a:solidFill>
                <a:effectLst/>
                <a:latin typeface="+mn-lt"/>
                <a:ea typeface="+mn-ea"/>
                <a:cs typeface="+mn-cs"/>
              </a:rPr>
              <a:t> Responsible for decomposing macro tasks into smaller, sequential sub-goals. Advanced modules utilize iterative feedback mechanisms, such as </a:t>
            </a:r>
            <a:r>
              <a:rPr lang="en-US" sz="1200" b="1" u="none" strike="noStrike" kern="1200" dirty="0" err="1">
                <a:solidFill>
                  <a:schemeClr val="tx1"/>
                </a:solidFill>
                <a:effectLst/>
                <a:latin typeface="+mn-lt"/>
                <a:ea typeface="+mn-ea"/>
                <a:cs typeface="+mn-cs"/>
              </a:rPr>
              <a:t>ReAct</a:t>
            </a:r>
            <a:r>
              <a:rPr lang="en-US" sz="1200" b="0" u="none" strike="noStrike" kern="1200" dirty="0">
                <a:solidFill>
                  <a:schemeClr val="tx1"/>
                </a:solidFill>
                <a:effectLst/>
                <a:latin typeface="+mn-lt"/>
                <a:ea typeface="+mn-ea"/>
                <a:cs typeface="+mn-cs"/>
              </a:rPr>
              <a:t> (Reasoning + Acting) or </a:t>
            </a:r>
            <a:r>
              <a:rPr lang="en-US" sz="1200" b="1" u="none" strike="noStrike" kern="1200" dirty="0" err="1">
                <a:solidFill>
                  <a:schemeClr val="tx1"/>
                </a:solidFill>
                <a:effectLst/>
                <a:latin typeface="+mn-lt"/>
                <a:ea typeface="+mn-ea"/>
                <a:cs typeface="+mn-cs"/>
              </a:rPr>
              <a:t>Reflexion</a:t>
            </a:r>
            <a:r>
              <a:rPr lang="en-US" sz="1200" b="0" u="none" strike="noStrike" kern="1200" dirty="0">
                <a:solidFill>
                  <a:schemeClr val="tx1"/>
                </a:solidFill>
                <a:effectLst/>
                <a:latin typeface="+mn-lt"/>
                <a:ea typeface="+mn-ea"/>
                <a:cs typeface="+mn-cs"/>
              </a:rPr>
              <a:t>, allowing the agent to analyze execution errors and dynamically pivot its strategies.</a:t>
            </a:r>
          </a:p>
          <a:p>
            <a:r>
              <a:rPr lang="en-US" sz="1200" b="1" u="none" strike="noStrike" kern="1200" dirty="0">
                <a:solidFill>
                  <a:schemeClr val="tx1"/>
                </a:solidFill>
                <a:effectLst/>
                <a:latin typeface="+mn-lt"/>
                <a:ea typeface="+mn-ea"/>
                <a:cs typeface="+mn-cs"/>
              </a:rPr>
              <a:t>Memory Module:</a:t>
            </a:r>
            <a:r>
              <a:rPr lang="en-US" sz="1200" b="0" u="none" strike="noStrike" kern="1200" dirty="0">
                <a:solidFill>
                  <a:schemeClr val="tx1"/>
                </a:solidFill>
                <a:effectLst/>
                <a:latin typeface="+mn-lt"/>
                <a:ea typeface="+mn-ea"/>
                <a:cs typeface="+mn-cs"/>
              </a:rPr>
              <a:t> Maintains historical awareness across extensive trajectories. </a:t>
            </a:r>
            <a:r>
              <a:rPr lang="en-US" sz="1200" b="1" u="none" strike="noStrike" kern="1200" dirty="0">
                <a:solidFill>
                  <a:schemeClr val="tx1"/>
                </a:solidFill>
                <a:effectLst/>
                <a:latin typeface="+mn-lt"/>
                <a:ea typeface="+mn-ea"/>
                <a:cs typeface="+mn-cs"/>
              </a:rPr>
              <a:t>Short-term memory</a:t>
            </a:r>
            <a:r>
              <a:rPr lang="en-US" sz="1200" b="0" u="none" strike="noStrike" kern="1200" dirty="0">
                <a:solidFill>
                  <a:schemeClr val="tx1"/>
                </a:solidFill>
                <a:effectLst/>
                <a:latin typeface="+mn-lt"/>
                <a:ea typeface="+mn-ea"/>
                <a:cs typeface="+mn-cs"/>
              </a:rPr>
              <a:t> relies on the model’s immediate in-context learning window. </a:t>
            </a:r>
            <a:r>
              <a:rPr lang="en-US" sz="1200" b="1" u="none" strike="noStrike" kern="1200" dirty="0">
                <a:solidFill>
                  <a:schemeClr val="tx1"/>
                </a:solidFill>
                <a:effectLst/>
                <a:latin typeface="+mn-lt"/>
                <a:ea typeface="+mn-ea"/>
                <a:cs typeface="+mn-cs"/>
              </a:rPr>
              <a:t>Long-term memory</a:t>
            </a:r>
            <a:r>
              <a:rPr lang="en-US" sz="1200" b="0" u="none" strike="noStrike" kern="1200" dirty="0">
                <a:solidFill>
                  <a:schemeClr val="tx1"/>
                </a:solidFill>
                <a:effectLst/>
                <a:latin typeface="+mn-lt"/>
                <a:ea typeface="+mn-ea"/>
                <a:cs typeface="+mn-cs"/>
              </a:rPr>
              <a:t> interfaces with external vector databases to store and surface relevant records over extended </a:t>
            </a:r>
            <a:r>
              <a:rPr lang="en-US" sz="1200" b="0" u="none" strike="noStrike" kern="1200">
                <a:solidFill>
                  <a:schemeClr val="tx1"/>
                </a:solidFill>
                <a:effectLst/>
                <a:latin typeface="+mn-lt"/>
                <a:ea typeface="+mn-ea"/>
                <a:cs typeface="+mn-cs"/>
              </a:rPr>
              <a:t>operations.</a:t>
            </a:r>
            <a:r>
              <a:rPr lang="en-US" sz="1200" b="1" u="none" strike="noStrike" kern="1200">
                <a:solidFill>
                  <a:schemeClr val="tx1"/>
                </a:solidFill>
                <a:effectLst/>
                <a:latin typeface="+mn-lt"/>
                <a:ea typeface="+mn-ea"/>
                <a:cs typeface="+mn-cs"/>
              </a:rPr>
              <a:t>Tool </a:t>
            </a:r>
            <a:r>
              <a:rPr lang="en-US" sz="1200" b="1" u="none" strike="noStrike" kern="1200" dirty="0">
                <a:solidFill>
                  <a:schemeClr val="tx1"/>
                </a:solidFill>
                <a:effectLst/>
                <a:latin typeface="+mn-lt"/>
                <a:ea typeface="+mn-ea"/>
                <a:cs typeface="+mn-cs"/>
              </a:rPr>
              <a:t>Use (Action):</a:t>
            </a:r>
            <a:r>
              <a:rPr lang="en-US" sz="1200" b="0" u="none" strike="noStrike" kern="1200" dirty="0">
                <a:solidFill>
                  <a:schemeClr val="tx1"/>
                </a:solidFill>
                <a:effectLst/>
                <a:latin typeface="+mn-lt"/>
                <a:ea typeface="+mn-ea"/>
                <a:cs typeface="+mn-cs"/>
              </a:rPr>
              <a:t> External APIs and software extensions that grant the agent agency beyond text generation. These include code interpreters, custom databases, web search engines, or localized mathematical calculators.</a:t>
            </a:r>
            <a:endParaRPr lang="en-001" dirty="0"/>
          </a:p>
        </p:txBody>
      </p:sp>
      <p:sp>
        <p:nvSpPr>
          <p:cNvPr id="4" name="Slide Number Placeholder 3">
            <a:extLst>
              <a:ext uri="{FF2B5EF4-FFF2-40B4-BE49-F238E27FC236}">
                <a16:creationId xmlns:a16="http://schemas.microsoft.com/office/drawing/2014/main" id="{85532766-68C2-D9DA-1DA0-C0A5A79F0BF5}"/>
              </a:ext>
            </a:extLst>
          </p:cNvPr>
          <p:cNvSpPr>
            <a:spLocks noGrp="1"/>
          </p:cNvSpPr>
          <p:nvPr>
            <p:ph type="sldNum" sz="quarter" idx="5"/>
          </p:nvPr>
        </p:nvSpPr>
        <p:spPr/>
        <p:txBody>
          <a:bodyPr/>
          <a:lstStyle/>
          <a:p>
            <a:fld id="{2B1E8B5F-A777-4787-905A-146F5B2F8353}" type="slidenum">
              <a:rPr lang="en-001" smtClean="0"/>
              <a:t>52</a:t>
            </a:fld>
            <a:endParaRPr lang="en-001"/>
          </a:p>
        </p:txBody>
      </p:sp>
    </p:spTree>
    <p:extLst>
      <p:ext uri="{BB962C8B-B14F-4D97-AF65-F5344CB8AC3E}">
        <p14:creationId xmlns:p14="http://schemas.microsoft.com/office/powerpoint/2010/main" val="33011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6738" y="3314955"/>
            <a:ext cx="6423025"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3476" y="5988309"/>
            <a:ext cx="528955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7827" y="2459487"/>
            <a:ext cx="3287077"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1598" y="2459487"/>
            <a:ext cx="3287077"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044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6329071" y="956530"/>
            <a:ext cx="563775" cy="1128457"/>
          </a:xfrm>
          <a:prstGeom prst="rect">
            <a:avLst/>
          </a:prstGeom>
        </p:spPr>
      </p:pic>
      <p:sp>
        <p:nvSpPr>
          <p:cNvPr id="2" name="Holder 2"/>
          <p:cNvSpPr>
            <a:spLocks noGrp="1"/>
          </p:cNvSpPr>
          <p:nvPr>
            <p:ph type="title"/>
          </p:nvPr>
        </p:nvSpPr>
        <p:spPr>
          <a:xfrm>
            <a:off x="377825" y="427741"/>
            <a:ext cx="680085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825" y="2459487"/>
            <a:ext cx="680085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9210" y="9944867"/>
            <a:ext cx="2418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826" y="9944867"/>
            <a:ext cx="1737995"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a:xfrm>
            <a:off x="5440680" y="9944867"/>
            <a:ext cx="1737995"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
        <p:nvSpPr>
          <p:cNvPr id="8" name="TextBox 7">
            <a:extLst>
              <a:ext uri="{FF2B5EF4-FFF2-40B4-BE49-F238E27FC236}">
                <a16:creationId xmlns:a16="http://schemas.microsoft.com/office/drawing/2014/main" id="{7C2649DE-F554-A102-B840-95D353DFDC31}"/>
              </a:ext>
            </a:extLst>
          </p:cNvPr>
          <p:cNvSpPr txBox="1"/>
          <p:nvPr userDrawn="1">
            <p:extLst>
              <p:ext uri="{1162E1C5-73C7-4A58-AE30-91384D911F3F}">
                <p184:classification xmlns:p184="http://schemas.microsoft.com/office/powerpoint/2018/4/main" val="hdr"/>
              </p:ext>
            </p:extLst>
          </p:nvPr>
        </p:nvSpPr>
        <p:spPr>
          <a:xfrm>
            <a:off x="63500" y="63500"/>
            <a:ext cx="541338" cy="182880"/>
          </a:xfrm>
          <a:prstGeom prst="rect">
            <a:avLst/>
          </a:prstGeom>
        </p:spPr>
        <p:txBody>
          <a:bodyPr horzOverflow="overflow" lIns="0" tIns="0" rIns="0" bIns="0">
            <a:spAutoFit/>
          </a:bodyPr>
          <a:lstStyle/>
          <a:p>
            <a:pPr algn="l"/>
            <a:r>
              <a:rPr lang="en-001" sz="1200">
                <a:solidFill>
                  <a:srgbClr val="000000">
                    <a:alpha val="50000"/>
                  </a:srgbClr>
                </a:solidFill>
                <a:latin typeface="Aptos" panose="020B0004020202020204" pitchFamily="34" charset="0"/>
              </a:rPr>
              <a:t>Internal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www.ijcai-18.org/anac/index.html" TargetMode="External"/><Relationship Id="rId2" Type="http://schemas.openxmlformats.org/officeDocument/2006/relationships/image" Target="../media/image1.jpg"/><Relationship Id="rId1" Type="http://schemas.openxmlformats.org/officeDocument/2006/relationships/slideLayout" Target="../slideLayouts/slideLayout5.xml"/><Relationship Id="rId4" Type="http://schemas.openxmlformats.org/officeDocument/2006/relationships/hyperlink" Target="http://web.tuat.ac.jp/~katfuji/ANAC2018/"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5.xml"/><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59331" y="956519"/>
            <a:ext cx="6233795" cy="3508375"/>
            <a:chOff x="659325" y="956513"/>
            <a:chExt cx="6233795" cy="3508375"/>
          </a:xfrm>
        </p:grpSpPr>
        <p:pic>
          <p:nvPicPr>
            <p:cNvPr id="3" name="object 3"/>
            <p:cNvPicPr/>
            <p:nvPr/>
          </p:nvPicPr>
          <p:blipFill>
            <a:blip r:embed="rId2" cstate="print"/>
            <a:stretch>
              <a:fillRect/>
            </a:stretch>
          </p:blipFill>
          <p:spPr>
            <a:xfrm>
              <a:off x="663655" y="956513"/>
              <a:ext cx="6229184" cy="3508019"/>
            </a:xfrm>
            <a:prstGeom prst="rect">
              <a:avLst/>
            </a:prstGeom>
          </p:spPr>
        </p:pic>
        <p:sp>
          <p:nvSpPr>
            <p:cNvPr id="4" name="object 4"/>
            <p:cNvSpPr/>
            <p:nvPr/>
          </p:nvSpPr>
          <p:spPr>
            <a:xfrm>
              <a:off x="661490" y="2418317"/>
              <a:ext cx="6229350" cy="830580"/>
            </a:xfrm>
            <a:custGeom>
              <a:avLst/>
              <a:gdLst/>
              <a:ahLst/>
              <a:cxnLst/>
              <a:rect l="l" t="t" r="r" b="b"/>
              <a:pathLst>
                <a:path w="6229350" h="830580">
                  <a:moveTo>
                    <a:pt x="6229184" y="0"/>
                  </a:moveTo>
                  <a:lnTo>
                    <a:pt x="0" y="0"/>
                  </a:lnTo>
                  <a:lnTo>
                    <a:pt x="0" y="829974"/>
                  </a:lnTo>
                  <a:lnTo>
                    <a:pt x="6229184" y="829974"/>
                  </a:lnTo>
                  <a:lnTo>
                    <a:pt x="6229184" y="0"/>
                  </a:lnTo>
                  <a:close/>
                </a:path>
              </a:pathLst>
            </a:custGeom>
            <a:solidFill>
              <a:srgbClr val="0D0D0D"/>
            </a:solidFill>
          </p:spPr>
          <p:txBody>
            <a:bodyPr wrap="square" lIns="0" tIns="0" rIns="0" bIns="0" numCol="2" rtlCol="0"/>
            <a:lstStyle/>
            <a:p>
              <a:endParaRPr dirty="0"/>
            </a:p>
          </p:txBody>
        </p:sp>
        <p:sp>
          <p:nvSpPr>
            <p:cNvPr id="5" name="object 5"/>
            <p:cNvSpPr/>
            <p:nvPr/>
          </p:nvSpPr>
          <p:spPr>
            <a:xfrm>
              <a:off x="661490" y="2418321"/>
              <a:ext cx="6229350" cy="830580"/>
            </a:xfrm>
            <a:custGeom>
              <a:avLst/>
              <a:gdLst/>
              <a:ahLst/>
              <a:cxnLst/>
              <a:rect l="l" t="t" r="r" b="b"/>
              <a:pathLst>
                <a:path w="6229350" h="830580">
                  <a:moveTo>
                    <a:pt x="0" y="0"/>
                  </a:moveTo>
                  <a:lnTo>
                    <a:pt x="6229183" y="0"/>
                  </a:lnTo>
                  <a:lnTo>
                    <a:pt x="6229183" y="829975"/>
                  </a:lnTo>
                  <a:lnTo>
                    <a:pt x="0" y="829975"/>
                  </a:lnTo>
                  <a:lnTo>
                    <a:pt x="0" y="0"/>
                  </a:lnTo>
                  <a:close/>
                </a:path>
              </a:pathLst>
            </a:custGeom>
            <a:ln w="4330">
              <a:solidFill>
                <a:srgbClr val="000000"/>
              </a:solidFill>
            </a:ln>
          </p:spPr>
          <p:txBody>
            <a:bodyPr wrap="square" lIns="0" tIns="0" rIns="0" bIns="0" numCol="2" rtlCol="0"/>
            <a:lstStyle/>
            <a:p>
              <a:endParaRPr dirty="0"/>
            </a:p>
          </p:txBody>
        </p:sp>
        <p:pic>
          <p:nvPicPr>
            <p:cNvPr id="6" name="object 6"/>
            <p:cNvPicPr/>
            <p:nvPr/>
          </p:nvPicPr>
          <p:blipFill>
            <a:blip r:embed="rId3" cstate="print"/>
            <a:stretch>
              <a:fillRect/>
            </a:stretch>
          </p:blipFill>
          <p:spPr>
            <a:xfrm>
              <a:off x="663655" y="2418317"/>
              <a:ext cx="1597990" cy="829974"/>
            </a:xfrm>
            <a:prstGeom prst="rect">
              <a:avLst/>
            </a:prstGeom>
          </p:spPr>
        </p:pic>
      </p:grpSp>
      <p:sp>
        <p:nvSpPr>
          <p:cNvPr id="7" name="object 7"/>
          <p:cNvSpPr txBox="1"/>
          <p:nvPr/>
        </p:nvSpPr>
        <p:spPr>
          <a:xfrm>
            <a:off x="661496" y="2429041"/>
            <a:ext cx="6227445" cy="675826"/>
          </a:xfrm>
          <a:prstGeom prst="rect">
            <a:avLst/>
          </a:prstGeom>
        </p:spPr>
        <p:txBody>
          <a:bodyPr vert="horz" wrap="square" lIns="0" tIns="11430" rIns="0" bIns="0" rtlCol="0">
            <a:spAutoFit/>
          </a:bodyPr>
          <a:lstStyle/>
          <a:p>
            <a:pPr marL="1662430" marR="1389380">
              <a:lnSpc>
                <a:spcPct val="118900"/>
              </a:lnSpc>
              <a:spcBef>
                <a:spcPts val="90"/>
              </a:spcBef>
            </a:pPr>
            <a:r>
              <a:rPr sz="1900" b="1" spc="-80" dirty="0">
                <a:solidFill>
                  <a:srgbClr val="FFFFFF"/>
                </a:solidFill>
                <a:latin typeface="Cambria"/>
                <a:cs typeface="Cambria"/>
              </a:rPr>
              <a:t>COS30018</a:t>
            </a:r>
            <a:r>
              <a:rPr sz="1900" b="1" spc="-114" dirty="0">
                <a:solidFill>
                  <a:srgbClr val="FFFFFF"/>
                </a:solidFill>
                <a:latin typeface="Cambria"/>
                <a:cs typeface="Cambria"/>
              </a:rPr>
              <a:t> </a:t>
            </a:r>
            <a:r>
              <a:rPr sz="1900" b="1" dirty="0">
                <a:solidFill>
                  <a:srgbClr val="FFFFFF"/>
                </a:solidFill>
                <a:latin typeface="Cambria"/>
                <a:cs typeface="Cambria"/>
              </a:rPr>
              <a:t>-</a:t>
            </a:r>
            <a:r>
              <a:rPr sz="1900" b="1" spc="-105" dirty="0">
                <a:solidFill>
                  <a:srgbClr val="FFFFFF"/>
                </a:solidFill>
                <a:latin typeface="Cambria"/>
                <a:cs typeface="Cambria"/>
              </a:rPr>
              <a:t> </a:t>
            </a:r>
            <a:r>
              <a:rPr sz="1900" b="1" spc="-85" dirty="0">
                <a:solidFill>
                  <a:srgbClr val="FFFFFF"/>
                </a:solidFill>
                <a:latin typeface="Cambria"/>
                <a:cs typeface="Cambria"/>
              </a:rPr>
              <a:t>Intelligent</a:t>
            </a:r>
            <a:r>
              <a:rPr sz="1900" b="1" spc="-105" dirty="0">
                <a:solidFill>
                  <a:srgbClr val="FFFFFF"/>
                </a:solidFill>
                <a:latin typeface="Cambria"/>
                <a:cs typeface="Cambria"/>
              </a:rPr>
              <a:t> </a:t>
            </a:r>
            <a:r>
              <a:rPr sz="1900" b="1" spc="-60" dirty="0">
                <a:solidFill>
                  <a:srgbClr val="FFFFFF"/>
                </a:solidFill>
                <a:latin typeface="Cambria"/>
                <a:cs typeface="Cambria"/>
              </a:rPr>
              <a:t>Systems </a:t>
            </a:r>
            <a:r>
              <a:rPr sz="1900" b="1" spc="-10" dirty="0">
                <a:solidFill>
                  <a:srgbClr val="FFFFFF"/>
                </a:solidFill>
                <a:latin typeface="Cambria"/>
                <a:cs typeface="Cambria"/>
              </a:rPr>
              <a:t>Introduction</a:t>
            </a:r>
            <a:endParaRPr sz="1900" dirty="0">
              <a:latin typeface="Cambria"/>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654050" y="450850"/>
            <a:ext cx="5017770" cy="2222500"/>
          </a:xfrm>
          <a:prstGeom prst="rect">
            <a:avLst/>
          </a:prstGeom>
        </p:spPr>
        <p:txBody>
          <a:bodyPr vert="horz" wrap="square" lIns="0" tIns="177800" rIns="0" bIns="0" rtlCol="0">
            <a:spAutoFit/>
          </a:bodyPr>
          <a:lstStyle/>
          <a:p>
            <a:pPr marL="13335">
              <a:spcBef>
                <a:spcPts val="1400"/>
              </a:spcBef>
            </a:pPr>
            <a:r>
              <a:rPr sz="1900" b="1" dirty="0">
                <a:latin typeface="Cambria"/>
                <a:cs typeface="Cambria"/>
              </a:rPr>
              <a:t>Unit</a:t>
            </a:r>
            <a:r>
              <a:rPr sz="1900" b="1" spc="-45" dirty="0">
                <a:latin typeface="Cambria"/>
                <a:cs typeface="Cambria"/>
              </a:rPr>
              <a:t> </a:t>
            </a:r>
            <a:r>
              <a:rPr sz="1900" b="1" dirty="0">
                <a:latin typeface="Cambria"/>
                <a:cs typeface="Cambria"/>
              </a:rPr>
              <a:t>Learning</a:t>
            </a:r>
            <a:r>
              <a:rPr sz="1900" b="1" spc="-50" dirty="0">
                <a:latin typeface="Cambria"/>
                <a:cs typeface="Cambria"/>
              </a:rPr>
              <a:t> </a:t>
            </a:r>
            <a:r>
              <a:rPr sz="1900" b="1" spc="-10" dirty="0">
                <a:latin typeface="Cambria"/>
                <a:cs typeface="Cambria"/>
              </a:rPr>
              <a:t>Outcomes</a:t>
            </a:r>
            <a:endParaRPr sz="1900" dirty="0">
              <a:latin typeface="Cambria"/>
              <a:cs typeface="Cambria"/>
            </a:endParaRPr>
          </a:p>
          <a:p>
            <a:pPr marL="207010" indent="-194310">
              <a:spcBef>
                <a:spcPts val="840"/>
              </a:spcBef>
              <a:buFont typeface="Arial"/>
              <a:buChar char="•"/>
              <a:tabLst>
                <a:tab pos="207010" algn="l"/>
              </a:tabLst>
            </a:pPr>
            <a:r>
              <a:rPr sz="1200" b="1" dirty="0">
                <a:latin typeface="Cambria"/>
                <a:cs typeface="Cambria"/>
              </a:rPr>
              <a:t>Aim:</a:t>
            </a:r>
            <a:r>
              <a:rPr sz="1200" b="1" spc="30" dirty="0">
                <a:latin typeface="Cambria"/>
                <a:cs typeface="Cambria"/>
              </a:rPr>
              <a:t> </a:t>
            </a:r>
            <a:r>
              <a:rPr sz="1200" dirty="0">
                <a:latin typeface="Cambria"/>
                <a:cs typeface="Cambria"/>
              </a:rPr>
              <a:t>to</a:t>
            </a:r>
            <a:r>
              <a:rPr sz="1200" spc="30" dirty="0">
                <a:latin typeface="Cambria"/>
                <a:cs typeface="Cambria"/>
              </a:rPr>
              <a:t> </a:t>
            </a:r>
            <a:r>
              <a:rPr sz="1200" dirty="0">
                <a:latin typeface="Cambria"/>
                <a:cs typeface="Cambria"/>
              </a:rPr>
              <a:t>introduce</a:t>
            </a:r>
            <a:r>
              <a:rPr sz="1200" spc="25" dirty="0">
                <a:latin typeface="Cambria"/>
                <a:cs typeface="Cambria"/>
              </a:rPr>
              <a:t> </a:t>
            </a:r>
            <a:r>
              <a:rPr sz="1200" dirty="0">
                <a:latin typeface="Cambria"/>
                <a:cs typeface="Cambria"/>
              </a:rPr>
              <a:t>students</a:t>
            </a:r>
            <a:r>
              <a:rPr sz="1200" spc="35" dirty="0">
                <a:latin typeface="Cambria"/>
                <a:cs typeface="Cambria"/>
              </a:rPr>
              <a:t> </a:t>
            </a:r>
            <a:r>
              <a:rPr sz="1200" dirty="0">
                <a:latin typeface="Cambria"/>
                <a:cs typeface="Cambria"/>
              </a:rPr>
              <a:t>to</a:t>
            </a:r>
            <a:r>
              <a:rPr sz="1200" spc="25" dirty="0">
                <a:latin typeface="Cambria"/>
                <a:cs typeface="Cambria"/>
              </a:rPr>
              <a:t> </a:t>
            </a:r>
            <a:r>
              <a:rPr sz="1200" dirty="0">
                <a:latin typeface="Cambria"/>
                <a:cs typeface="Cambria"/>
              </a:rPr>
              <a:t>a</a:t>
            </a:r>
            <a:r>
              <a:rPr sz="1200" spc="35" dirty="0">
                <a:latin typeface="Cambria"/>
                <a:cs typeface="Cambria"/>
              </a:rPr>
              <a:t> </a:t>
            </a:r>
            <a:r>
              <a:rPr sz="1200" dirty="0">
                <a:latin typeface="Cambria"/>
                <a:cs typeface="Cambria"/>
              </a:rPr>
              <a:t>range</a:t>
            </a:r>
            <a:r>
              <a:rPr sz="1200" spc="30" dirty="0">
                <a:latin typeface="Cambria"/>
                <a:cs typeface="Cambria"/>
              </a:rPr>
              <a:t> </a:t>
            </a:r>
            <a:r>
              <a:rPr sz="1200" dirty="0">
                <a:latin typeface="Cambria"/>
                <a:cs typeface="Cambria"/>
              </a:rPr>
              <a:t>of</a:t>
            </a:r>
            <a:r>
              <a:rPr sz="1200" spc="40" dirty="0">
                <a:latin typeface="Cambria"/>
                <a:cs typeface="Cambria"/>
              </a:rPr>
              <a:t> </a:t>
            </a:r>
            <a:r>
              <a:rPr sz="1200" dirty="0">
                <a:latin typeface="Cambria"/>
                <a:cs typeface="Cambria"/>
              </a:rPr>
              <a:t>artificial</a:t>
            </a:r>
            <a:r>
              <a:rPr sz="1200" spc="35" dirty="0">
                <a:latin typeface="Cambria"/>
                <a:cs typeface="Cambria"/>
              </a:rPr>
              <a:t> </a:t>
            </a:r>
            <a:r>
              <a:rPr sz="1200" dirty="0">
                <a:latin typeface="Cambria"/>
                <a:cs typeface="Cambria"/>
              </a:rPr>
              <a:t>intelligence</a:t>
            </a:r>
            <a:r>
              <a:rPr sz="1200" spc="30" dirty="0">
                <a:latin typeface="Cambria"/>
                <a:cs typeface="Cambria"/>
              </a:rPr>
              <a:t> </a:t>
            </a:r>
            <a:r>
              <a:rPr sz="1200" spc="-10" dirty="0">
                <a:latin typeface="Cambria"/>
                <a:cs typeface="Cambria"/>
              </a:rPr>
              <a:t>techniques</a:t>
            </a:r>
            <a:endParaRPr sz="1200" dirty="0">
              <a:latin typeface="Cambria"/>
              <a:cs typeface="Cambria"/>
            </a:endParaRPr>
          </a:p>
          <a:p>
            <a:pPr marL="207010" indent="-194310">
              <a:spcBef>
                <a:spcPts val="495"/>
              </a:spcBef>
              <a:buFont typeface="Arial"/>
              <a:buChar char="•"/>
              <a:tabLst>
                <a:tab pos="207010" algn="l"/>
              </a:tabLst>
            </a:pPr>
            <a:r>
              <a:rPr sz="1200" b="1" dirty="0">
                <a:latin typeface="Cambria"/>
                <a:cs typeface="Cambria"/>
              </a:rPr>
              <a:t>Learning</a:t>
            </a:r>
            <a:r>
              <a:rPr sz="1200" b="1" spc="75" dirty="0">
                <a:latin typeface="Cambria"/>
                <a:cs typeface="Cambria"/>
              </a:rPr>
              <a:t> </a:t>
            </a:r>
            <a:r>
              <a:rPr sz="1200" b="1" spc="-10" dirty="0">
                <a:latin typeface="Cambria"/>
                <a:cs typeface="Cambria"/>
              </a:rPr>
              <a:t>Outcomes</a:t>
            </a:r>
            <a:endParaRPr sz="1200" dirty="0">
              <a:latin typeface="Cambria"/>
              <a:cs typeface="Cambria"/>
            </a:endParaRPr>
          </a:p>
          <a:p>
            <a:pPr marL="401955" lvl="1" indent="-194945">
              <a:spcBef>
                <a:spcPts val="555"/>
              </a:spcBef>
              <a:buFont typeface="Arial"/>
              <a:buChar char="•"/>
              <a:tabLst>
                <a:tab pos="401955" algn="l"/>
              </a:tabLst>
            </a:pPr>
            <a:r>
              <a:rPr sz="1200" b="1" dirty="0">
                <a:latin typeface="Cambria"/>
                <a:cs typeface="Cambria"/>
              </a:rPr>
              <a:t>Understand</a:t>
            </a:r>
            <a:r>
              <a:rPr sz="1200" b="1" spc="35" dirty="0">
                <a:latin typeface="Cambria"/>
                <a:cs typeface="Cambria"/>
              </a:rPr>
              <a:t> </a:t>
            </a:r>
            <a:r>
              <a:rPr sz="1200" dirty="0">
                <a:latin typeface="Cambria"/>
                <a:cs typeface="Cambria"/>
              </a:rPr>
              <a:t>a</a:t>
            </a:r>
            <a:r>
              <a:rPr sz="1200" spc="40" dirty="0">
                <a:latin typeface="Cambria"/>
                <a:cs typeface="Cambria"/>
              </a:rPr>
              <a:t> </a:t>
            </a:r>
            <a:r>
              <a:rPr sz="1200" dirty="0">
                <a:latin typeface="Cambria"/>
                <a:cs typeface="Cambria"/>
              </a:rPr>
              <a:t>range</a:t>
            </a:r>
            <a:r>
              <a:rPr sz="1200" spc="45" dirty="0">
                <a:latin typeface="Cambria"/>
                <a:cs typeface="Cambria"/>
              </a:rPr>
              <a:t> </a:t>
            </a:r>
            <a:r>
              <a:rPr sz="1200" dirty="0">
                <a:latin typeface="Cambria"/>
                <a:cs typeface="Cambria"/>
              </a:rPr>
              <a:t>of</a:t>
            </a:r>
            <a:r>
              <a:rPr sz="1200" spc="45" dirty="0">
                <a:latin typeface="Cambria"/>
                <a:cs typeface="Cambria"/>
              </a:rPr>
              <a:t> </a:t>
            </a:r>
            <a:r>
              <a:rPr sz="1200" dirty="0">
                <a:latin typeface="Cambria"/>
                <a:cs typeface="Cambria"/>
              </a:rPr>
              <a:t>techniques</a:t>
            </a:r>
            <a:r>
              <a:rPr sz="1200" spc="45" dirty="0">
                <a:latin typeface="Cambria"/>
                <a:cs typeface="Cambria"/>
              </a:rPr>
              <a:t> </a:t>
            </a:r>
            <a:r>
              <a:rPr sz="1200" dirty="0">
                <a:latin typeface="Cambria"/>
                <a:cs typeface="Cambria"/>
              </a:rPr>
              <a:t>of</a:t>
            </a:r>
            <a:r>
              <a:rPr sz="1200" spc="45" dirty="0">
                <a:latin typeface="Cambria"/>
                <a:cs typeface="Cambria"/>
              </a:rPr>
              <a:t> </a:t>
            </a:r>
            <a:r>
              <a:rPr sz="1200" b="1" dirty="0">
                <a:latin typeface="Cambria"/>
                <a:cs typeface="Cambria"/>
              </a:rPr>
              <a:t>intelligent</a:t>
            </a:r>
            <a:r>
              <a:rPr sz="1200" b="1" spc="50" dirty="0">
                <a:latin typeface="Cambria"/>
                <a:cs typeface="Cambria"/>
              </a:rPr>
              <a:t> </a:t>
            </a:r>
            <a:r>
              <a:rPr sz="1200" b="1" spc="-10" dirty="0">
                <a:latin typeface="Cambria"/>
                <a:cs typeface="Cambria"/>
              </a:rPr>
              <a:t>systems</a:t>
            </a:r>
            <a:endParaRPr sz="1200" dirty="0">
              <a:latin typeface="Cambria"/>
              <a:cs typeface="Cambria"/>
            </a:endParaRPr>
          </a:p>
          <a:p>
            <a:pPr marL="596265" lvl="2" indent="-194310">
              <a:spcBef>
                <a:spcPts val="434"/>
              </a:spcBef>
              <a:buFont typeface="Arial"/>
              <a:buChar char="•"/>
              <a:tabLst>
                <a:tab pos="596265" algn="l"/>
              </a:tabLst>
            </a:pPr>
            <a:r>
              <a:rPr sz="1200" dirty="0">
                <a:latin typeface="Cambria"/>
                <a:cs typeface="Cambria"/>
              </a:rPr>
              <a:t>across</a:t>
            </a:r>
            <a:r>
              <a:rPr sz="1200" spc="35" dirty="0">
                <a:latin typeface="Cambria"/>
                <a:cs typeface="Cambria"/>
              </a:rPr>
              <a:t> </a:t>
            </a:r>
            <a:r>
              <a:rPr sz="1200" dirty="0">
                <a:latin typeface="Cambria"/>
                <a:cs typeface="Cambria"/>
              </a:rPr>
              <a:t>artificial</a:t>
            </a:r>
            <a:r>
              <a:rPr sz="1200" spc="40" dirty="0">
                <a:latin typeface="Cambria"/>
                <a:cs typeface="Cambria"/>
              </a:rPr>
              <a:t> </a:t>
            </a:r>
            <a:r>
              <a:rPr sz="1200" dirty="0">
                <a:latin typeface="Cambria"/>
                <a:cs typeface="Cambria"/>
              </a:rPr>
              <a:t>intelligence</a:t>
            </a:r>
            <a:r>
              <a:rPr sz="1200" spc="40" dirty="0">
                <a:latin typeface="Cambria"/>
                <a:cs typeface="Cambria"/>
              </a:rPr>
              <a:t> </a:t>
            </a:r>
            <a:r>
              <a:rPr sz="1200" dirty="0">
                <a:latin typeface="Cambria"/>
                <a:cs typeface="Cambria"/>
              </a:rPr>
              <a:t>(AI)</a:t>
            </a:r>
            <a:r>
              <a:rPr sz="1200" spc="35" dirty="0">
                <a:latin typeface="Cambria"/>
                <a:cs typeface="Cambria"/>
              </a:rPr>
              <a:t> </a:t>
            </a:r>
            <a:r>
              <a:rPr sz="1200" dirty="0">
                <a:latin typeface="Cambria"/>
                <a:cs typeface="Cambria"/>
              </a:rPr>
              <a:t>and</a:t>
            </a:r>
            <a:r>
              <a:rPr sz="1200" spc="40" dirty="0">
                <a:latin typeface="Cambria"/>
                <a:cs typeface="Cambria"/>
              </a:rPr>
              <a:t> </a:t>
            </a:r>
            <a:r>
              <a:rPr sz="1200" dirty="0">
                <a:latin typeface="Cambria"/>
                <a:cs typeface="Cambria"/>
              </a:rPr>
              <a:t>intelligent</a:t>
            </a:r>
            <a:r>
              <a:rPr sz="1200" spc="45" dirty="0">
                <a:latin typeface="Cambria"/>
                <a:cs typeface="Cambria"/>
              </a:rPr>
              <a:t> </a:t>
            </a:r>
            <a:r>
              <a:rPr sz="1200" dirty="0">
                <a:latin typeface="Cambria"/>
                <a:cs typeface="Cambria"/>
              </a:rPr>
              <a:t>agents</a:t>
            </a:r>
            <a:r>
              <a:rPr sz="1200" spc="35" dirty="0">
                <a:latin typeface="Cambria"/>
                <a:cs typeface="Cambria"/>
              </a:rPr>
              <a:t> </a:t>
            </a:r>
            <a:r>
              <a:rPr sz="1200" spc="-10" dirty="0">
                <a:latin typeface="Cambria"/>
                <a:cs typeface="Cambria"/>
              </a:rPr>
              <a:t>(IA);</a:t>
            </a:r>
            <a:endParaRPr sz="1200" dirty="0">
              <a:latin typeface="Cambria"/>
              <a:cs typeface="Cambria"/>
            </a:endParaRPr>
          </a:p>
          <a:p>
            <a:pPr marL="596265" lvl="2" indent="-194310">
              <a:spcBef>
                <a:spcPts val="434"/>
              </a:spcBef>
              <a:buFont typeface="Arial"/>
              <a:buChar char="•"/>
              <a:tabLst>
                <a:tab pos="596265" algn="l"/>
              </a:tabLst>
            </a:pPr>
            <a:r>
              <a:rPr sz="1200" dirty="0">
                <a:latin typeface="Cambria"/>
                <a:cs typeface="Cambria"/>
              </a:rPr>
              <a:t>from</a:t>
            </a:r>
            <a:r>
              <a:rPr sz="1200" spc="35" dirty="0">
                <a:latin typeface="Cambria"/>
                <a:cs typeface="Cambria"/>
              </a:rPr>
              <a:t> </a:t>
            </a:r>
            <a:r>
              <a:rPr sz="1200" dirty="0">
                <a:latin typeface="Cambria"/>
                <a:cs typeface="Cambria"/>
              </a:rPr>
              <a:t>theoretical</a:t>
            </a:r>
            <a:r>
              <a:rPr sz="1200" spc="25" dirty="0">
                <a:latin typeface="Cambria"/>
                <a:cs typeface="Cambria"/>
              </a:rPr>
              <a:t> </a:t>
            </a:r>
            <a:r>
              <a:rPr sz="1200" dirty="0">
                <a:latin typeface="Cambria"/>
                <a:cs typeface="Cambria"/>
              </a:rPr>
              <a:t>&amp;</a:t>
            </a:r>
            <a:r>
              <a:rPr sz="1200" spc="30" dirty="0">
                <a:latin typeface="Cambria"/>
                <a:cs typeface="Cambria"/>
              </a:rPr>
              <a:t> </a:t>
            </a:r>
            <a:r>
              <a:rPr sz="1200" dirty="0">
                <a:latin typeface="Cambria"/>
                <a:cs typeface="Cambria"/>
              </a:rPr>
              <a:t>practical</a:t>
            </a:r>
            <a:r>
              <a:rPr sz="1200" spc="30" dirty="0">
                <a:latin typeface="Cambria"/>
                <a:cs typeface="Cambria"/>
              </a:rPr>
              <a:t> </a:t>
            </a:r>
            <a:r>
              <a:rPr sz="1200" spc="-10" dirty="0">
                <a:latin typeface="Cambria"/>
                <a:cs typeface="Cambria"/>
              </a:rPr>
              <a:t>perspective</a:t>
            </a:r>
            <a:endParaRPr sz="1200" dirty="0">
              <a:latin typeface="Cambria"/>
              <a:cs typeface="Cambria"/>
            </a:endParaRPr>
          </a:p>
          <a:p>
            <a:pPr marL="401955" lvl="1" indent="-194945">
              <a:spcBef>
                <a:spcPts val="434"/>
              </a:spcBef>
              <a:buFont typeface="Arial"/>
              <a:buChar char="•"/>
              <a:tabLst>
                <a:tab pos="401955" algn="l"/>
              </a:tabLst>
            </a:pPr>
            <a:r>
              <a:rPr sz="1200" b="1" dirty="0">
                <a:latin typeface="Cambria"/>
                <a:cs typeface="Cambria"/>
              </a:rPr>
              <a:t>Apply</a:t>
            </a:r>
            <a:r>
              <a:rPr sz="1200" b="1" spc="25" dirty="0">
                <a:latin typeface="Cambria"/>
                <a:cs typeface="Cambria"/>
              </a:rPr>
              <a:t> </a:t>
            </a:r>
            <a:r>
              <a:rPr sz="1200" dirty="0">
                <a:latin typeface="Cambria"/>
                <a:cs typeface="Cambria"/>
              </a:rPr>
              <a:t>different</a:t>
            </a:r>
            <a:r>
              <a:rPr sz="1200" spc="35" dirty="0">
                <a:latin typeface="Cambria"/>
                <a:cs typeface="Cambria"/>
              </a:rPr>
              <a:t> </a:t>
            </a:r>
            <a:r>
              <a:rPr sz="1200" dirty="0">
                <a:latin typeface="Cambria"/>
                <a:cs typeface="Cambria"/>
              </a:rPr>
              <a:t>AI/IA</a:t>
            </a:r>
            <a:r>
              <a:rPr sz="1200" spc="30" dirty="0">
                <a:latin typeface="Cambria"/>
                <a:cs typeface="Cambria"/>
              </a:rPr>
              <a:t> </a:t>
            </a:r>
            <a:r>
              <a:rPr sz="1200" dirty="0">
                <a:latin typeface="Cambria"/>
                <a:cs typeface="Cambria"/>
              </a:rPr>
              <a:t>algorithms</a:t>
            </a:r>
            <a:r>
              <a:rPr sz="1200" spc="30" dirty="0">
                <a:latin typeface="Cambria"/>
                <a:cs typeface="Cambria"/>
              </a:rPr>
              <a:t> </a:t>
            </a:r>
            <a:r>
              <a:rPr sz="1200" dirty="0">
                <a:latin typeface="Cambria"/>
                <a:cs typeface="Cambria"/>
              </a:rPr>
              <a:t>to</a:t>
            </a:r>
            <a:r>
              <a:rPr sz="1200" spc="20" dirty="0">
                <a:latin typeface="Cambria"/>
                <a:cs typeface="Cambria"/>
              </a:rPr>
              <a:t> </a:t>
            </a:r>
            <a:r>
              <a:rPr sz="1200" dirty="0">
                <a:latin typeface="Cambria"/>
                <a:cs typeface="Cambria"/>
              </a:rPr>
              <a:t>solve</a:t>
            </a:r>
            <a:r>
              <a:rPr sz="1200" spc="30" dirty="0">
                <a:latin typeface="Cambria"/>
                <a:cs typeface="Cambria"/>
              </a:rPr>
              <a:t> </a:t>
            </a:r>
            <a:r>
              <a:rPr sz="1200" dirty="0">
                <a:latin typeface="Cambria"/>
                <a:cs typeface="Cambria"/>
              </a:rPr>
              <a:t>practical</a:t>
            </a:r>
            <a:r>
              <a:rPr sz="1200" spc="25" dirty="0">
                <a:latin typeface="Cambria"/>
                <a:cs typeface="Cambria"/>
              </a:rPr>
              <a:t> </a:t>
            </a:r>
            <a:r>
              <a:rPr sz="1200" spc="-10" dirty="0">
                <a:latin typeface="Cambria"/>
                <a:cs typeface="Cambria"/>
              </a:rPr>
              <a:t>problems</a:t>
            </a:r>
            <a:endParaRPr sz="1200" dirty="0">
              <a:latin typeface="Cambria"/>
              <a:cs typeface="Cambria"/>
            </a:endParaRPr>
          </a:p>
          <a:p>
            <a:pPr marL="401955" lvl="1" indent="-194945">
              <a:spcBef>
                <a:spcPts val="434"/>
              </a:spcBef>
              <a:buFont typeface="Arial"/>
              <a:buChar char="•"/>
              <a:tabLst>
                <a:tab pos="401955" algn="l"/>
              </a:tabLst>
            </a:pPr>
            <a:r>
              <a:rPr sz="1200" b="1" dirty="0">
                <a:latin typeface="Cambria"/>
                <a:cs typeface="Cambria"/>
              </a:rPr>
              <a:t>Design/build</a:t>
            </a:r>
            <a:r>
              <a:rPr sz="1200" b="1" spc="45" dirty="0">
                <a:latin typeface="Cambria"/>
                <a:cs typeface="Cambria"/>
              </a:rPr>
              <a:t> </a:t>
            </a:r>
            <a:r>
              <a:rPr sz="1200" dirty="0">
                <a:latin typeface="Cambria"/>
                <a:cs typeface="Cambria"/>
              </a:rPr>
              <a:t>simple</a:t>
            </a:r>
            <a:r>
              <a:rPr sz="1200" spc="45" dirty="0">
                <a:latin typeface="Cambria"/>
                <a:cs typeface="Cambria"/>
              </a:rPr>
              <a:t> </a:t>
            </a:r>
            <a:r>
              <a:rPr sz="1200" dirty="0">
                <a:latin typeface="Cambria"/>
                <a:cs typeface="Cambria"/>
              </a:rPr>
              <a:t>intelligent</a:t>
            </a:r>
            <a:r>
              <a:rPr sz="1200" spc="50" dirty="0">
                <a:latin typeface="Cambria"/>
                <a:cs typeface="Cambria"/>
              </a:rPr>
              <a:t> </a:t>
            </a:r>
            <a:r>
              <a:rPr sz="1200" dirty="0">
                <a:latin typeface="Cambria"/>
                <a:cs typeface="Cambria"/>
              </a:rPr>
              <a:t>systems</a:t>
            </a:r>
            <a:r>
              <a:rPr sz="1200" spc="45" dirty="0">
                <a:latin typeface="Cambria"/>
                <a:cs typeface="Cambria"/>
              </a:rPr>
              <a:t> </a:t>
            </a:r>
            <a:r>
              <a:rPr sz="1200" dirty="0">
                <a:latin typeface="Cambria"/>
                <a:cs typeface="Cambria"/>
              </a:rPr>
              <a:t>based</a:t>
            </a:r>
            <a:r>
              <a:rPr sz="1200" spc="45" dirty="0">
                <a:latin typeface="Cambria"/>
                <a:cs typeface="Cambria"/>
              </a:rPr>
              <a:t> </a:t>
            </a:r>
            <a:r>
              <a:rPr sz="1200" dirty="0">
                <a:latin typeface="Cambria"/>
                <a:cs typeface="Cambria"/>
              </a:rPr>
              <a:t>on</a:t>
            </a:r>
            <a:r>
              <a:rPr sz="1200" spc="45" dirty="0">
                <a:latin typeface="Cambria"/>
                <a:cs typeface="Cambria"/>
              </a:rPr>
              <a:t> </a:t>
            </a:r>
            <a:r>
              <a:rPr sz="1200" dirty="0">
                <a:latin typeface="Cambria"/>
                <a:cs typeface="Cambria"/>
              </a:rPr>
              <a:t>AI/IA</a:t>
            </a:r>
            <a:r>
              <a:rPr sz="1200" spc="50" dirty="0">
                <a:latin typeface="Cambria"/>
                <a:cs typeface="Cambria"/>
              </a:rPr>
              <a:t> </a:t>
            </a:r>
            <a:r>
              <a:rPr sz="1200" spc="-10" dirty="0">
                <a:latin typeface="Cambria"/>
                <a:cs typeface="Cambria"/>
              </a:rPr>
              <a:t>concepts</a:t>
            </a:r>
            <a:endParaRPr sz="1200" dirty="0">
              <a:latin typeface="Cambria"/>
              <a:cs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4050" y="374650"/>
            <a:ext cx="5088890" cy="2305050"/>
          </a:xfrm>
          <a:prstGeom prst="rect">
            <a:avLst/>
          </a:prstGeom>
        </p:spPr>
        <p:txBody>
          <a:bodyPr vert="horz" wrap="square" lIns="0" tIns="177800" rIns="0" bIns="0" rtlCol="0">
            <a:spAutoFit/>
          </a:bodyPr>
          <a:lstStyle/>
          <a:p>
            <a:pPr marL="26034">
              <a:spcBef>
                <a:spcPts val="1400"/>
              </a:spcBef>
            </a:pPr>
            <a:r>
              <a:rPr sz="1900" b="1" dirty="0">
                <a:latin typeface="Cambria"/>
                <a:cs typeface="Cambria"/>
              </a:rPr>
              <a:t>Recommended</a:t>
            </a:r>
            <a:r>
              <a:rPr sz="1900" b="1" spc="-100" dirty="0">
                <a:latin typeface="Cambria"/>
                <a:cs typeface="Cambria"/>
              </a:rPr>
              <a:t> </a:t>
            </a:r>
            <a:r>
              <a:rPr sz="1900" b="1" spc="-10" dirty="0">
                <a:latin typeface="Cambria"/>
                <a:cs typeface="Cambria"/>
              </a:rPr>
              <a:t>Reading</a:t>
            </a:r>
            <a:endParaRPr sz="1900" dirty="0">
              <a:latin typeface="Cambria"/>
              <a:cs typeface="Cambria"/>
            </a:endParaRPr>
          </a:p>
          <a:p>
            <a:pPr marL="219710" indent="-194310">
              <a:spcBef>
                <a:spcPts val="840"/>
              </a:spcBef>
              <a:buFont typeface="Arial"/>
              <a:buChar char="•"/>
              <a:tabLst>
                <a:tab pos="219710" algn="l"/>
              </a:tabLst>
            </a:pPr>
            <a:r>
              <a:rPr sz="1200" b="1" spc="-10" dirty="0">
                <a:latin typeface="Cambria"/>
                <a:cs typeface="Cambria"/>
              </a:rPr>
              <a:t>Reading</a:t>
            </a:r>
            <a:endParaRPr sz="1200" dirty="0">
              <a:latin typeface="Cambria"/>
              <a:cs typeface="Cambria"/>
            </a:endParaRPr>
          </a:p>
          <a:p>
            <a:pPr marL="414655" marR="335280" lvl="1" indent="-194945">
              <a:lnSpc>
                <a:spcPct val="103299"/>
              </a:lnSpc>
              <a:spcBef>
                <a:spcPts val="509"/>
              </a:spcBef>
              <a:buFont typeface="Arial"/>
              <a:buChar char="•"/>
              <a:tabLst>
                <a:tab pos="414655" algn="l"/>
              </a:tabLst>
            </a:pPr>
            <a:r>
              <a:rPr sz="1200" b="1" dirty="0">
                <a:latin typeface="Cambria"/>
                <a:cs typeface="Cambria"/>
              </a:rPr>
              <a:t>Russell,</a:t>
            </a:r>
            <a:r>
              <a:rPr sz="1200" b="1" spc="30" dirty="0">
                <a:latin typeface="Cambria"/>
                <a:cs typeface="Cambria"/>
              </a:rPr>
              <a:t> </a:t>
            </a:r>
            <a:r>
              <a:rPr sz="1200" b="1" dirty="0">
                <a:latin typeface="Cambria"/>
                <a:cs typeface="Cambria"/>
              </a:rPr>
              <a:t>S.</a:t>
            </a:r>
            <a:r>
              <a:rPr sz="1200" b="1" spc="35" dirty="0">
                <a:latin typeface="Cambria"/>
                <a:cs typeface="Cambria"/>
              </a:rPr>
              <a:t> </a:t>
            </a:r>
            <a:r>
              <a:rPr sz="1200" b="1" dirty="0">
                <a:latin typeface="Cambria"/>
                <a:cs typeface="Cambria"/>
              </a:rPr>
              <a:t>&amp;</a:t>
            </a:r>
            <a:r>
              <a:rPr sz="1200" b="1" spc="40" dirty="0">
                <a:latin typeface="Cambria"/>
                <a:cs typeface="Cambria"/>
              </a:rPr>
              <a:t> </a:t>
            </a:r>
            <a:r>
              <a:rPr sz="1200" b="1" dirty="0">
                <a:latin typeface="Cambria"/>
                <a:cs typeface="Cambria"/>
              </a:rPr>
              <a:t>Norvig,</a:t>
            </a:r>
            <a:r>
              <a:rPr sz="1200" b="1" spc="30" dirty="0">
                <a:latin typeface="Cambria"/>
                <a:cs typeface="Cambria"/>
              </a:rPr>
              <a:t> </a:t>
            </a:r>
            <a:r>
              <a:rPr sz="1200" b="1" spc="-80" dirty="0">
                <a:latin typeface="Cambria"/>
                <a:cs typeface="Cambria"/>
              </a:rPr>
              <a:t>P.</a:t>
            </a:r>
            <a:r>
              <a:rPr sz="1200" b="1" spc="35" dirty="0">
                <a:latin typeface="Cambria"/>
                <a:cs typeface="Cambria"/>
              </a:rPr>
              <a:t> </a:t>
            </a:r>
            <a:r>
              <a:rPr sz="1200" i="1" dirty="0">
                <a:latin typeface="Cambria"/>
                <a:cs typeface="Cambria"/>
              </a:rPr>
              <a:t>Artificial</a:t>
            </a:r>
            <a:r>
              <a:rPr sz="1200" i="1" spc="30" dirty="0">
                <a:latin typeface="Cambria"/>
                <a:cs typeface="Cambria"/>
              </a:rPr>
              <a:t> </a:t>
            </a:r>
            <a:r>
              <a:rPr sz="1200" i="1" dirty="0">
                <a:latin typeface="Cambria"/>
                <a:cs typeface="Cambria"/>
              </a:rPr>
              <a:t>Intelligence:</a:t>
            </a:r>
            <a:r>
              <a:rPr sz="1200" i="1" spc="35" dirty="0">
                <a:latin typeface="Cambria"/>
                <a:cs typeface="Cambria"/>
              </a:rPr>
              <a:t> </a:t>
            </a:r>
            <a:r>
              <a:rPr sz="1200" i="1" dirty="0">
                <a:latin typeface="Cambria"/>
                <a:cs typeface="Cambria"/>
              </a:rPr>
              <a:t>A</a:t>
            </a:r>
            <a:r>
              <a:rPr sz="1200" i="1" spc="40" dirty="0">
                <a:latin typeface="Cambria"/>
                <a:cs typeface="Cambria"/>
              </a:rPr>
              <a:t> </a:t>
            </a:r>
            <a:r>
              <a:rPr sz="1200" i="1" dirty="0">
                <a:latin typeface="Cambria"/>
                <a:cs typeface="Cambria"/>
              </a:rPr>
              <a:t>Modern</a:t>
            </a:r>
            <a:r>
              <a:rPr sz="1200" i="1" spc="35" dirty="0">
                <a:latin typeface="Cambria"/>
                <a:cs typeface="Cambria"/>
              </a:rPr>
              <a:t> </a:t>
            </a:r>
            <a:r>
              <a:rPr sz="1200" i="1" spc="-10" dirty="0">
                <a:latin typeface="Cambria"/>
                <a:cs typeface="Cambria"/>
              </a:rPr>
              <a:t>Approach</a:t>
            </a:r>
            <a:r>
              <a:rPr sz="1200" spc="-10" dirty="0">
                <a:latin typeface="Cambria"/>
                <a:cs typeface="Cambria"/>
              </a:rPr>
              <a:t>. </a:t>
            </a:r>
            <a:r>
              <a:rPr sz="1200" dirty="0">
                <a:latin typeface="Cambria"/>
                <a:cs typeface="Cambria"/>
              </a:rPr>
              <a:t>Prentice</a:t>
            </a:r>
            <a:r>
              <a:rPr sz="1200" spc="35" dirty="0">
                <a:latin typeface="Cambria"/>
                <a:cs typeface="Cambria"/>
              </a:rPr>
              <a:t> </a:t>
            </a:r>
            <a:r>
              <a:rPr sz="1200" dirty="0">
                <a:latin typeface="Cambria"/>
                <a:cs typeface="Cambria"/>
              </a:rPr>
              <a:t>Hall,</a:t>
            </a:r>
            <a:r>
              <a:rPr sz="1200" spc="45" dirty="0">
                <a:latin typeface="Cambria"/>
                <a:cs typeface="Cambria"/>
              </a:rPr>
              <a:t> </a:t>
            </a:r>
            <a:r>
              <a:rPr sz="1200" dirty="0">
                <a:latin typeface="Cambria"/>
                <a:cs typeface="Cambria"/>
              </a:rPr>
              <a:t>3rd</a:t>
            </a:r>
            <a:r>
              <a:rPr sz="1200" spc="40" dirty="0">
                <a:latin typeface="Cambria"/>
                <a:cs typeface="Cambria"/>
              </a:rPr>
              <a:t> </a:t>
            </a:r>
            <a:r>
              <a:rPr sz="1200" dirty="0">
                <a:latin typeface="Cambria"/>
                <a:cs typeface="Cambria"/>
              </a:rPr>
              <a:t>edition/4</a:t>
            </a:r>
            <a:r>
              <a:rPr sz="1200" baseline="27777" dirty="0">
                <a:latin typeface="Cambria"/>
                <a:cs typeface="Cambria"/>
              </a:rPr>
              <a:t>th</a:t>
            </a:r>
            <a:r>
              <a:rPr sz="1200" spc="165" baseline="27777" dirty="0">
                <a:latin typeface="Cambria"/>
                <a:cs typeface="Cambria"/>
              </a:rPr>
              <a:t> </a:t>
            </a:r>
            <a:r>
              <a:rPr sz="1200" dirty="0">
                <a:latin typeface="Cambria"/>
                <a:cs typeface="Cambria"/>
              </a:rPr>
              <a:t>edition,</a:t>
            </a:r>
            <a:r>
              <a:rPr sz="1200" spc="45" dirty="0">
                <a:latin typeface="Cambria"/>
                <a:cs typeface="Cambria"/>
              </a:rPr>
              <a:t> </a:t>
            </a:r>
            <a:r>
              <a:rPr sz="1200" spc="-20" dirty="0">
                <a:latin typeface="Cambria"/>
                <a:cs typeface="Cambria"/>
              </a:rPr>
              <a:t>2009</a:t>
            </a:r>
            <a:endParaRPr sz="1200" dirty="0">
              <a:latin typeface="Cambria"/>
              <a:cs typeface="Cambria"/>
            </a:endParaRPr>
          </a:p>
          <a:p>
            <a:pPr marL="414655" marR="325120" lvl="1" indent="-194945">
              <a:lnSpc>
                <a:spcPct val="103299"/>
              </a:lnSpc>
              <a:spcBef>
                <a:spcPts val="385"/>
              </a:spcBef>
              <a:buFont typeface="Arial"/>
              <a:buChar char="•"/>
              <a:tabLst>
                <a:tab pos="414655" algn="l"/>
              </a:tabLst>
            </a:pPr>
            <a:r>
              <a:rPr sz="1200" b="1" dirty="0">
                <a:latin typeface="Cambria"/>
                <a:cs typeface="Cambria"/>
              </a:rPr>
              <a:t>Negnevitsky,</a:t>
            </a:r>
            <a:r>
              <a:rPr sz="1200" b="1" spc="15" dirty="0">
                <a:latin typeface="Cambria"/>
                <a:cs typeface="Cambria"/>
              </a:rPr>
              <a:t> </a:t>
            </a:r>
            <a:r>
              <a:rPr sz="1200" b="1" dirty="0">
                <a:latin typeface="Cambria"/>
                <a:cs typeface="Cambria"/>
              </a:rPr>
              <a:t>M.</a:t>
            </a:r>
            <a:r>
              <a:rPr sz="1200" dirty="0">
                <a:latin typeface="Cambria"/>
                <a:cs typeface="Cambria"/>
              </a:rPr>
              <a:t>,</a:t>
            </a:r>
            <a:r>
              <a:rPr sz="1200" spc="25" dirty="0">
                <a:latin typeface="Cambria"/>
                <a:cs typeface="Cambria"/>
              </a:rPr>
              <a:t> </a:t>
            </a:r>
            <a:r>
              <a:rPr sz="1200" dirty="0">
                <a:latin typeface="Cambria"/>
                <a:cs typeface="Cambria"/>
              </a:rPr>
              <a:t>2005.</a:t>
            </a:r>
            <a:r>
              <a:rPr sz="1200" spc="25" dirty="0">
                <a:latin typeface="Cambria"/>
                <a:cs typeface="Cambria"/>
              </a:rPr>
              <a:t> </a:t>
            </a:r>
            <a:r>
              <a:rPr sz="1200" i="1" dirty="0">
                <a:latin typeface="Cambria"/>
                <a:cs typeface="Cambria"/>
              </a:rPr>
              <a:t>Artificial</a:t>
            </a:r>
            <a:r>
              <a:rPr sz="1200" i="1" spc="25" dirty="0">
                <a:latin typeface="Cambria"/>
                <a:cs typeface="Cambria"/>
              </a:rPr>
              <a:t> </a:t>
            </a:r>
            <a:r>
              <a:rPr sz="1200" i="1" dirty="0">
                <a:latin typeface="Cambria"/>
                <a:cs typeface="Cambria"/>
              </a:rPr>
              <a:t>intelligence:</a:t>
            </a:r>
            <a:r>
              <a:rPr sz="1200" i="1" spc="20" dirty="0">
                <a:latin typeface="Cambria"/>
                <a:cs typeface="Cambria"/>
              </a:rPr>
              <a:t> </a:t>
            </a:r>
            <a:r>
              <a:rPr sz="1200" i="1" dirty="0">
                <a:latin typeface="Cambria"/>
                <a:cs typeface="Cambria"/>
              </a:rPr>
              <a:t>a</a:t>
            </a:r>
            <a:r>
              <a:rPr sz="1200" i="1" spc="25" dirty="0">
                <a:latin typeface="Cambria"/>
                <a:cs typeface="Cambria"/>
              </a:rPr>
              <a:t> </a:t>
            </a:r>
            <a:r>
              <a:rPr sz="1200" i="1" dirty="0">
                <a:latin typeface="Cambria"/>
                <a:cs typeface="Cambria"/>
              </a:rPr>
              <a:t>guide</a:t>
            </a:r>
            <a:r>
              <a:rPr sz="1200" i="1" spc="30" dirty="0">
                <a:latin typeface="Cambria"/>
                <a:cs typeface="Cambria"/>
              </a:rPr>
              <a:t> </a:t>
            </a:r>
            <a:r>
              <a:rPr sz="1200" i="1" dirty="0">
                <a:latin typeface="Cambria"/>
                <a:cs typeface="Cambria"/>
              </a:rPr>
              <a:t>to</a:t>
            </a:r>
            <a:r>
              <a:rPr sz="1200" i="1" spc="20" dirty="0">
                <a:latin typeface="Cambria"/>
                <a:cs typeface="Cambria"/>
              </a:rPr>
              <a:t> </a:t>
            </a:r>
            <a:r>
              <a:rPr sz="1200" i="1" spc="-10" dirty="0">
                <a:latin typeface="Cambria"/>
                <a:cs typeface="Cambria"/>
              </a:rPr>
              <a:t>intelligent </a:t>
            </a:r>
            <a:r>
              <a:rPr sz="1200" i="1" dirty="0">
                <a:latin typeface="Cambria"/>
                <a:cs typeface="Cambria"/>
              </a:rPr>
              <a:t>systems</a:t>
            </a:r>
            <a:r>
              <a:rPr sz="1200" dirty="0">
                <a:latin typeface="Cambria"/>
                <a:cs typeface="Cambria"/>
              </a:rPr>
              <a:t>.</a:t>
            </a:r>
            <a:r>
              <a:rPr sz="1200" spc="30" dirty="0">
                <a:latin typeface="Cambria"/>
                <a:cs typeface="Cambria"/>
              </a:rPr>
              <a:t> </a:t>
            </a:r>
            <a:r>
              <a:rPr sz="1200" dirty="0">
                <a:latin typeface="Cambria"/>
                <a:cs typeface="Cambria"/>
              </a:rPr>
              <a:t>Pearson</a:t>
            </a:r>
            <a:r>
              <a:rPr sz="1200" spc="25" dirty="0">
                <a:latin typeface="Cambria"/>
                <a:cs typeface="Cambria"/>
              </a:rPr>
              <a:t> </a:t>
            </a:r>
            <a:r>
              <a:rPr sz="1200" dirty="0">
                <a:latin typeface="Cambria"/>
                <a:cs typeface="Cambria"/>
              </a:rPr>
              <a:t>education,</a:t>
            </a:r>
            <a:r>
              <a:rPr sz="1200" spc="35" dirty="0">
                <a:latin typeface="Cambria"/>
                <a:cs typeface="Cambria"/>
              </a:rPr>
              <a:t> </a:t>
            </a:r>
            <a:r>
              <a:rPr sz="1200" dirty="0">
                <a:latin typeface="Cambria"/>
                <a:cs typeface="Cambria"/>
              </a:rPr>
              <a:t>3rd</a:t>
            </a:r>
            <a:r>
              <a:rPr sz="1200" spc="25" dirty="0">
                <a:latin typeface="Cambria"/>
                <a:cs typeface="Cambria"/>
              </a:rPr>
              <a:t> </a:t>
            </a:r>
            <a:r>
              <a:rPr sz="1200" spc="-10" dirty="0">
                <a:latin typeface="Cambria"/>
                <a:cs typeface="Cambria"/>
              </a:rPr>
              <a:t>edition.</a:t>
            </a:r>
            <a:endParaRPr sz="1200" dirty="0">
              <a:latin typeface="Cambria"/>
              <a:cs typeface="Cambria"/>
            </a:endParaRPr>
          </a:p>
          <a:p>
            <a:pPr marL="414655" marR="93980" lvl="1" indent="-194945">
              <a:lnSpc>
                <a:spcPct val="103299"/>
              </a:lnSpc>
              <a:spcBef>
                <a:spcPts val="385"/>
              </a:spcBef>
              <a:buFont typeface="Arial"/>
              <a:buChar char="•"/>
              <a:tabLst>
                <a:tab pos="414655" algn="l"/>
              </a:tabLst>
            </a:pPr>
            <a:r>
              <a:rPr sz="1200" b="1" dirty="0">
                <a:latin typeface="Cambria"/>
                <a:cs typeface="Cambria"/>
              </a:rPr>
              <a:t>Wooldridge,</a:t>
            </a:r>
            <a:r>
              <a:rPr sz="1200" b="1" spc="25" dirty="0">
                <a:latin typeface="Cambria"/>
                <a:cs typeface="Cambria"/>
              </a:rPr>
              <a:t> </a:t>
            </a:r>
            <a:r>
              <a:rPr sz="1200" b="1" dirty="0">
                <a:latin typeface="Cambria"/>
                <a:cs typeface="Cambria"/>
              </a:rPr>
              <a:t>M</a:t>
            </a:r>
            <a:r>
              <a:rPr sz="1200" dirty="0">
                <a:latin typeface="Cambria"/>
                <a:cs typeface="Cambria"/>
              </a:rPr>
              <a:t>.</a:t>
            </a:r>
            <a:r>
              <a:rPr sz="1200" spc="30" dirty="0">
                <a:latin typeface="Cambria"/>
                <a:cs typeface="Cambria"/>
              </a:rPr>
              <a:t> </a:t>
            </a:r>
            <a:r>
              <a:rPr sz="1200" i="1" dirty="0">
                <a:latin typeface="Cambria"/>
                <a:cs typeface="Cambria"/>
              </a:rPr>
              <a:t>An</a:t>
            </a:r>
            <a:r>
              <a:rPr sz="1200" i="1" spc="25" dirty="0">
                <a:latin typeface="Cambria"/>
                <a:cs typeface="Cambria"/>
              </a:rPr>
              <a:t> </a:t>
            </a:r>
            <a:r>
              <a:rPr sz="1200" i="1" dirty="0">
                <a:latin typeface="Cambria"/>
                <a:cs typeface="Cambria"/>
              </a:rPr>
              <a:t>Introduction</a:t>
            </a:r>
            <a:r>
              <a:rPr sz="1200" i="1" spc="30" dirty="0">
                <a:latin typeface="Cambria"/>
                <a:cs typeface="Cambria"/>
              </a:rPr>
              <a:t> </a:t>
            </a:r>
            <a:r>
              <a:rPr sz="1200" i="1" dirty="0">
                <a:latin typeface="Cambria"/>
                <a:cs typeface="Cambria"/>
              </a:rPr>
              <a:t>to</a:t>
            </a:r>
            <a:r>
              <a:rPr sz="1200" i="1" spc="25" dirty="0">
                <a:latin typeface="Cambria"/>
                <a:cs typeface="Cambria"/>
              </a:rPr>
              <a:t> </a:t>
            </a:r>
            <a:r>
              <a:rPr sz="1200" i="1" dirty="0">
                <a:latin typeface="Cambria"/>
                <a:cs typeface="Cambria"/>
              </a:rPr>
              <a:t>Multi-Agent</a:t>
            </a:r>
            <a:r>
              <a:rPr sz="1200" i="1" spc="30" dirty="0">
                <a:latin typeface="Cambria"/>
                <a:cs typeface="Cambria"/>
              </a:rPr>
              <a:t> </a:t>
            </a:r>
            <a:r>
              <a:rPr sz="1200" i="1" dirty="0">
                <a:latin typeface="Cambria"/>
                <a:cs typeface="Cambria"/>
              </a:rPr>
              <a:t>Systems</a:t>
            </a:r>
            <a:r>
              <a:rPr sz="1200" dirty="0">
                <a:latin typeface="Cambria"/>
                <a:cs typeface="Cambria"/>
              </a:rPr>
              <a:t>.</a:t>
            </a:r>
            <a:r>
              <a:rPr sz="1200" spc="35" dirty="0">
                <a:latin typeface="Cambria"/>
                <a:cs typeface="Cambria"/>
              </a:rPr>
              <a:t> </a:t>
            </a:r>
            <a:r>
              <a:rPr sz="1200" dirty="0">
                <a:latin typeface="Cambria"/>
                <a:cs typeface="Cambria"/>
              </a:rPr>
              <a:t>John</a:t>
            </a:r>
            <a:r>
              <a:rPr sz="1200" spc="20" dirty="0">
                <a:latin typeface="Cambria"/>
                <a:cs typeface="Cambria"/>
              </a:rPr>
              <a:t> </a:t>
            </a:r>
            <a:r>
              <a:rPr sz="1200" dirty="0">
                <a:latin typeface="Cambria"/>
                <a:cs typeface="Cambria"/>
              </a:rPr>
              <a:t>Wiley</a:t>
            </a:r>
            <a:r>
              <a:rPr sz="1200" spc="30" dirty="0">
                <a:latin typeface="Cambria"/>
                <a:cs typeface="Cambria"/>
              </a:rPr>
              <a:t> </a:t>
            </a:r>
            <a:r>
              <a:rPr sz="1200" spc="-50" dirty="0">
                <a:latin typeface="Cambria"/>
                <a:cs typeface="Cambria"/>
              </a:rPr>
              <a:t>&amp; </a:t>
            </a:r>
            <a:r>
              <a:rPr sz="1200" dirty="0">
                <a:latin typeface="Cambria"/>
                <a:cs typeface="Cambria"/>
              </a:rPr>
              <a:t>Sons,</a:t>
            </a:r>
            <a:r>
              <a:rPr sz="1200" spc="20" dirty="0">
                <a:latin typeface="Cambria"/>
                <a:cs typeface="Cambria"/>
              </a:rPr>
              <a:t> </a:t>
            </a:r>
            <a:r>
              <a:rPr sz="1200" spc="-20" dirty="0">
                <a:latin typeface="Cambria"/>
                <a:cs typeface="Cambria"/>
              </a:rPr>
              <a:t>2002</a:t>
            </a:r>
            <a:endParaRPr sz="1200" dirty="0">
              <a:latin typeface="Cambria"/>
              <a:cs typeface="Cambria"/>
            </a:endParaRPr>
          </a:p>
          <a:p>
            <a:pPr marL="414655" lvl="1" indent="-194945">
              <a:spcBef>
                <a:spcPts val="434"/>
              </a:spcBef>
              <a:buFont typeface="Arial"/>
              <a:buChar char="•"/>
              <a:tabLst>
                <a:tab pos="414655" algn="l"/>
              </a:tabLst>
            </a:pPr>
            <a:r>
              <a:rPr sz="1200" dirty="0">
                <a:latin typeface="Cambria"/>
                <a:cs typeface="Cambria"/>
              </a:rPr>
              <a:t>Lecture</a:t>
            </a:r>
            <a:r>
              <a:rPr sz="1200" spc="25" dirty="0">
                <a:latin typeface="Cambria"/>
                <a:cs typeface="Cambria"/>
              </a:rPr>
              <a:t> </a:t>
            </a:r>
            <a:r>
              <a:rPr sz="1200" dirty="0">
                <a:latin typeface="Cambria"/>
                <a:cs typeface="Cambria"/>
              </a:rPr>
              <a:t>slides</a:t>
            </a:r>
            <a:r>
              <a:rPr sz="1200" spc="35" dirty="0">
                <a:latin typeface="Cambria"/>
                <a:cs typeface="Cambria"/>
              </a:rPr>
              <a:t> </a:t>
            </a:r>
            <a:r>
              <a:rPr sz="1200" dirty="0">
                <a:latin typeface="Cambria"/>
                <a:cs typeface="Cambria"/>
              </a:rPr>
              <a:t>posted</a:t>
            </a:r>
            <a:r>
              <a:rPr sz="1200" spc="30" dirty="0">
                <a:latin typeface="Cambria"/>
                <a:cs typeface="Cambria"/>
              </a:rPr>
              <a:t> </a:t>
            </a:r>
            <a:r>
              <a:rPr sz="1200" dirty="0">
                <a:latin typeface="Cambria"/>
                <a:cs typeface="Cambria"/>
              </a:rPr>
              <a:t>on</a:t>
            </a:r>
            <a:r>
              <a:rPr sz="1200" spc="30" dirty="0">
                <a:latin typeface="Cambria"/>
                <a:cs typeface="Cambria"/>
              </a:rPr>
              <a:t> </a:t>
            </a:r>
            <a:r>
              <a:rPr sz="1200" dirty="0">
                <a:latin typeface="Cambria"/>
                <a:cs typeface="Cambria"/>
              </a:rPr>
              <a:t>Canvas</a:t>
            </a:r>
            <a:r>
              <a:rPr sz="1200" spc="35" dirty="0">
                <a:latin typeface="Cambria"/>
                <a:cs typeface="Cambria"/>
              </a:rPr>
              <a:t> </a:t>
            </a:r>
            <a:r>
              <a:rPr sz="1200" dirty="0">
                <a:latin typeface="Cambria"/>
                <a:cs typeface="Cambria"/>
              </a:rPr>
              <a:t>+</a:t>
            </a:r>
            <a:r>
              <a:rPr sz="1200" spc="30" dirty="0">
                <a:latin typeface="Cambria"/>
                <a:cs typeface="Cambria"/>
              </a:rPr>
              <a:t> </a:t>
            </a:r>
            <a:r>
              <a:rPr sz="1200" dirty="0">
                <a:latin typeface="Cambria"/>
                <a:cs typeface="Cambria"/>
              </a:rPr>
              <a:t>online</a:t>
            </a:r>
            <a:r>
              <a:rPr sz="1200" spc="30" dirty="0">
                <a:latin typeface="Cambria"/>
                <a:cs typeface="Cambria"/>
              </a:rPr>
              <a:t> </a:t>
            </a:r>
            <a:r>
              <a:rPr sz="1200" dirty="0">
                <a:latin typeface="Cambria"/>
                <a:cs typeface="Cambria"/>
              </a:rPr>
              <a:t>Internet</a:t>
            </a:r>
            <a:r>
              <a:rPr sz="1200" spc="35" dirty="0">
                <a:latin typeface="Cambria"/>
                <a:cs typeface="Cambria"/>
              </a:rPr>
              <a:t> </a:t>
            </a:r>
            <a:r>
              <a:rPr sz="1200" spc="-10" dirty="0">
                <a:latin typeface="Cambria"/>
                <a:cs typeface="Cambria"/>
              </a:rPr>
              <a:t>resources…</a:t>
            </a:r>
            <a:endParaRPr sz="1200" dirty="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329076" y="581883"/>
            <a:ext cx="563775" cy="1128457"/>
          </a:xfrm>
          <a:prstGeom prst="rect">
            <a:avLst/>
          </a:prstGeom>
        </p:spPr>
      </p:pic>
      <p:sp>
        <p:nvSpPr>
          <p:cNvPr id="4" name="object 4"/>
          <p:cNvSpPr txBox="1"/>
          <p:nvPr/>
        </p:nvSpPr>
        <p:spPr>
          <a:xfrm>
            <a:off x="730250" y="463550"/>
            <a:ext cx="3229610" cy="2663825"/>
          </a:xfrm>
          <a:prstGeom prst="rect">
            <a:avLst/>
          </a:prstGeom>
        </p:spPr>
        <p:txBody>
          <a:bodyPr vert="horz" wrap="square" lIns="0" tIns="17145" rIns="0" bIns="0" rtlCol="0">
            <a:spAutoFit/>
          </a:bodyPr>
          <a:lstStyle/>
          <a:p>
            <a:pPr marL="13335">
              <a:spcBef>
                <a:spcPts val="135"/>
              </a:spcBef>
            </a:pPr>
            <a:r>
              <a:rPr sz="1900" b="1" spc="-10" dirty="0">
                <a:latin typeface="Cambria"/>
                <a:cs typeface="Cambria"/>
              </a:rPr>
              <a:t>Content</a:t>
            </a:r>
            <a:endParaRPr sz="1900" dirty="0">
              <a:latin typeface="Cambria"/>
              <a:cs typeface="Cambria"/>
            </a:endParaRPr>
          </a:p>
          <a:p>
            <a:pPr marL="207010" indent="-194310">
              <a:spcBef>
                <a:spcPts val="1689"/>
              </a:spcBef>
              <a:buFont typeface="Arial"/>
              <a:buChar char="•"/>
              <a:tabLst>
                <a:tab pos="207010" algn="l"/>
              </a:tabLst>
            </a:pPr>
            <a:r>
              <a:rPr sz="1200" b="1" spc="-10" dirty="0">
                <a:latin typeface="Cambria"/>
                <a:cs typeface="Cambria"/>
              </a:rPr>
              <a:t>Topics</a:t>
            </a:r>
            <a:endParaRPr sz="1200" dirty="0">
              <a:latin typeface="Cambria"/>
              <a:cs typeface="Cambria"/>
            </a:endParaRPr>
          </a:p>
          <a:p>
            <a:pPr marL="401955" lvl="1" indent="-194945">
              <a:spcBef>
                <a:spcPts val="509"/>
              </a:spcBef>
              <a:buFont typeface="Arial"/>
              <a:buChar char="•"/>
              <a:tabLst>
                <a:tab pos="401955" algn="l"/>
              </a:tabLst>
            </a:pPr>
            <a:r>
              <a:rPr sz="1200" dirty="0">
                <a:latin typeface="Cambria"/>
                <a:cs typeface="Cambria"/>
              </a:rPr>
              <a:t>Introduction</a:t>
            </a:r>
            <a:r>
              <a:rPr sz="1200" spc="40" dirty="0">
                <a:latin typeface="Cambria"/>
                <a:cs typeface="Cambria"/>
              </a:rPr>
              <a:t> </a:t>
            </a:r>
            <a:r>
              <a:rPr sz="1200" dirty="0">
                <a:latin typeface="Cambria"/>
                <a:cs typeface="Cambria"/>
              </a:rPr>
              <a:t>to</a:t>
            </a:r>
            <a:r>
              <a:rPr sz="1200" spc="40" dirty="0">
                <a:latin typeface="Cambria"/>
                <a:cs typeface="Cambria"/>
              </a:rPr>
              <a:t> </a:t>
            </a:r>
            <a:r>
              <a:rPr sz="1200" dirty="0">
                <a:latin typeface="Cambria"/>
                <a:cs typeface="Cambria"/>
              </a:rPr>
              <a:t>Intelligent</a:t>
            </a:r>
            <a:r>
              <a:rPr sz="1200" spc="50" dirty="0">
                <a:latin typeface="Cambria"/>
                <a:cs typeface="Cambria"/>
              </a:rPr>
              <a:t> </a:t>
            </a:r>
            <a:r>
              <a:rPr sz="1200" spc="-10" dirty="0">
                <a:latin typeface="Cambria"/>
                <a:cs typeface="Cambria"/>
              </a:rPr>
              <a:t>Systems</a:t>
            </a:r>
            <a:endParaRPr sz="1200" dirty="0">
              <a:latin typeface="Cambria"/>
              <a:cs typeface="Cambria"/>
            </a:endParaRPr>
          </a:p>
          <a:p>
            <a:pPr marL="401955" lvl="1" indent="-194945">
              <a:spcBef>
                <a:spcPts val="500"/>
              </a:spcBef>
              <a:buFont typeface="Arial"/>
              <a:buChar char="•"/>
              <a:tabLst>
                <a:tab pos="401955" algn="l"/>
              </a:tabLst>
            </a:pPr>
            <a:r>
              <a:rPr sz="1200" dirty="0">
                <a:latin typeface="Cambria"/>
                <a:cs typeface="Cambria"/>
              </a:rPr>
              <a:t>Intelligent</a:t>
            </a:r>
            <a:r>
              <a:rPr sz="1200" spc="50" dirty="0">
                <a:latin typeface="Cambria"/>
                <a:cs typeface="Cambria"/>
              </a:rPr>
              <a:t> </a:t>
            </a:r>
            <a:r>
              <a:rPr sz="1200" dirty="0">
                <a:latin typeface="Cambria"/>
                <a:cs typeface="Cambria"/>
              </a:rPr>
              <a:t>agents</a:t>
            </a:r>
            <a:r>
              <a:rPr sz="1200" spc="50" dirty="0">
                <a:latin typeface="Cambria"/>
                <a:cs typeface="Cambria"/>
              </a:rPr>
              <a:t> </a:t>
            </a:r>
            <a:r>
              <a:rPr sz="1200" dirty="0">
                <a:latin typeface="Cambria"/>
                <a:cs typeface="Cambria"/>
              </a:rPr>
              <a:t>and</a:t>
            </a:r>
            <a:r>
              <a:rPr sz="1200" spc="50" dirty="0">
                <a:latin typeface="Cambria"/>
                <a:cs typeface="Cambria"/>
              </a:rPr>
              <a:t> </a:t>
            </a:r>
            <a:r>
              <a:rPr sz="1200" dirty="0">
                <a:latin typeface="Cambria"/>
                <a:cs typeface="Cambria"/>
              </a:rPr>
              <a:t>multi-agent</a:t>
            </a:r>
            <a:r>
              <a:rPr sz="1200" spc="50" dirty="0">
                <a:latin typeface="Cambria"/>
                <a:cs typeface="Cambria"/>
              </a:rPr>
              <a:t> </a:t>
            </a:r>
            <a:r>
              <a:rPr sz="1200" spc="-10" dirty="0">
                <a:latin typeface="Cambria"/>
                <a:cs typeface="Cambria"/>
              </a:rPr>
              <a:t>systems</a:t>
            </a:r>
            <a:endParaRPr sz="1200" dirty="0">
              <a:latin typeface="Cambria"/>
              <a:cs typeface="Cambria"/>
            </a:endParaRPr>
          </a:p>
          <a:p>
            <a:pPr marL="401955" lvl="1" indent="-194945">
              <a:spcBef>
                <a:spcPts val="430"/>
              </a:spcBef>
              <a:buFont typeface="Arial"/>
              <a:buChar char="•"/>
              <a:tabLst>
                <a:tab pos="401955" algn="l"/>
              </a:tabLst>
            </a:pPr>
            <a:r>
              <a:rPr sz="1200" dirty="0">
                <a:latin typeface="Cambria"/>
                <a:cs typeface="Cambria"/>
              </a:rPr>
              <a:t>Knowledge</a:t>
            </a:r>
            <a:r>
              <a:rPr sz="1200" spc="45" dirty="0">
                <a:latin typeface="Cambria"/>
                <a:cs typeface="Cambria"/>
              </a:rPr>
              <a:t> </a:t>
            </a:r>
            <a:r>
              <a:rPr sz="1200" dirty="0">
                <a:latin typeface="Cambria"/>
                <a:cs typeface="Cambria"/>
              </a:rPr>
              <a:t>representation</a:t>
            </a:r>
            <a:r>
              <a:rPr sz="1200" spc="45" dirty="0">
                <a:latin typeface="Cambria"/>
                <a:cs typeface="Cambria"/>
              </a:rPr>
              <a:t> </a:t>
            </a:r>
            <a:r>
              <a:rPr sz="1200" dirty="0">
                <a:latin typeface="Cambria"/>
                <a:cs typeface="Cambria"/>
              </a:rPr>
              <a:t>and</a:t>
            </a:r>
            <a:r>
              <a:rPr sz="1200" spc="50" dirty="0">
                <a:latin typeface="Cambria"/>
                <a:cs typeface="Cambria"/>
              </a:rPr>
              <a:t> </a:t>
            </a:r>
            <a:r>
              <a:rPr sz="1200" spc="-10" dirty="0">
                <a:latin typeface="Cambria"/>
                <a:cs typeface="Cambria"/>
              </a:rPr>
              <a:t>reasoning</a:t>
            </a:r>
            <a:endParaRPr sz="1200" dirty="0">
              <a:latin typeface="Cambria"/>
              <a:cs typeface="Cambria"/>
            </a:endParaRPr>
          </a:p>
          <a:p>
            <a:pPr marL="401955" lvl="1" indent="-194945">
              <a:spcBef>
                <a:spcPts val="500"/>
              </a:spcBef>
              <a:buFont typeface="Arial"/>
              <a:buChar char="•"/>
              <a:tabLst>
                <a:tab pos="401955" algn="l"/>
              </a:tabLst>
            </a:pPr>
            <a:r>
              <a:rPr sz="1200" dirty="0">
                <a:latin typeface="Cambria"/>
                <a:cs typeface="Cambria"/>
              </a:rPr>
              <a:t>Learning</a:t>
            </a:r>
            <a:r>
              <a:rPr sz="1200" spc="25" dirty="0">
                <a:latin typeface="Cambria"/>
                <a:cs typeface="Cambria"/>
              </a:rPr>
              <a:t> </a:t>
            </a:r>
            <a:r>
              <a:rPr sz="1200" dirty="0">
                <a:latin typeface="Cambria"/>
                <a:cs typeface="Cambria"/>
              </a:rPr>
              <a:t>and</a:t>
            </a:r>
            <a:r>
              <a:rPr sz="1200" spc="25" dirty="0">
                <a:latin typeface="Cambria"/>
                <a:cs typeface="Cambria"/>
              </a:rPr>
              <a:t> </a:t>
            </a:r>
            <a:r>
              <a:rPr sz="1200" spc="-10" dirty="0">
                <a:latin typeface="Cambria"/>
                <a:cs typeface="Cambria"/>
              </a:rPr>
              <a:t>adaptation</a:t>
            </a:r>
            <a:endParaRPr sz="1200" dirty="0">
              <a:latin typeface="Cambria"/>
              <a:cs typeface="Cambria"/>
            </a:endParaRPr>
          </a:p>
          <a:p>
            <a:pPr marL="401955" lvl="1" indent="-194945">
              <a:spcBef>
                <a:spcPts val="430"/>
              </a:spcBef>
              <a:buFont typeface="Arial"/>
              <a:buChar char="•"/>
              <a:tabLst>
                <a:tab pos="401955" algn="l"/>
              </a:tabLst>
            </a:pPr>
            <a:r>
              <a:rPr sz="1200" dirty="0">
                <a:latin typeface="Cambria"/>
                <a:cs typeface="Cambria"/>
              </a:rPr>
              <a:t>Neural</a:t>
            </a:r>
            <a:r>
              <a:rPr sz="1200" spc="25" dirty="0">
                <a:latin typeface="Cambria"/>
                <a:cs typeface="Cambria"/>
              </a:rPr>
              <a:t> </a:t>
            </a:r>
            <a:r>
              <a:rPr sz="1200" spc="-10" dirty="0">
                <a:latin typeface="Cambria"/>
                <a:cs typeface="Cambria"/>
              </a:rPr>
              <a:t>networks</a:t>
            </a:r>
            <a:endParaRPr sz="1200" dirty="0">
              <a:latin typeface="Cambria"/>
              <a:cs typeface="Cambria"/>
            </a:endParaRPr>
          </a:p>
          <a:p>
            <a:pPr marL="401955" lvl="1" indent="-194945">
              <a:spcBef>
                <a:spcPts val="500"/>
              </a:spcBef>
              <a:buFont typeface="Arial"/>
              <a:buChar char="•"/>
              <a:tabLst>
                <a:tab pos="401955" algn="l"/>
              </a:tabLst>
            </a:pPr>
            <a:r>
              <a:rPr sz="1200" dirty="0">
                <a:latin typeface="Cambria"/>
                <a:cs typeface="Cambria"/>
              </a:rPr>
              <a:t>Evolutionary</a:t>
            </a:r>
            <a:r>
              <a:rPr sz="1200" spc="50" dirty="0">
                <a:latin typeface="Cambria"/>
                <a:cs typeface="Cambria"/>
              </a:rPr>
              <a:t> </a:t>
            </a:r>
            <a:r>
              <a:rPr sz="1200" spc="-10" dirty="0">
                <a:latin typeface="Cambria"/>
                <a:cs typeface="Cambria"/>
              </a:rPr>
              <a:t>computing</a:t>
            </a:r>
            <a:endParaRPr sz="1200" dirty="0">
              <a:latin typeface="Cambria"/>
              <a:cs typeface="Cambria"/>
            </a:endParaRPr>
          </a:p>
          <a:p>
            <a:pPr marL="401955" lvl="1" indent="-194945">
              <a:spcBef>
                <a:spcPts val="434"/>
              </a:spcBef>
              <a:buFont typeface="Arial"/>
              <a:buChar char="•"/>
              <a:tabLst>
                <a:tab pos="401955" algn="l"/>
              </a:tabLst>
            </a:pPr>
            <a:r>
              <a:rPr sz="1200" dirty="0">
                <a:latin typeface="Cambria"/>
                <a:cs typeface="Cambria"/>
              </a:rPr>
              <a:t>Collective</a:t>
            </a:r>
            <a:r>
              <a:rPr sz="1200" spc="15" dirty="0">
                <a:latin typeface="Cambria"/>
                <a:cs typeface="Cambria"/>
              </a:rPr>
              <a:t> </a:t>
            </a:r>
            <a:r>
              <a:rPr sz="1200" spc="-10" dirty="0">
                <a:latin typeface="Cambria"/>
                <a:cs typeface="Cambria"/>
              </a:rPr>
              <a:t>intelligence</a:t>
            </a:r>
            <a:endParaRPr sz="1200" dirty="0">
              <a:latin typeface="Cambria"/>
              <a:cs typeface="Cambria"/>
            </a:endParaRPr>
          </a:p>
          <a:p>
            <a:pPr marL="401955" lvl="1" indent="-194945">
              <a:spcBef>
                <a:spcPts val="495"/>
              </a:spcBef>
              <a:buFont typeface="Arial"/>
              <a:buChar char="•"/>
              <a:tabLst>
                <a:tab pos="401955" algn="l"/>
              </a:tabLst>
            </a:pPr>
            <a:r>
              <a:rPr sz="1200" dirty="0">
                <a:latin typeface="Cambria"/>
                <a:cs typeface="Cambria"/>
              </a:rPr>
              <a:t>(Agent</a:t>
            </a:r>
            <a:r>
              <a:rPr sz="1200" spc="55" dirty="0">
                <a:latin typeface="Cambria"/>
                <a:cs typeface="Cambria"/>
              </a:rPr>
              <a:t> </a:t>
            </a:r>
            <a:r>
              <a:rPr sz="1200" dirty="0">
                <a:latin typeface="Cambria"/>
                <a:cs typeface="Cambria"/>
              </a:rPr>
              <a:t>methodologies</a:t>
            </a:r>
            <a:r>
              <a:rPr sz="1200" spc="55" dirty="0">
                <a:latin typeface="Cambria"/>
                <a:cs typeface="Cambria"/>
              </a:rPr>
              <a:t> </a:t>
            </a:r>
            <a:r>
              <a:rPr sz="1200" dirty="0">
                <a:latin typeface="Cambria"/>
                <a:cs typeface="Cambria"/>
              </a:rPr>
              <a:t>and</a:t>
            </a:r>
            <a:r>
              <a:rPr sz="1200" spc="50" dirty="0">
                <a:latin typeface="Cambria"/>
                <a:cs typeface="Cambria"/>
              </a:rPr>
              <a:t> </a:t>
            </a:r>
            <a:r>
              <a:rPr sz="1200" spc="-10" dirty="0">
                <a:latin typeface="Cambria"/>
                <a:cs typeface="Cambria"/>
              </a:rPr>
              <a:t>applications)</a:t>
            </a:r>
            <a:endParaRPr sz="1200" dirty="0">
              <a:latin typeface="Cambria"/>
              <a:cs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1650" y="463550"/>
            <a:ext cx="5052695" cy="3319178"/>
          </a:xfrm>
          <a:prstGeom prst="rect">
            <a:avLst/>
          </a:prstGeom>
        </p:spPr>
        <p:txBody>
          <a:bodyPr vert="horz" wrap="square" lIns="0" tIns="17145" rIns="0" bIns="0" rtlCol="0">
            <a:spAutoFit/>
          </a:bodyPr>
          <a:lstStyle/>
          <a:p>
            <a:pPr marL="111760">
              <a:spcBef>
                <a:spcPts val="135"/>
              </a:spcBef>
            </a:pPr>
            <a:r>
              <a:rPr sz="1900" b="1" spc="-10" dirty="0">
                <a:latin typeface="Cambria"/>
                <a:cs typeface="Cambria"/>
              </a:rPr>
              <a:t>Assessment</a:t>
            </a:r>
            <a:endParaRPr sz="1900" dirty="0">
              <a:latin typeface="Cambria"/>
              <a:cs typeface="Cambria"/>
            </a:endParaRPr>
          </a:p>
          <a:p>
            <a:pPr marL="207010" marR="5080" indent="-194945">
              <a:lnSpc>
                <a:spcPct val="108600"/>
              </a:lnSpc>
              <a:spcBef>
                <a:spcPts val="980"/>
              </a:spcBef>
              <a:buFont typeface="Arial"/>
              <a:buChar char="•"/>
              <a:tabLst>
                <a:tab pos="207010" algn="l"/>
              </a:tabLst>
            </a:pPr>
            <a:r>
              <a:rPr sz="1200" b="1" dirty="0">
                <a:latin typeface="Cambria"/>
                <a:cs typeface="Cambria"/>
              </a:rPr>
              <a:t>Project:</a:t>
            </a:r>
            <a:r>
              <a:rPr sz="1200" b="1" spc="270" dirty="0">
                <a:latin typeface="Cambria"/>
                <a:cs typeface="Cambria"/>
              </a:rPr>
              <a:t> </a:t>
            </a:r>
            <a:r>
              <a:rPr sz="1200" dirty="0">
                <a:latin typeface="Cambria"/>
                <a:cs typeface="Cambria"/>
              </a:rPr>
              <a:t>Design</a:t>
            </a:r>
            <a:r>
              <a:rPr sz="1200" spc="275" dirty="0">
                <a:latin typeface="Cambria"/>
                <a:cs typeface="Cambria"/>
              </a:rPr>
              <a:t> </a:t>
            </a:r>
            <a:r>
              <a:rPr sz="1200" dirty="0">
                <a:latin typeface="Cambria"/>
                <a:cs typeface="Cambria"/>
              </a:rPr>
              <a:t>and</a:t>
            </a:r>
            <a:r>
              <a:rPr sz="1200" spc="275" dirty="0">
                <a:latin typeface="Cambria"/>
                <a:cs typeface="Cambria"/>
              </a:rPr>
              <a:t> </a:t>
            </a:r>
            <a:r>
              <a:rPr sz="1200" dirty="0">
                <a:latin typeface="Cambria"/>
                <a:cs typeface="Cambria"/>
              </a:rPr>
              <a:t>implementation</a:t>
            </a:r>
            <a:r>
              <a:rPr sz="1200" spc="265" dirty="0">
                <a:latin typeface="Cambria"/>
                <a:cs typeface="Cambria"/>
              </a:rPr>
              <a:t> </a:t>
            </a:r>
            <a:r>
              <a:rPr sz="1200" dirty="0">
                <a:latin typeface="Cambria"/>
                <a:cs typeface="Cambria"/>
              </a:rPr>
              <a:t>of</a:t>
            </a:r>
            <a:r>
              <a:rPr sz="1200" spc="280" dirty="0">
                <a:latin typeface="Cambria"/>
                <a:cs typeface="Cambria"/>
              </a:rPr>
              <a:t> </a:t>
            </a:r>
            <a:r>
              <a:rPr sz="1200" dirty="0">
                <a:latin typeface="Cambria"/>
                <a:cs typeface="Cambria"/>
              </a:rPr>
              <a:t>a</a:t>
            </a:r>
            <a:r>
              <a:rPr sz="1200" spc="275" dirty="0">
                <a:latin typeface="Cambria"/>
                <a:cs typeface="Cambria"/>
              </a:rPr>
              <a:t> </a:t>
            </a:r>
            <a:r>
              <a:rPr sz="1200" dirty="0">
                <a:latin typeface="Cambria"/>
                <a:cs typeface="Cambria"/>
              </a:rPr>
              <a:t>simple</a:t>
            </a:r>
            <a:r>
              <a:rPr sz="1200" spc="275" dirty="0">
                <a:latin typeface="Cambria"/>
                <a:cs typeface="Cambria"/>
              </a:rPr>
              <a:t> </a:t>
            </a:r>
            <a:r>
              <a:rPr sz="1200" dirty="0">
                <a:latin typeface="Cambria"/>
                <a:cs typeface="Cambria"/>
              </a:rPr>
              <a:t>intelligent</a:t>
            </a:r>
            <a:r>
              <a:rPr sz="1200" spc="280" dirty="0">
                <a:latin typeface="Cambria"/>
                <a:cs typeface="Cambria"/>
              </a:rPr>
              <a:t> </a:t>
            </a:r>
            <a:r>
              <a:rPr sz="1200" dirty="0">
                <a:latin typeface="Cambria"/>
                <a:cs typeface="Cambria"/>
              </a:rPr>
              <a:t>system</a:t>
            </a:r>
            <a:r>
              <a:rPr sz="1200" spc="270" dirty="0">
                <a:latin typeface="Cambria"/>
                <a:cs typeface="Cambria"/>
              </a:rPr>
              <a:t> </a:t>
            </a:r>
            <a:r>
              <a:rPr sz="1200" spc="-25" dirty="0">
                <a:latin typeface="Cambria"/>
                <a:cs typeface="Cambria"/>
              </a:rPr>
              <a:t>to </a:t>
            </a:r>
            <a:r>
              <a:rPr sz="1200" dirty="0">
                <a:latin typeface="Cambria"/>
                <a:cs typeface="Cambria"/>
              </a:rPr>
              <a:t>solve</a:t>
            </a:r>
            <a:r>
              <a:rPr sz="1200" spc="15" dirty="0">
                <a:latin typeface="Cambria"/>
                <a:cs typeface="Cambria"/>
              </a:rPr>
              <a:t> </a:t>
            </a:r>
            <a:r>
              <a:rPr sz="1200" dirty="0">
                <a:latin typeface="Cambria"/>
                <a:cs typeface="Cambria"/>
              </a:rPr>
              <a:t>a</a:t>
            </a:r>
            <a:r>
              <a:rPr sz="1200" spc="15" dirty="0">
                <a:latin typeface="Cambria"/>
                <a:cs typeface="Cambria"/>
              </a:rPr>
              <a:t> </a:t>
            </a:r>
            <a:r>
              <a:rPr sz="1200" dirty="0">
                <a:latin typeface="Cambria"/>
                <a:cs typeface="Cambria"/>
              </a:rPr>
              <a:t>practical</a:t>
            </a:r>
            <a:r>
              <a:rPr sz="1200" spc="15" dirty="0">
                <a:latin typeface="Cambria"/>
                <a:cs typeface="Cambria"/>
              </a:rPr>
              <a:t> </a:t>
            </a:r>
            <a:r>
              <a:rPr sz="1200" spc="-10" dirty="0">
                <a:latin typeface="Cambria"/>
                <a:cs typeface="Cambria"/>
              </a:rPr>
              <a:t>problem</a:t>
            </a:r>
            <a:endParaRPr sz="1200" dirty="0">
              <a:latin typeface="Cambria"/>
              <a:cs typeface="Cambria"/>
            </a:endParaRPr>
          </a:p>
          <a:p>
            <a:pPr marL="401955" marR="148590" lvl="1" indent="-194945">
              <a:spcBef>
                <a:spcPts val="455"/>
              </a:spcBef>
              <a:buFont typeface="Arial"/>
              <a:buChar char="•"/>
              <a:tabLst>
                <a:tab pos="401955" algn="l"/>
              </a:tabLst>
            </a:pPr>
            <a:r>
              <a:rPr sz="1100" b="1" spc="-20" dirty="0">
                <a:latin typeface="Cambria"/>
                <a:cs typeface="Cambria"/>
              </a:rPr>
              <a:t>Agent-</a:t>
            </a:r>
            <a:r>
              <a:rPr sz="1100" b="1" spc="-10" dirty="0">
                <a:latin typeface="Cambria"/>
                <a:cs typeface="Cambria"/>
              </a:rPr>
              <a:t>based</a:t>
            </a:r>
            <a:r>
              <a:rPr sz="1100" b="1" spc="-25" dirty="0">
                <a:latin typeface="Cambria"/>
                <a:cs typeface="Cambria"/>
              </a:rPr>
              <a:t> </a:t>
            </a:r>
            <a:r>
              <a:rPr sz="1100" b="1" dirty="0">
                <a:latin typeface="Cambria"/>
                <a:cs typeface="Cambria"/>
              </a:rPr>
              <a:t>&amp;</a:t>
            </a:r>
            <a:r>
              <a:rPr sz="1100" b="1" spc="-15" dirty="0">
                <a:latin typeface="Cambria"/>
                <a:cs typeface="Cambria"/>
              </a:rPr>
              <a:t> </a:t>
            </a:r>
            <a:r>
              <a:rPr sz="1100" b="1" spc="-10" dirty="0">
                <a:latin typeface="Cambria"/>
                <a:cs typeface="Cambria"/>
              </a:rPr>
              <a:t>Optimization</a:t>
            </a:r>
            <a:r>
              <a:rPr sz="1100" b="1" spc="-25" dirty="0">
                <a:latin typeface="Cambria"/>
                <a:cs typeface="Cambria"/>
              </a:rPr>
              <a:t> </a:t>
            </a:r>
            <a:r>
              <a:rPr sz="1100" b="1" dirty="0">
                <a:latin typeface="Cambria"/>
                <a:cs typeface="Cambria"/>
              </a:rPr>
              <a:t>or</a:t>
            </a:r>
            <a:r>
              <a:rPr sz="1100" b="1" spc="-15" dirty="0">
                <a:latin typeface="Cambria"/>
                <a:cs typeface="Cambria"/>
              </a:rPr>
              <a:t> </a:t>
            </a:r>
            <a:r>
              <a:rPr sz="1100" b="1" spc="-10" dirty="0">
                <a:latin typeface="Cambria"/>
                <a:cs typeface="Cambria"/>
              </a:rPr>
              <a:t>Machine</a:t>
            </a:r>
            <a:r>
              <a:rPr sz="1100" b="1" spc="-20" dirty="0">
                <a:latin typeface="Cambria"/>
                <a:cs typeface="Cambria"/>
              </a:rPr>
              <a:t> </a:t>
            </a:r>
            <a:r>
              <a:rPr sz="1100" b="1" spc="-10" dirty="0">
                <a:latin typeface="Cambria"/>
                <a:cs typeface="Cambria"/>
              </a:rPr>
              <a:t>Learning system</a:t>
            </a:r>
            <a:r>
              <a:rPr lang="en-US" sz="1100" b="1" spc="-20" dirty="0">
                <a:latin typeface="Cambria"/>
                <a:cs typeface="Cambria"/>
              </a:rPr>
              <a:t>:</a:t>
            </a:r>
            <a:r>
              <a:rPr sz="1100" b="1" spc="-15" dirty="0">
                <a:latin typeface="Cambria"/>
                <a:cs typeface="Cambria"/>
              </a:rPr>
              <a:t> </a:t>
            </a:r>
            <a:r>
              <a:rPr sz="1100" dirty="0">
                <a:latin typeface="Cambria"/>
                <a:cs typeface="Cambria"/>
              </a:rPr>
              <a:t>built</a:t>
            </a:r>
            <a:r>
              <a:rPr sz="1100" spc="-20" dirty="0">
                <a:latin typeface="Cambria"/>
                <a:cs typeface="Cambria"/>
              </a:rPr>
              <a:t> </a:t>
            </a:r>
            <a:r>
              <a:rPr sz="1100" dirty="0">
                <a:latin typeface="Cambria"/>
                <a:cs typeface="Cambria"/>
              </a:rPr>
              <a:t>using</a:t>
            </a:r>
            <a:r>
              <a:rPr sz="1100" spc="-15" dirty="0">
                <a:latin typeface="Cambria"/>
                <a:cs typeface="Cambria"/>
              </a:rPr>
              <a:t> </a:t>
            </a:r>
            <a:r>
              <a:rPr sz="950" spc="-25" dirty="0">
                <a:latin typeface="Cambria"/>
                <a:cs typeface="Cambria"/>
              </a:rPr>
              <a:t>IS</a:t>
            </a:r>
            <a:r>
              <a:rPr sz="950" spc="-10" dirty="0">
                <a:latin typeface="Cambria"/>
                <a:cs typeface="Cambria"/>
              </a:rPr>
              <a:t> </a:t>
            </a:r>
            <a:r>
              <a:rPr sz="1100" spc="-10" dirty="0">
                <a:latin typeface="Cambria"/>
                <a:cs typeface="Cambria"/>
              </a:rPr>
              <a:t>principles/algorithms</a:t>
            </a:r>
            <a:endParaRPr sz="1100" dirty="0">
              <a:latin typeface="Cambria"/>
              <a:cs typeface="Cambria"/>
            </a:endParaRPr>
          </a:p>
          <a:p>
            <a:pPr marL="401955" lvl="1" indent="-194945">
              <a:spcBef>
                <a:spcPts val="450"/>
              </a:spcBef>
              <a:buFont typeface="Arial"/>
              <a:buChar char="•"/>
              <a:tabLst>
                <a:tab pos="401955" algn="l"/>
              </a:tabLst>
            </a:pPr>
            <a:r>
              <a:rPr sz="1100" b="1" spc="-25" dirty="0">
                <a:latin typeface="Cambria"/>
                <a:cs typeface="Cambria"/>
              </a:rPr>
              <a:t>Working</a:t>
            </a:r>
            <a:r>
              <a:rPr sz="1100" b="1" spc="-15" dirty="0">
                <a:latin typeface="Cambria"/>
                <a:cs typeface="Cambria"/>
              </a:rPr>
              <a:t> </a:t>
            </a:r>
            <a:r>
              <a:rPr sz="1100" b="1" spc="-10" dirty="0">
                <a:latin typeface="Cambria"/>
                <a:cs typeface="Cambria"/>
              </a:rPr>
              <a:t>software</a:t>
            </a:r>
            <a:r>
              <a:rPr sz="1100" b="1" spc="-15" dirty="0">
                <a:latin typeface="Cambria"/>
                <a:cs typeface="Cambria"/>
              </a:rPr>
              <a:t> </a:t>
            </a:r>
            <a:r>
              <a:rPr sz="1100" dirty="0">
                <a:latin typeface="Cambria"/>
                <a:cs typeface="Cambria"/>
              </a:rPr>
              <a:t>-</a:t>
            </a:r>
            <a:r>
              <a:rPr sz="1100" spc="-10" dirty="0">
                <a:latin typeface="Cambria"/>
                <a:cs typeface="Cambria"/>
              </a:rPr>
              <a:t> demonstration</a:t>
            </a:r>
            <a:endParaRPr sz="1100" dirty="0">
              <a:latin typeface="Cambria"/>
              <a:cs typeface="Cambria"/>
            </a:endParaRPr>
          </a:p>
          <a:p>
            <a:pPr marL="401955" marR="728345" lvl="1" indent="-194945">
              <a:lnSpc>
                <a:spcPts val="1290"/>
              </a:lnSpc>
              <a:spcBef>
                <a:spcPts val="439"/>
              </a:spcBef>
              <a:buFont typeface="Arial"/>
              <a:buChar char="•"/>
              <a:tabLst>
                <a:tab pos="401955" algn="l"/>
              </a:tabLst>
            </a:pPr>
            <a:r>
              <a:rPr sz="1100" b="1" dirty="0">
                <a:latin typeface="Cambria"/>
                <a:cs typeface="Cambria"/>
              </a:rPr>
              <a:t>Short</a:t>
            </a:r>
            <a:r>
              <a:rPr sz="1100" b="1" spc="-15" dirty="0">
                <a:latin typeface="Cambria"/>
                <a:cs typeface="Cambria"/>
              </a:rPr>
              <a:t> </a:t>
            </a:r>
            <a:r>
              <a:rPr sz="1100" b="1" spc="-10" dirty="0">
                <a:latin typeface="Cambria"/>
                <a:cs typeface="Cambria"/>
              </a:rPr>
              <a:t>project report </a:t>
            </a:r>
            <a:r>
              <a:rPr sz="1100" spc="-10" dirty="0">
                <a:latin typeface="Cambria"/>
                <a:cs typeface="Cambria"/>
              </a:rPr>
              <a:t>(summary </a:t>
            </a:r>
            <a:r>
              <a:rPr sz="1100" dirty="0">
                <a:latin typeface="Cambria"/>
                <a:cs typeface="Cambria"/>
              </a:rPr>
              <a:t>of</a:t>
            </a:r>
            <a:r>
              <a:rPr sz="1100" spc="-15" dirty="0">
                <a:latin typeface="Cambria"/>
                <a:cs typeface="Cambria"/>
              </a:rPr>
              <a:t> </a:t>
            </a:r>
            <a:r>
              <a:rPr sz="1100" spc="-10" dirty="0">
                <a:latin typeface="Cambria"/>
                <a:cs typeface="Cambria"/>
              </a:rPr>
              <a:t>work,</a:t>
            </a:r>
            <a:r>
              <a:rPr sz="1100" spc="-15" dirty="0">
                <a:latin typeface="Cambria"/>
                <a:cs typeface="Cambria"/>
              </a:rPr>
              <a:t> </a:t>
            </a:r>
            <a:r>
              <a:rPr sz="1100" spc="-20" dirty="0">
                <a:latin typeface="Cambria"/>
                <a:cs typeface="Cambria"/>
              </a:rPr>
              <a:t>architecture,</a:t>
            </a:r>
            <a:r>
              <a:rPr sz="1100" spc="-15" dirty="0">
                <a:latin typeface="Cambria"/>
                <a:cs typeface="Cambria"/>
              </a:rPr>
              <a:t> </a:t>
            </a:r>
            <a:r>
              <a:rPr sz="1100" spc="-10" dirty="0">
                <a:latin typeface="Cambria"/>
                <a:cs typeface="Cambria"/>
              </a:rPr>
              <a:t>interaction, algorithm/s,</a:t>
            </a:r>
            <a:r>
              <a:rPr sz="1100" spc="5" dirty="0">
                <a:latin typeface="Cambria"/>
                <a:cs typeface="Cambria"/>
              </a:rPr>
              <a:t> </a:t>
            </a:r>
            <a:r>
              <a:rPr sz="1100" spc="-10" dirty="0">
                <a:latin typeface="Cambria"/>
                <a:cs typeface="Cambria"/>
              </a:rPr>
              <a:t>result</a:t>
            </a:r>
            <a:r>
              <a:rPr sz="1100" spc="5" dirty="0">
                <a:latin typeface="Cambria"/>
                <a:cs typeface="Cambria"/>
              </a:rPr>
              <a:t> </a:t>
            </a:r>
            <a:r>
              <a:rPr sz="1100" spc="-10" dirty="0">
                <a:latin typeface="Cambria"/>
                <a:cs typeface="Cambria"/>
              </a:rPr>
              <a:t>analysis,</a:t>
            </a:r>
            <a:r>
              <a:rPr sz="1100" spc="5" dirty="0">
                <a:latin typeface="Cambria"/>
                <a:cs typeface="Cambria"/>
              </a:rPr>
              <a:t> </a:t>
            </a:r>
            <a:r>
              <a:rPr sz="1100" spc="-10" dirty="0">
                <a:latin typeface="Cambria"/>
                <a:cs typeface="Cambria"/>
              </a:rPr>
              <a:t>example)</a:t>
            </a:r>
            <a:endParaRPr sz="1100" dirty="0">
              <a:latin typeface="Cambria"/>
              <a:cs typeface="Cambria"/>
            </a:endParaRPr>
          </a:p>
          <a:p>
            <a:pPr marL="401955" lvl="1" indent="-194945">
              <a:spcBef>
                <a:spcPts val="385"/>
              </a:spcBef>
              <a:buFont typeface="Arial"/>
              <a:buChar char="•"/>
              <a:tabLst>
                <a:tab pos="401955" algn="l"/>
              </a:tabLst>
            </a:pPr>
            <a:r>
              <a:rPr sz="1100" b="1" spc="-10" dirty="0">
                <a:latin typeface="Cambria"/>
                <a:cs typeface="Cambria"/>
              </a:rPr>
              <a:t>Video</a:t>
            </a:r>
            <a:r>
              <a:rPr sz="1100" b="1" spc="-45" dirty="0">
                <a:latin typeface="Cambria"/>
                <a:cs typeface="Cambria"/>
              </a:rPr>
              <a:t> </a:t>
            </a:r>
            <a:r>
              <a:rPr sz="1100" b="1" dirty="0">
                <a:latin typeface="Cambria"/>
                <a:cs typeface="Cambria"/>
              </a:rPr>
              <a:t>if</a:t>
            </a:r>
            <a:r>
              <a:rPr sz="1100" b="1" spc="-30" dirty="0">
                <a:latin typeface="Cambria"/>
                <a:cs typeface="Cambria"/>
              </a:rPr>
              <a:t> </a:t>
            </a:r>
            <a:r>
              <a:rPr sz="1100" b="1" spc="-10" dirty="0">
                <a:latin typeface="Cambria"/>
                <a:cs typeface="Cambria"/>
              </a:rPr>
              <a:t>applicable</a:t>
            </a:r>
            <a:r>
              <a:rPr sz="1100" b="1" spc="-50" dirty="0">
                <a:latin typeface="Cambria"/>
                <a:cs typeface="Cambria"/>
              </a:rPr>
              <a:t> </a:t>
            </a:r>
            <a:r>
              <a:rPr sz="1100" dirty="0">
                <a:latin typeface="Cambria"/>
                <a:cs typeface="Cambria"/>
              </a:rPr>
              <a:t>(s/w</a:t>
            </a:r>
            <a:r>
              <a:rPr sz="1100" spc="-40" dirty="0">
                <a:latin typeface="Cambria"/>
                <a:cs typeface="Cambria"/>
              </a:rPr>
              <a:t> </a:t>
            </a:r>
            <a:r>
              <a:rPr sz="1100" spc="-20" dirty="0">
                <a:latin typeface="Cambria"/>
                <a:cs typeface="Cambria"/>
              </a:rPr>
              <a:t>demo)</a:t>
            </a:r>
            <a:endParaRPr sz="1100" dirty="0">
              <a:latin typeface="Cambria"/>
              <a:cs typeface="Cambria"/>
            </a:endParaRPr>
          </a:p>
          <a:p>
            <a:pPr marL="401955" lvl="1" indent="-194945">
              <a:spcBef>
                <a:spcPts val="415"/>
              </a:spcBef>
              <a:buFont typeface="Arial"/>
              <a:buChar char="•"/>
              <a:tabLst>
                <a:tab pos="401955" algn="l"/>
              </a:tabLst>
            </a:pPr>
            <a:r>
              <a:rPr sz="1100" b="1" spc="-10" dirty="0">
                <a:latin typeface="Cambria"/>
                <a:cs typeface="Cambria"/>
              </a:rPr>
              <a:t>Assignment Release: </a:t>
            </a:r>
            <a:r>
              <a:rPr sz="1100" dirty="0">
                <a:latin typeface="Cambria"/>
                <a:cs typeface="Cambria"/>
              </a:rPr>
              <a:t>on</a:t>
            </a:r>
            <a:r>
              <a:rPr sz="1100" spc="-20" dirty="0">
                <a:latin typeface="Cambria"/>
                <a:cs typeface="Cambria"/>
              </a:rPr>
              <a:t> </a:t>
            </a:r>
            <a:r>
              <a:rPr sz="1100" spc="-10" dirty="0">
                <a:latin typeface="Cambria"/>
                <a:cs typeface="Cambria"/>
              </a:rPr>
              <a:t>Canvas</a:t>
            </a:r>
            <a:endParaRPr sz="1100" dirty="0">
              <a:latin typeface="Cambria"/>
              <a:cs typeface="Cambria"/>
            </a:endParaRPr>
          </a:p>
          <a:p>
            <a:pPr marL="401955" lvl="1" indent="-194945">
              <a:spcBef>
                <a:spcPts val="370"/>
              </a:spcBef>
              <a:buFont typeface="Arial"/>
              <a:buChar char="•"/>
              <a:tabLst>
                <a:tab pos="401955" algn="l"/>
              </a:tabLst>
            </a:pPr>
            <a:r>
              <a:rPr sz="1100" b="1" spc="-10" dirty="0">
                <a:latin typeface="Cambria"/>
                <a:cs typeface="Cambria"/>
              </a:rPr>
              <a:t>Assignment</a:t>
            </a:r>
            <a:r>
              <a:rPr sz="1100" b="1" spc="-20" dirty="0">
                <a:latin typeface="Cambria"/>
                <a:cs typeface="Cambria"/>
              </a:rPr>
              <a:t> </a:t>
            </a:r>
            <a:r>
              <a:rPr sz="1100" b="1" spc="-10" dirty="0">
                <a:latin typeface="Cambria"/>
                <a:cs typeface="Cambria"/>
              </a:rPr>
              <a:t>Progress:</a:t>
            </a:r>
            <a:r>
              <a:rPr sz="1100" b="1" spc="-15" dirty="0">
                <a:latin typeface="Cambria"/>
                <a:cs typeface="Cambria"/>
              </a:rPr>
              <a:t> </a:t>
            </a:r>
            <a:r>
              <a:rPr sz="1100" dirty="0">
                <a:latin typeface="Cambria"/>
                <a:cs typeface="Cambria"/>
              </a:rPr>
              <a:t>will</a:t>
            </a:r>
            <a:r>
              <a:rPr sz="1100" spc="-15" dirty="0">
                <a:latin typeface="Cambria"/>
                <a:cs typeface="Cambria"/>
              </a:rPr>
              <a:t> </a:t>
            </a:r>
            <a:r>
              <a:rPr sz="1100" dirty="0">
                <a:latin typeface="Cambria"/>
                <a:cs typeface="Cambria"/>
              </a:rPr>
              <a:t>be</a:t>
            </a:r>
            <a:r>
              <a:rPr sz="1100" spc="-30" dirty="0">
                <a:latin typeface="Cambria"/>
                <a:cs typeface="Cambria"/>
              </a:rPr>
              <a:t> </a:t>
            </a:r>
            <a:r>
              <a:rPr sz="1100" spc="-10" dirty="0">
                <a:solidFill>
                  <a:srgbClr val="FF0000"/>
                </a:solidFill>
                <a:latin typeface="Cambria"/>
                <a:cs typeface="Cambria"/>
              </a:rPr>
              <a:t>checked</a:t>
            </a:r>
            <a:r>
              <a:rPr sz="1100" spc="-20" dirty="0">
                <a:solidFill>
                  <a:srgbClr val="FF0000"/>
                </a:solidFill>
                <a:latin typeface="Cambria"/>
                <a:cs typeface="Cambria"/>
              </a:rPr>
              <a:t> </a:t>
            </a:r>
            <a:r>
              <a:rPr sz="1100" dirty="0">
                <a:latin typeface="Cambria"/>
                <a:cs typeface="Cambria"/>
              </a:rPr>
              <a:t>by</a:t>
            </a:r>
            <a:r>
              <a:rPr sz="1100" spc="-15" dirty="0">
                <a:latin typeface="Cambria"/>
                <a:cs typeface="Cambria"/>
              </a:rPr>
              <a:t> </a:t>
            </a:r>
            <a:r>
              <a:rPr sz="1100" spc="-10" dirty="0">
                <a:latin typeface="Cambria"/>
                <a:cs typeface="Cambria"/>
              </a:rPr>
              <a:t>your</a:t>
            </a:r>
            <a:r>
              <a:rPr sz="1100" spc="-20" dirty="0">
                <a:latin typeface="Cambria"/>
                <a:cs typeface="Cambria"/>
              </a:rPr>
              <a:t> </a:t>
            </a:r>
            <a:r>
              <a:rPr sz="1100" spc="-10" dirty="0">
                <a:latin typeface="Cambria"/>
                <a:cs typeface="Cambria"/>
              </a:rPr>
              <a:t>tutor</a:t>
            </a:r>
            <a:r>
              <a:rPr sz="1100" spc="-25" dirty="0">
                <a:latin typeface="Cambria"/>
                <a:cs typeface="Cambria"/>
              </a:rPr>
              <a:t> </a:t>
            </a:r>
            <a:r>
              <a:rPr sz="1100" spc="-10" dirty="0">
                <a:solidFill>
                  <a:srgbClr val="FF0000"/>
                </a:solidFill>
                <a:latin typeface="Cambria"/>
                <a:cs typeface="Cambria"/>
              </a:rPr>
              <a:t>starting</a:t>
            </a:r>
            <a:r>
              <a:rPr sz="1100" spc="-20" dirty="0">
                <a:solidFill>
                  <a:srgbClr val="FF0000"/>
                </a:solidFill>
                <a:latin typeface="Cambria"/>
                <a:cs typeface="Cambria"/>
              </a:rPr>
              <a:t> </a:t>
            </a:r>
            <a:r>
              <a:rPr sz="1100" spc="-25" dirty="0">
                <a:solidFill>
                  <a:srgbClr val="FF0000"/>
                </a:solidFill>
                <a:latin typeface="Cambria"/>
                <a:cs typeface="Cambria"/>
              </a:rPr>
              <a:t>Week</a:t>
            </a:r>
            <a:r>
              <a:rPr sz="1100" spc="-20" dirty="0">
                <a:solidFill>
                  <a:srgbClr val="FF0000"/>
                </a:solidFill>
                <a:latin typeface="Cambria"/>
                <a:cs typeface="Cambria"/>
              </a:rPr>
              <a:t> </a:t>
            </a:r>
            <a:r>
              <a:rPr sz="1100" spc="-25" dirty="0">
                <a:solidFill>
                  <a:srgbClr val="FF0000"/>
                </a:solidFill>
                <a:latin typeface="Cambria"/>
                <a:cs typeface="Cambria"/>
              </a:rPr>
              <a:t>3</a:t>
            </a:r>
            <a:r>
              <a:rPr sz="1100" spc="-25" dirty="0">
                <a:latin typeface="Cambria"/>
                <a:cs typeface="Cambria"/>
              </a:rPr>
              <a:t>!</a:t>
            </a:r>
            <a:endParaRPr sz="1100" dirty="0">
              <a:latin typeface="Cambria"/>
              <a:cs typeface="Cambria"/>
            </a:endParaRPr>
          </a:p>
          <a:p>
            <a:pPr marL="658495" lvl="2" indent="-106680">
              <a:spcBef>
                <a:spcPts val="414"/>
              </a:spcBef>
              <a:buClr>
                <a:srgbClr val="FF0000"/>
              </a:buClr>
              <a:buFont typeface="Arial"/>
              <a:buChar char="•"/>
              <a:tabLst>
                <a:tab pos="658495" algn="l"/>
              </a:tabLst>
            </a:pPr>
            <a:r>
              <a:rPr sz="1100" b="1" dirty="0">
                <a:latin typeface="Cambria"/>
                <a:cs typeface="Cambria"/>
              </a:rPr>
              <a:t>If</a:t>
            </a:r>
            <a:r>
              <a:rPr sz="1100" b="1" spc="-20" dirty="0">
                <a:latin typeface="Cambria"/>
                <a:cs typeface="Cambria"/>
              </a:rPr>
              <a:t> you</a:t>
            </a:r>
            <a:r>
              <a:rPr sz="1100" b="1" spc="-30" dirty="0">
                <a:latin typeface="Cambria"/>
                <a:cs typeface="Cambria"/>
              </a:rPr>
              <a:t> </a:t>
            </a:r>
            <a:r>
              <a:rPr sz="1100" b="1" spc="-10" dirty="0">
                <a:latin typeface="Cambria"/>
                <a:cs typeface="Cambria"/>
              </a:rPr>
              <a:t>choose</a:t>
            </a:r>
            <a:r>
              <a:rPr sz="1100" b="1" spc="-25" dirty="0">
                <a:latin typeface="Cambria"/>
                <a:cs typeface="Cambria"/>
              </a:rPr>
              <a:t> </a:t>
            </a:r>
            <a:r>
              <a:rPr sz="1100" b="1" spc="-10" dirty="0">
                <a:solidFill>
                  <a:srgbClr val="FF0000"/>
                </a:solidFill>
                <a:latin typeface="Cambria"/>
                <a:cs typeface="Cambria"/>
              </a:rPr>
              <a:t>Option</a:t>
            </a:r>
            <a:r>
              <a:rPr sz="1100" b="1" spc="-25" dirty="0">
                <a:solidFill>
                  <a:srgbClr val="FF0000"/>
                </a:solidFill>
                <a:latin typeface="Cambria"/>
                <a:cs typeface="Cambria"/>
              </a:rPr>
              <a:t> </a:t>
            </a:r>
            <a:r>
              <a:rPr sz="1100" b="1" dirty="0">
                <a:solidFill>
                  <a:srgbClr val="FF0000"/>
                </a:solidFill>
                <a:latin typeface="Cambria"/>
                <a:cs typeface="Cambria"/>
              </a:rPr>
              <a:t>C</a:t>
            </a:r>
            <a:r>
              <a:rPr sz="1100" b="1" dirty="0">
                <a:latin typeface="Cambria"/>
                <a:cs typeface="Cambria"/>
              </a:rPr>
              <a:t>,</a:t>
            </a:r>
            <a:r>
              <a:rPr sz="1100" b="1" spc="-20" dirty="0">
                <a:latin typeface="Cambria"/>
                <a:cs typeface="Cambria"/>
              </a:rPr>
              <a:t> you</a:t>
            </a:r>
            <a:r>
              <a:rPr sz="1100" b="1" spc="-30" dirty="0">
                <a:latin typeface="Cambria"/>
                <a:cs typeface="Cambria"/>
              </a:rPr>
              <a:t> </a:t>
            </a:r>
            <a:r>
              <a:rPr sz="1100" b="1" dirty="0">
                <a:latin typeface="Cambria"/>
                <a:cs typeface="Cambria"/>
              </a:rPr>
              <a:t>will</a:t>
            </a:r>
            <a:r>
              <a:rPr sz="1100" b="1" spc="-20" dirty="0">
                <a:latin typeface="Cambria"/>
                <a:cs typeface="Cambria"/>
              </a:rPr>
              <a:t> </a:t>
            </a:r>
            <a:r>
              <a:rPr sz="1100" b="1" spc="-25" dirty="0">
                <a:latin typeface="Cambria"/>
                <a:cs typeface="Cambria"/>
              </a:rPr>
              <a:t>have </a:t>
            </a:r>
            <a:r>
              <a:rPr sz="1100" b="1" spc="-25" dirty="0">
                <a:solidFill>
                  <a:srgbClr val="FF0000"/>
                </a:solidFill>
                <a:latin typeface="Cambria"/>
                <a:cs typeface="Cambria"/>
              </a:rPr>
              <a:t>Weekly </a:t>
            </a:r>
            <a:r>
              <a:rPr sz="1100" b="1" spc="-20" dirty="0">
                <a:solidFill>
                  <a:srgbClr val="FF0000"/>
                </a:solidFill>
                <a:latin typeface="Cambria"/>
                <a:cs typeface="Cambria"/>
              </a:rPr>
              <a:t>Tasks </a:t>
            </a:r>
            <a:r>
              <a:rPr sz="1100" b="1" spc="-10" dirty="0">
                <a:solidFill>
                  <a:srgbClr val="FF0000"/>
                </a:solidFill>
                <a:latin typeface="Cambria"/>
                <a:cs typeface="Cambria"/>
              </a:rPr>
              <a:t>due</a:t>
            </a:r>
            <a:r>
              <a:rPr sz="1100" b="1" spc="-25" dirty="0">
                <a:solidFill>
                  <a:srgbClr val="FF0000"/>
                </a:solidFill>
                <a:latin typeface="Cambria"/>
                <a:cs typeface="Cambria"/>
              </a:rPr>
              <a:t> </a:t>
            </a:r>
            <a:r>
              <a:rPr sz="1100" b="1" dirty="0">
                <a:solidFill>
                  <a:srgbClr val="FF0000"/>
                </a:solidFill>
                <a:latin typeface="Cambria"/>
                <a:cs typeface="Cambria"/>
              </a:rPr>
              <a:t>in</a:t>
            </a:r>
            <a:r>
              <a:rPr sz="1100" b="1" spc="-30" dirty="0">
                <a:solidFill>
                  <a:srgbClr val="FF0000"/>
                </a:solidFill>
                <a:latin typeface="Cambria"/>
                <a:cs typeface="Cambria"/>
              </a:rPr>
              <a:t> </a:t>
            </a:r>
            <a:r>
              <a:rPr sz="1100" b="1" spc="-25" dirty="0">
                <a:solidFill>
                  <a:srgbClr val="FF0000"/>
                </a:solidFill>
                <a:latin typeface="Cambria"/>
                <a:cs typeface="Cambria"/>
              </a:rPr>
              <a:t>Week</a:t>
            </a:r>
            <a:r>
              <a:rPr sz="1100" b="1" spc="-20" dirty="0">
                <a:solidFill>
                  <a:srgbClr val="FF0000"/>
                </a:solidFill>
                <a:latin typeface="Cambria"/>
                <a:cs typeface="Cambria"/>
              </a:rPr>
              <a:t> </a:t>
            </a:r>
            <a:r>
              <a:rPr sz="1100" b="1" spc="-25" dirty="0">
                <a:solidFill>
                  <a:srgbClr val="FF0000"/>
                </a:solidFill>
                <a:latin typeface="Cambria"/>
                <a:cs typeface="Cambria"/>
              </a:rPr>
              <a:t>3!</a:t>
            </a:r>
            <a:endParaRPr sz="1100" dirty="0">
              <a:latin typeface="Cambria"/>
              <a:cs typeface="Cambria"/>
            </a:endParaRPr>
          </a:p>
          <a:p>
            <a:pPr lvl="2">
              <a:spcBef>
                <a:spcPts val="275"/>
              </a:spcBef>
              <a:buClr>
                <a:srgbClr val="FF0000"/>
              </a:buClr>
              <a:buFont typeface="Arial"/>
              <a:buChar char="•"/>
            </a:pPr>
            <a:endParaRPr sz="1100" dirty="0">
              <a:latin typeface="Cambria"/>
              <a:cs typeface="Cambria"/>
            </a:endParaRPr>
          </a:p>
          <a:p>
            <a:pPr marL="207010" marR="5080" indent="-194945">
              <a:lnSpc>
                <a:spcPct val="103299"/>
              </a:lnSpc>
              <a:buFont typeface="Arial"/>
              <a:buChar char="•"/>
              <a:tabLst>
                <a:tab pos="207010" algn="l"/>
              </a:tabLst>
            </a:pPr>
            <a:r>
              <a:rPr sz="1200" b="1" dirty="0">
                <a:latin typeface="Cambria"/>
                <a:cs typeface="Cambria"/>
              </a:rPr>
              <a:t>Continuous</a:t>
            </a:r>
            <a:r>
              <a:rPr sz="1200" b="1" spc="285" dirty="0">
                <a:latin typeface="Cambria"/>
                <a:cs typeface="Cambria"/>
              </a:rPr>
              <a:t> </a:t>
            </a:r>
            <a:r>
              <a:rPr sz="1200" b="1" dirty="0">
                <a:latin typeface="Cambria"/>
                <a:cs typeface="Cambria"/>
              </a:rPr>
              <a:t>Oral</a:t>
            </a:r>
            <a:r>
              <a:rPr sz="1200" b="1" spc="280" dirty="0">
                <a:latin typeface="Cambria"/>
                <a:cs typeface="Cambria"/>
              </a:rPr>
              <a:t> </a:t>
            </a:r>
            <a:r>
              <a:rPr sz="1200" b="1" dirty="0">
                <a:latin typeface="Cambria"/>
                <a:cs typeface="Cambria"/>
              </a:rPr>
              <a:t>Defence:</a:t>
            </a:r>
            <a:r>
              <a:rPr sz="1200" b="1" spc="280" dirty="0">
                <a:latin typeface="Cambria"/>
                <a:cs typeface="Cambria"/>
              </a:rPr>
              <a:t> </a:t>
            </a:r>
            <a:r>
              <a:rPr sz="1200" dirty="0">
                <a:latin typeface="Cambria"/>
                <a:cs typeface="Cambria"/>
              </a:rPr>
              <a:t>Individual</a:t>
            </a:r>
            <a:r>
              <a:rPr sz="1200" spc="285" dirty="0">
                <a:latin typeface="Cambria"/>
                <a:cs typeface="Cambria"/>
              </a:rPr>
              <a:t> </a:t>
            </a:r>
            <a:r>
              <a:rPr sz="1200" dirty="0">
                <a:latin typeface="Cambria"/>
                <a:cs typeface="Cambria"/>
              </a:rPr>
              <a:t>Q&amp;A</a:t>
            </a:r>
            <a:r>
              <a:rPr sz="1200" spc="285" dirty="0">
                <a:latin typeface="Cambria"/>
                <a:cs typeface="Cambria"/>
              </a:rPr>
              <a:t> </a:t>
            </a:r>
            <a:r>
              <a:rPr sz="1200" dirty="0">
                <a:latin typeface="Cambria"/>
                <a:cs typeface="Cambria"/>
              </a:rPr>
              <a:t>(about</a:t>
            </a:r>
            <a:r>
              <a:rPr sz="1200" spc="285" dirty="0">
                <a:latin typeface="Cambria"/>
                <a:cs typeface="Cambria"/>
              </a:rPr>
              <a:t> </a:t>
            </a:r>
            <a:r>
              <a:rPr sz="1200" dirty="0">
                <a:latin typeface="Cambria"/>
                <a:cs typeface="Cambria"/>
              </a:rPr>
              <a:t>the</a:t>
            </a:r>
            <a:r>
              <a:rPr sz="1200" spc="285" dirty="0">
                <a:latin typeface="Cambria"/>
                <a:cs typeface="Cambria"/>
              </a:rPr>
              <a:t> </a:t>
            </a:r>
            <a:r>
              <a:rPr sz="1200" dirty="0">
                <a:latin typeface="Cambria"/>
                <a:cs typeface="Cambria"/>
              </a:rPr>
              <a:t>subject</a:t>
            </a:r>
            <a:r>
              <a:rPr sz="1200" spc="290" dirty="0">
                <a:latin typeface="Cambria"/>
                <a:cs typeface="Cambria"/>
              </a:rPr>
              <a:t> </a:t>
            </a:r>
            <a:r>
              <a:rPr sz="1200" spc="-10" dirty="0">
                <a:latin typeface="Cambria"/>
                <a:cs typeface="Cambria"/>
              </a:rPr>
              <a:t>matter </a:t>
            </a:r>
            <a:r>
              <a:rPr sz="1200" dirty="0">
                <a:latin typeface="Cambria"/>
                <a:cs typeface="Cambria"/>
              </a:rPr>
              <a:t>covered</a:t>
            </a:r>
            <a:r>
              <a:rPr sz="1200" spc="5" dirty="0">
                <a:latin typeface="Cambria"/>
                <a:cs typeface="Cambria"/>
              </a:rPr>
              <a:t> </a:t>
            </a:r>
            <a:r>
              <a:rPr sz="1200" dirty="0">
                <a:latin typeface="Cambria"/>
                <a:cs typeface="Cambria"/>
              </a:rPr>
              <a:t>in</a:t>
            </a:r>
            <a:r>
              <a:rPr sz="1200" spc="10" dirty="0">
                <a:latin typeface="Cambria"/>
                <a:cs typeface="Cambria"/>
              </a:rPr>
              <a:t> </a:t>
            </a:r>
            <a:r>
              <a:rPr sz="1200" dirty="0">
                <a:latin typeface="Cambria"/>
                <a:cs typeface="Cambria"/>
              </a:rPr>
              <a:t>the</a:t>
            </a:r>
            <a:r>
              <a:rPr sz="1200" spc="10" dirty="0">
                <a:latin typeface="Cambria"/>
                <a:cs typeface="Cambria"/>
              </a:rPr>
              <a:t> </a:t>
            </a:r>
            <a:r>
              <a:rPr sz="1200" spc="-10" dirty="0">
                <a:latin typeface="Cambria"/>
                <a:cs typeface="Cambria"/>
              </a:rPr>
              <a:t>lectures)</a:t>
            </a:r>
            <a:endParaRPr sz="1200" dirty="0">
              <a:latin typeface="Cambria"/>
              <a:cs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01650" y="463550"/>
            <a:ext cx="5053330" cy="1438275"/>
          </a:xfrm>
          <a:prstGeom prst="rect">
            <a:avLst/>
          </a:prstGeom>
        </p:spPr>
        <p:txBody>
          <a:bodyPr vert="horz" wrap="square" lIns="0" tIns="17145" rIns="0" bIns="0" rtlCol="0">
            <a:spAutoFit/>
          </a:bodyPr>
          <a:lstStyle/>
          <a:p>
            <a:pPr marL="13335">
              <a:lnSpc>
                <a:spcPts val="2270"/>
              </a:lnSpc>
              <a:spcBef>
                <a:spcPts val="135"/>
              </a:spcBef>
            </a:pPr>
            <a:r>
              <a:rPr sz="1900" b="1" dirty="0">
                <a:latin typeface="Cambria"/>
                <a:cs typeface="Cambria"/>
              </a:rPr>
              <a:t>Project</a:t>
            </a:r>
            <a:r>
              <a:rPr sz="1900" b="1" spc="-40" dirty="0">
                <a:latin typeface="Cambria"/>
                <a:cs typeface="Cambria"/>
              </a:rPr>
              <a:t> </a:t>
            </a:r>
            <a:r>
              <a:rPr sz="1900" b="1" dirty="0">
                <a:latin typeface="Cambria"/>
                <a:cs typeface="Cambria"/>
              </a:rPr>
              <a:t>Option</a:t>
            </a:r>
            <a:r>
              <a:rPr sz="1900" b="1" spc="-50" dirty="0">
                <a:latin typeface="Cambria"/>
                <a:cs typeface="Cambria"/>
              </a:rPr>
              <a:t> </a:t>
            </a:r>
            <a:r>
              <a:rPr sz="1900" b="1" spc="-25" dirty="0">
                <a:latin typeface="Cambria"/>
                <a:cs typeface="Cambria"/>
              </a:rPr>
              <a:t>A:</a:t>
            </a:r>
            <a:endParaRPr sz="1900" dirty="0">
              <a:latin typeface="Cambria"/>
              <a:cs typeface="Cambria"/>
            </a:endParaRPr>
          </a:p>
          <a:p>
            <a:pPr marL="13335">
              <a:lnSpc>
                <a:spcPts val="2270"/>
              </a:lnSpc>
            </a:pPr>
            <a:r>
              <a:rPr sz="1900" b="1" spc="-10" dirty="0">
                <a:latin typeface="Cambria"/>
                <a:cs typeface="Cambria"/>
              </a:rPr>
              <a:t>Delivery</a:t>
            </a:r>
            <a:r>
              <a:rPr sz="1900" b="1" spc="-70" dirty="0">
                <a:latin typeface="Cambria"/>
                <a:cs typeface="Cambria"/>
              </a:rPr>
              <a:t> </a:t>
            </a:r>
            <a:r>
              <a:rPr sz="1900" b="1" spc="-20" dirty="0">
                <a:latin typeface="Cambria"/>
                <a:cs typeface="Cambria"/>
              </a:rPr>
              <a:t>Vehicle</a:t>
            </a:r>
            <a:r>
              <a:rPr sz="1900" b="1" spc="-70" dirty="0">
                <a:latin typeface="Cambria"/>
                <a:cs typeface="Cambria"/>
              </a:rPr>
              <a:t> </a:t>
            </a:r>
            <a:r>
              <a:rPr sz="1900" b="1" dirty="0">
                <a:latin typeface="Cambria"/>
                <a:cs typeface="Cambria"/>
              </a:rPr>
              <a:t>Routing</a:t>
            </a:r>
            <a:r>
              <a:rPr sz="1900" b="1" spc="-65" dirty="0">
                <a:latin typeface="Cambria"/>
                <a:cs typeface="Cambria"/>
              </a:rPr>
              <a:t> </a:t>
            </a:r>
            <a:r>
              <a:rPr sz="1900" b="1" spc="-10" dirty="0">
                <a:latin typeface="Cambria"/>
                <a:cs typeface="Cambria"/>
              </a:rPr>
              <a:t>System</a:t>
            </a:r>
            <a:endParaRPr sz="1900" dirty="0">
              <a:latin typeface="Cambria"/>
              <a:cs typeface="Cambria"/>
            </a:endParaRPr>
          </a:p>
          <a:p>
            <a:pPr marL="207010" marR="5080" indent="-194945" algn="just">
              <a:lnSpc>
                <a:spcPct val="104700"/>
              </a:lnSpc>
              <a:spcBef>
                <a:spcPts val="505"/>
              </a:spcBef>
              <a:buFont typeface="Arial"/>
              <a:buChar char="•"/>
              <a:tabLst>
                <a:tab pos="207010" algn="l"/>
              </a:tabLst>
            </a:pPr>
            <a:r>
              <a:rPr sz="1200" b="1" dirty="0">
                <a:latin typeface="Cambria"/>
                <a:cs typeface="Cambria"/>
              </a:rPr>
              <a:t>Project:</a:t>
            </a:r>
            <a:r>
              <a:rPr sz="1200" b="1" spc="75" dirty="0">
                <a:latin typeface="Cambria"/>
                <a:cs typeface="Cambria"/>
              </a:rPr>
              <a:t> </a:t>
            </a:r>
            <a:r>
              <a:rPr sz="1200" dirty="0">
                <a:latin typeface="Cambria"/>
                <a:cs typeface="Cambria"/>
              </a:rPr>
              <a:t>Design</a:t>
            </a:r>
            <a:r>
              <a:rPr sz="1200" spc="80" dirty="0">
                <a:latin typeface="Cambria"/>
                <a:cs typeface="Cambria"/>
              </a:rPr>
              <a:t> </a:t>
            </a:r>
            <a:r>
              <a:rPr sz="1200" dirty="0">
                <a:latin typeface="Cambria"/>
                <a:cs typeface="Cambria"/>
              </a:rPr>
              <a:t>and</a:t>
            </a:r>
            <a:r>
              <a:rPr sz="1200" spc="85" dirty="0">
                <a:latin typeface="Cambria"/>
                <a:cs typeface="Cambria"/>
              </a:rPr>
              <a:t> </a:t>
            </a:r>
            <a:r>
              <a:rPr sz="1200" dirty="0">
                <a:latin typeface="Cambria"/>
                <a:cs typeface="Cambria"/>
              </a:rPr>
              <a:t>implementation</a:t>
            </a:r>
            <a:r>
              <a:rPr sz="1200" spc="70" dirty="0">
                <a:latin typeface="Cambria"/>
                <a:cs typeface="Cambria"/>
              </a:rPr>
              <a:t> </a:t>
            </a:r>
            <a:r>
              <a:rPr sz="1200" dirty="0">
                <a:latin typeface="Cambria"/>
                <a:cs typeface="Cambria"/>
              </a:rPr>
              <a:t>of</a:t>
            </a:r>
            <a:r>
              <a:rPr sz="1200" spc="85" dirty="0">
                <a:latin typeface="Cambria"/>
                <a:cs typeface="Cambria"/>
              </a:rPr>
              <a:t> </a:t>
            </a:r>
            <a:r>
              <a:rPr sz="1200" dirty="0">
                <a:latin typeface="Cambria"/>
                <a:cs typeface="Cambria"/>
              </a:rPr>
              <a:t>a</a:t>
            </a:r>
            <a:r>
              <a:rPr sz="1200" spc="80" dirty="0">
                <a:latin typeface="Cambria"/>
                <a:cs typeface="Cambria"/>
              </a:rPr>
              <a:t> </a:t>
            </a:r>
            <a:r>
              <a:rPr sz="1200" dirty="0">
                <a:latin typeface="Cambria"/>
                <a:cs typeface="Cambria"/>
              </a:rPr>
              <a:t>simple</a:t>
            </a:r>
            <a:r>
              <a:rPr sz="1200" spc="80" dirty="0">
                <a:latin typeface="Cambria"/>
                <a:cs typeface="Cambria"/>
              </a:rPr>
              <a:t> </a:t>
            </a:r>
            <a:r>
              <a:rPr sz="1200" u="sng" dirty="0">
                <a:uFill>
                  <a:solidFill>
                    <a:srgbClr val="000000"/>
                  </a:solidFill>
                </a:uFill>
                <a:latin typeface="Cambria"/>
                <a:cs typeface="Cambria"/>
              </a:rPr>
              <a:t>delivery</a:t>
            </a:r>
            <a:r>
              <a:rPr sz="1200" u="sng" spc="90" dirty="0">
                <a:uFill>
                  <a:solidFill>
                    <a:srgbClr val="000000"/>
                  </a:solidFill>
                </a:uFill>
                <a:latin typeface="Cambria"/>
                <a:cs typeface="Cambria"/>
              </a:rPr>
              <a:t> </a:t>
            </a:r>
            <a:r>
              <a:rPr sz="1200" u="sng" dirty="0">
                <a:uFill>
                  <a:solidFill>
                    <a:srgbClr val="000000"/>
                  </a:solidFill>
                </a:uFill>
                <a:latin typeface="Cambria"/>
                <a:cs typeface="Cambria"/>
              </a:rPr>
              <a:t>vehicle</a:t>
            </a:r>
            <a:r>
              <a:rPr sz="1200" u="sng" spc="75" dirty="0">
                <a:uFill>
                  <a:solidFill>
                    <a:srgbClr val="000000"/>
                  </a:solidFill>
                </a:uFill>
                <a:latin typeface="Cambria"/>
                <a:cs typeface="Cambria"/>
              </a:rPr>
              <a:t> </a:t>
            </a:r>
            <a:r>
              <a:rPr sz="1200" u="sng" spc="-10" dirty="0">
                <a:uFill>
                  <a:solidFill>
                    <a:srgbClr val="000000"/>
                  </a:solidFill>
                </a:uFill>
                <a:latin typeface="Cambria"/>
                <a:cs typeface="Cambria"/>
              </a:rPr>
              <a:t>routing</a:t>
            </a:r>
            <a:r>
              <a:rPr sz="1200" spc="-10" dirty="0">
                <a:latin typeface="Cambria"/>
                <a:cs typeface="Cambria"/>
              </a:rPr>
              <a:t> </a:t>
            </a:r>
            <a:r>
              <a:rPr sz="1200" u="sng" dirty="0">
                <a:uFill>
                  <a:solidFill>
                    <a:srgbClr val="000000"/>
                  </a:solidFill>
                </a:uFill>
                <a:latin typeface="Cambria"/>
                <a:cs typeface="Cambria"/>
              </a:rPr>
              <a:t>system</a:t>
            </a:r>
            <a:r>
              <a:rPr sz="1200" spc="30" dirty="0">
                <a:latin typeface="Cambria"/>
                <a:cs typeface="Cambria"/>
              </a:rPr>
              <a:t> </a:t>
            </a:r>
            <a:r>
              <a:rPr sz="1200" dirty="0">
                <a:latin typeface="Cambria"/>
                <a:cs typeface="Cambria"/>
              </a:rPr>
              <a:t>involving</a:t>
            </a:r>
            <a:r>
              <a:rPr sz="1200" spc="30" dirty="0">
                <a:latin typeface="Cambria"/>
                <a:cs typeface="Cambria"/>
              </a:rPr>
              <a:t> </a:t>
            </a:r>
            <a:r>
              <a:rPr sz="1200" dirty="0">
                <a:latin typeface="Cambria"/>
                <a:cs typeface="Cambria"/>
              </a:rPr>
              <a:t>delivery</a:t>
            </a:r>
            <a:r>
              <a:rPr sz="1200" spc="35" dirty="0">
                <a:latin typeface="Cambria"/>
                <a:cs typeface="Cambria"/>
              </a:rPr>
              <a:t> </a:t>
            </a:r>
            <a:r>
              <a:rPr sz="1200" dirty="0">
                <a:latin typeface="Cambria"/>
                <a:cs typeface="Cambria"/>
              </a:rPr>
              <a:t>agents</a:t>
            </a:r>
            <a:r>
              <a:rPr sz="1200" spc="30" dirty="0">
                <a:latin typeface="Cambria"/>
                <a:cs typeface="Cambria"/>
              </a:rPr>
              <a:t> </a:t>
            </a:r>
            <a:r>
              <a:rPr sz="1200" dirty="0">
                <a:latin typeface="Cambria"/>
                <a:cs typeface="Cambria"/>
              </a:rPr>
              <a:t>and</a:t>
            </a:r>
            <a:r>
              <a:rPr sz="1200" spc="30" dirty="0">
                <a:latin typeface="Cambria"/>
                <a:cs typeface="Cambria"/>
              </a:rPr>
              <a:t> </a:t>
            </a:r>
            <a:r>
              <a:rPr sz="1200" dirty="0">
                <a:latin typeface="Cambria"/>
                <a:cs typeface="Cambria"/>
              </a:rPr>
              <a:t>a</a:t>
            </a:r>
            <a:r>
              <a:rPr sz="1200" spc="25" dirty="0">
                <a:latin typeface="Cambria"/>
                <a:cs typeface="Cambria"/>
              </a:rPr>
              <a:t> </a:t>
            </a:r>
            <a:r>
              <a:rPr sz="1200" dirty="0">
                <a:latin typeface="Cambria"/>
                <a:cs typeface="Cambria"/>
              </a:rPr>
              <a:t>master</a:t>
            </a:r>
            <a:r>
              <a:rPr sz="1200" spc="35" dirty="0">
                <a:latin typeface="Cambria"/>
                <a:cs typeface="Cambria"/>
              </a:rPr>
              <a:t> </a:t>
            </a:r>
            <a:r>
              <a:rPr sz="1200" dirty="0">
                <a:latin typeface="Cambria"/>
                <a:cs typeface="Cambria"/>
              </a:rPr>
              <a:t>routing</a:t>
            </a:r>
            <a:r>
              <a:rPr sz="1200" spc="25" dirty="0">
                <a:latin typeface="Cambria"/>
                <a:cs typeface="Cambria"/>
              </a:rPr>
              <a:t> </a:t>
            </a:r>
            <a:r>
              <a:rPr sz="1200" dirty="0">
                <a:latin typeface="Cambria"/>
                <a:cs typeface="Cambria"/>
              </a:rPr>
              <a:t>agent</a:t>
            </a:r>
            <a:r>
              <a:rPr sz="1200" spc="30" dirty="0">
                <a:latin typeface="Cambria"/>
                <a:cs typeface="Cambria"/>
              </a:rPr>
              <a:t> </a:t>
            </a:r>
            <a:r>
              <a:rPr sz="1200" dirty="0">
                <a:latin typeface="Cambria"/>
                <a:cs typeface="Cambria"/>
              </a:rPr>
              <a:t>whose</a:t>
            </a:r>
            <a:r>
              <a:rPr sz="1200" spc="25" dirty="0">
                <a:latin typeface="Cambria"/>
                <a:cs typeface="Cambria"/>
              </a:rPr>
              <a:t> </a:t>
            </a:r>
            <a:r>
              <a:rPr sz="1200" dirty="0">
                <a:latin typeface="Cambria"/>
                <a:cs typeface="Cambria"/>
              </a:rPr>
              <a:t>job</a:t>
            </a:r>
            <a:r>
              <a:rPr sz="1200" spc="30" dirty="0">
                <a:latin typeface="Cambria"/>
                <a:cs typeface="Cambria"/>
              </a:rPr>
              <a:t> </a:t>
            </a:r>
            <a:r>
              <a:rPr sz="1200" spc="-25" dirty="0">
                <a:latin typeface="Cambria"/>
                <a:cs typeface="Cambria"/>
              </a:rPr>
              <a:t>is </a:t>
            </a:r>
            <a:r>
              <a:rPr sz="1200" dirty="0">
                <a:latin typeface="Cambria"/>
                <a:cs typeface="Cambria"/>
              </a:rPr>
              <a:t>to</a:t>
            </a:r>
            <a:r>
              <a:rPr sz="1200" spc="250" dirty="0">
                <a:latin typeface="Cambria"/>
                <a:cs typeface="Cambria"/>
              </a:rPr>
              <a:t> </a:t>
            </a:r>
            <a:r>
              <a:rPr sz="1200" dirty="0">
                <a:latin typeface="Cambria"/>
                <a:cs typeface="Cambria"/>
              </a:rPr>
              <a:t>find</a:t>
            </a:r>
            <a:r>
              <a:rPr sz="1200" spc="260" dirty="0">
                <a:latin typeface="Cambria"/>
                <a:cs typeface="Cambria"/>
              </a:rPr>
              <a:t> </a:t>
            </a:r>
            <a:r>
              <a:rPr sz="1200" dirty="0">
                <a:latin typeface="Cambria"/>
                <a:cs typeface="Cambria"/>
              </a:rPr>
              <a:t>the</a:t>
            </a:r>
            <a:r>
              <a:rPr sz="1200" spc="254" dirty="0">
                <a:latin typeface="Cambria"/>
                <a:cs typeface="Cambria"/>
              </a:rPr>
              <a:t> </a:t>
            </a:r>
            <a:r>
              <a:rPr sz="1200" dirty="0">
                <a:latin typeface="Cambria"/>
                <a:cs typeface="Cambria"/>
              </a:rPr>
              <a:t>optimal</a:t>
            </a:r>
            <a:r>
              <a:rPr sz="1200" spc="254" dirty="0">
                <a:latin typeface="Cambria"/>
                <a:cs typeface="Cambria"/>
              </a:rPr>
              <a:t> </a:t>
            </a:r>
            <a:r>
              <a:rPr sz="1200" dirty="0">
                <a:latin typeface="Cambria"/>
                <a:cs typeface="Cambria"/>
              </a:rPr>
              <a:t>routes</a:t>
            </a:r>
            <a:r>
              <a:rPr sz="1200" spc="254" dirty="0">
                <a:latin typeface="Cambria"/>
                <a:cs typeface="Cambria"/>
              </a:rPr>
              <a:t> </a:t>
            </a:r>
            <a:r>
              <a:rPr sz="1200" dirty="0">
                <a:latin typeface="Cambria"/>
                <a:cs typeface="Cambria"/>
              </a:rPr>
              <a:t>for</a:t>
            </a:r>
            <a:r>
              <a:rPr sz="1200" spc="260" dirty="0">
                <a:latin typeface="Cambria"/>
                <a:cs typeface="Cambria"/>
              </a:rPr>
              <a:t> </a:t>
            </a:r>
            <a:r>
              <a:rPr sz="1200" dirty="0">
                <a:latin typeface="Cambria"/>
                <a:cs typeface="Cambria"/>
              </a:rPr>
              <a:t>the</a:t>
            </a:r>
            <a:r>
              <a:rPr sz="1200" spc="254" dirty="0">
                <a:latin typeface="Cambria"/>
                <a:cs typeface="Cambria"/>
              </a:rPr>
              <a:t> </a:t>
            </a:r>
            <a:r>
              <a:rPr sz="1200" dirty="0">
                <a:latin typeface="Cambria"/>
                <a:cs typeface="Cambria"/>
              </a:rPr>
              <a:t>delivery</a:t>
            </a:r>
            <a:r>
              <a:rPr sz="1200" spc="260" dirty="0">
                <a:latin typeface="Cambria"/>
                <a:cs typeface="Cambria"/>
              </a:rPr>
              <a:t> </a:t>
            </a:r>
            <a:r>
              <a:rPr sz="1200" dirty="0">
                <a:latin typeface="Cambria"/>
                <a:cs typeface="Cambria"/>
              </a:rPr>
              <a:t>vehicle</a:t>
            </a:r>
            <a:r>
              <a:rPr sz="1200" spc="254" dirty="0">
                <a:latin typeface="Cambria"/>
                <a:cs typeface="Cambria"/>
              </a:rPr>
              <a:t> </a:t>
            </a:r>
            <a:r>
              <a:rPr sz="1200" dirty="0">
                <a:latin typeface="Cambria"/>
                <a:cs typeface="Cambria"/>
              </a:rPr>
              <a:t>agents</a:t>
            </a:r>
            <a:r>
              <a:rPr sz="1200" spc="265" dirty="0">
                <a:latin typeface="Cambria"/>
                <a:cs typeface="Cambria"/>
              </a:rPr>
              <a:t> </a:t>
            </a:r>
            <a:r>
              <a:rPr sz="1200" dirty="0">
                <a:latin typeface="Cambria"/>
                <a:cs typeface="Cambria"/>
              </a:rPr>
              <a:t>to</a:t>
            </a:r>
            <a:r>
              <a:rPr sz="1200" spc="250" dirty="0">
                <a:latin typeface="Cambria"/>
                <a:cs typeface="Cambria"/>
              </a:rPr>
              <a:t> </a:t>
            </a:r>
            <a:r>
              <a:rPr sz="1200" dirty="0">
                <a:latin typeface="Cambria"/>
                <a:cs typeface="Cambria"/>
              </a:rPr>
              <a:t>get</a:t>
            </a:r>
            <a:r>
              <a:rPr sz="1200" spc="260" dirty="0">
                <a:latin typeface="Cambria"/>
                <a:cs typeface="Cambria"/>
              </a:rPr>
              <a:t> </a:t>
            </a:r>
            <a:r>
              <a:rPr sz="1200" spc="-10" dirty="0">
                <a:latin typeface="Cambria"/>
                <a:cs typeface="Cambria"/>
              </a:rPr>
              <a:t>their </a:t>
            </a:r>
            <a:r>
              <a:rPr sz="1200" dirty="0">
                <a:latin typeface="Cambria"/>
                <a:cs typeface="Cambria"/>
              </a:rPr>
              <a:t>parcels</a:t>
            </a:r>
            <a:r>
              <a:rPr sz="1200" spc="25" dirty="0">
                <a:latin typeface="Cambria"/>
                <a:cs typeface="Cambria"/>
              </a:rPr>
              <a:t> </a:t>
            </a:r>
            <a:r>
              <a:rPr sz="1200" dirty="0">
                <a:latin typeface="Cambria"/>
                <a:cs typeface="Cambria"/>
              </a:rPr>
              <a:t>to</a:t>
            </a:r>
            <a:r>
              <a:rPr sz="1200" spc="20" dirty="0">
                <a:latin typeface="Cambria"/>
                <a:cs typeface="Cambria"/>
              </a:rPr>
              <a:t> </a:t>
            </a:r>
            <a:r>
              <a:rPr sz="1200" dirty="0">
                <a:latin typeface="Cambria"/>
                <a:cs typeface="Cambria"/>
              </a:rPr>
              <a:t>the</a:t>
            </a:r>
            <a:r>
              <a:rPr sz="1200" spc="25" dirty="0">
                <a:latin typeface="Cambria"/>
                <a:cs typeface="Cambria"/>
              </a:rPr>
              <a:t> </a:t>
            </a:r>
            <a:r>
              <a:rPr sz="1200" spc="-10" dirty="0">
                <a:latin typeface="Cambria"/>
                <a:cs typeface="Cambria"/>
              </a:rPr>
              <a:t>receivers.</a:t>
            </a:r>
            <a:endParaRPr sz="1200" dirty="0">
              <a:latin typeface="Cambria"/>
              <a:cs typeface="Cambria"/>
            </a:endParaRPr>
          </a:p>
        </p:txBody>
      </p:sp>
      <p:sp>
        <p:nvSpPr>
          <p:cNvPr id="5" name="object 5"/>
          <p:cNvSpPr txBox="1"/>
          <p:nvPr/>
        </p:nvSpPr>
        <p:spPr>
          <a:xfrm>
            <a:off x="4698040" y="2213425"/>
            <a:ext cx="1778635" cy="694421"/>
          </a:xfrm>
          <a:prstGeom prst="rect">
            <a:avLst/>
          </a:prstGeom>
          <a:solidFill>
            <a:srgbClr val="E2F0D9"/>
          </a:solidFill>
          <a:ln w="6495">
            <a:solidFill>
              <a:srgbClr val="C00000"/>
            </a:solidFill>
          </a:ln>
        </p:spPr>
        <p:txBody>
          <a:bodyPr vert="horz" wrap="square" lIns="0" tIns="24765" rIns="0" bIns="0" rtlCol="0">
            <a:spAutoFit/>
          </a:bodyPr>
          <a:lstStyle/>
          <a:p>
            <a:pPr marL="256540" indent="-194310">
              <a:spcBef>
                <a:spcPts val="195"/>
              </a:spcBef>
              <a:buFont typeface="Arial"/>
              <a:buChar char="•"/>
              <a:tabLst>
                <a:tab pos="256540" algn="l"/>
              </a:tabLst>
            </a:pPr>
            <a:r>
              <a:rPr sz="1100" spc="-10" dirty="0">
                <a:latin typeface="Cambria"/>
                <a:cs typeface="Cambria"/>
              </a:rPr>
              <a:t>Interaction</a:t>
            </a:r>
            <a:r>
              <a:rPr sz="1100" spc="-30" dirty="0">
                <a:latin typeface="Cambria"/>
                <a:cs typeface="Cambria"/>
              </a:rPr>
              <a:t> </a:t>
            </a:r>
            <a:r>
              <a:rPr sz="1100" spc="-10" dirty="0">
                <a:latin typeface="Cambria"/>
                <a:cs typeface="Cambria"/>
              </a:rPr>
              <a:t>Protocols</a:t>
            </a:r>
            <a:endParaRPr sz="1100" dirty="0">
              <a:latin typeface="Cambria"/>
              <a:cs typeface="Cambria"/>
            </a:endParaRPr>
          </a:p>
          <a:p>
            <a:pPr marL="256540" indent="-194310">
              <a:lnSpc>
                <a:spcPts val="1305"/>
              </a:lnSpc>
              <a:spcBef>
                <a:spcPts val="40"/>
              </a:spcBef>
              <a:buFont typeface="Arial"/>
              <a:buChar char="•"/>
              <a:tabLst>
                <a:tab pos="256540" algn="l"/>
              </a:tabLst>
            </a:pPr>
            <a:r>
              <a:rPr sz="1100" spc="-10" dirty="0">
                <a:latin typeface="Cambria"/>
                <a:cs typeface="Cambria"/>
              </a:rPr>
              <a:t>Search/optimization</a:t>
            </a:r>
            <a:endParaRPr sz="1100" dirty="0">
              <a:latin typeface="Cambria"/>
              <a:cs typeface="Cambria"/>
            </a:endParaRPr>
          </a:p>
          <a:p>
            <a:pPr marL="256540" indent="-194310">
              <a:lnSpc>
                <a:spcPts val="1295"/>
              </a:lnSpc>
              <a:buFont typeface="Arial"/>
              <a:buChar char="•"/>
              <a:tabLst>
                <a:tab pos="256540" algn="l"/>
              </a:tabLst>
            </a:pPr>
            <a:r>
              <a:rPr sz="1100" dirty="0">
                <a:latin typeface="Cambria"/>
                <a:cs typeface="Cambria"/>
              </a:rPr>
              <a:t>Dynamic</a:t>
            </a:r>
            <a:r>
              <a:rPr sz="1100" spc="-50" dirty="0">
                <a:latin typeface="Cambria"/>
                <a:cs typeface="Cambria"/>
              </a:rPr>
              <a:t> </a:t>
            </a:r>
            <a:r>
              <a:rPr sz="1100" spc="-10" dirty="0">
                <a:latin typeface="Cambria"/>
                <a:cs typeface="Cambria"/>
              </a:rPr>
              <a:t>adaptation</a:t>
            </a:r>
            <a:endParaRPr sz="1100" dirty="0">
              <a:latin typeface="Cambria"/>
              <a:cs typeface="Cambria"/>
            </a:endParaRPr>
          </a:p>
          <a:p>
            <a:pPr marL="256540" indent="-194310">
              <a:lnSpc>
                <a:spcPts val="1310"/>
              </a:lnSpc>
              <a:buFont typeface="Arial"/>
              <a:buChar char="•"/>
              <a:tabLst>
                <a:tab pos="256540" algn="l"/>
              </a:tabLst>
            </a:pPr>
            <a:r>
              <a:rPr sz="1100" spc="-10" dirty="0">
                <a:latin typeface="Cambria"/>
                <a:cs typeface="Cambria"/>
              </a:rPr>
              <a:t>Automated</a:t>
            </a:r>
            <a:r>
              <a:rPr sz="1100" spc="-40" dirty="0">
                <a:latin typeface="Cambria"/>
                <a:cs typeface="Cambria"/>
              </a:rPr>
              <a:t> </a:t>
            </a:r>
            <a:r>
              <a:rPr sz="1100" spc="-10" dirty="0">
                <a:latin typeface="Cambria"/>
                <a:cs typeface="Cambria"/>
              </a:rPr>
              <a:t>negotiation</a:t>
            </a:r>
            <a:endParaRPr sz="1100" dirty="0">
              <a:latin typeface="Cambria"/>
              <a:cs typeface="Cambria"/>
            </a:endParaRPr>
          </a:p>
        </p:txBody>
      </p:sp>
      <p:pic>
        <p:nvPicPr>
          <p:cNvPr id="6" name="object 6"/>
          <p:cNvPicPr/>
          <p:nvPr/>
        </p:nvPicPr>
        <p:blipFill>
          <a:blip r:embed="rId2" cstate="print"/>
          <a:stretch>
            <a:fillRect/>
          </a:stretch>
        </p:blipFill>
        <p:spPr>
          <a:xfrm>
            <a:off x="977057" y="2205755"/>
            <a:ext cx="3063670" cy="18325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5450" y="488200"/>
            <a:ext cx="4631690" cy="608330"/>
          </a:xfrm>
          <a:prstGeom prst="rect">
            <a:avLst/>
          </a:prstGeom>
        </p:spPr>
        <p:txBody>
          <a:bodyPr vert="horz" wrap="square" lIns="0" tIns="17145" rIns="0" bIns="0" rtlCol="0">
            <a:spAutoFit/>
          </a:bodyPr>
          <a:lstStyle/>
          <a:p>
            <a:pPr marL="12700">
              <a:lnSpc>
                <a:spcPts val="2270"/>
              </a:lnSpc>
              <a:spcBef>
                <a:spcPts val="135"/>
              </a:spcBef>
            </a:pPr>
            <a:r>
              <a:rPr sz="1900" b="1" dirty="0">
                <a:latin typeface="Cambria"/>
                <a:cs typeface="Cambria"/>
              </a:rPr>
              <a:t>Project</a:t>
            </a:r>
            <a:r>
              <a:rPr sz="1900" b="1" spc="-40" dirty="0">
                <a:latin typeface="Cambria"/>
                <a:cs typeface="Cambria"/>
              </a:rPr>
              <a:t> </a:t>
            </a:r>
            <a:r>
              <a:rPr sz="1900" b="1" dirty="0">
                <a:latin typeface="Cambria"/>
                <a:cs typeface="Cambria"/>
              </a:rPr>
              <a:t>Option</a:t>
            </a:r>
            <a:r>
              <a:rPr sz="1900" b="1" spc="-50" dirty="0">
                <a:latin typeface="Cambria"/>
                <a:cs typeface="Cambria"/>
              </a:rPr>
              <a:t> </a:t>
            </a:r>
            <a:r>
              <a:rPr sz="1900" b="1" spc="-25" dirty="0">
                <a:latin typeface="Cambria"/>
                <a:cs typeface="Cambria"/>
              </a:rPr>
              <a:t>B:</a:t>
            </a:r>
            <a:endParaRPr sz="1900" dirty="0">
              <a:latin typeface="Cambria"/>
              <a:cs typeface="Cambria"/>
            </a:endParaRPr>
          </a:p>
          <a:p>
            <a:pPr marL="12700">
              <a:lnSpc>
                <a:spcPts val="2270"/>
              </a:lnSpc>
            </a:pPr>
            <a:r>
              <a:rPr sz="1900" b="1" spc="-10" dirty="0">
                <a:latin typeface="Cambria"/>
                <a:cs typeface="Cambria"/>
              </a:rPr>
              <a:t>Handwritten</a:t>
            </a:r>
            <a:r>
              <a:rPr sz="1900" b="1" spc="-20" dirty="0">
                <a:latin typeface="Cambria"/>
                <a:cs typeface="Cambria"/>
              </a:rPr>
              <a:t> </a:t>
            </a:r>
            <a:r>
              <a:rPr sz="1900" b="1" dirty="0">
                <a:latin typeface="Cambria"/>
                <a:cs typeface="Cambria"/>
              </a:rPr>
              <a:t>Number</a:t>
            </a:r>
            <a:r>
              <a:rPr sz="1900" b="1" spc="-15" dirty="0">
                <a:latin typeface="Cambria"/>
                <a:cs typeface="Cambria"/>
              </a:rPr>
              <a:t> </a:t>
            </a:r>
            <a:r>
              <a:rPr sz="1900" b="1" spc="-10" dirty="0">
                <a:latin typeface="Cambria"/>
                <a:cs typeface="Cambria"/>
              </a:rPr>
              <a:t>Recognition</a:t>
            </a:r>
            <a:r>
              <a:rPr sz="1900" b="1" spc="-20" dirty="0">
                <a:latin typeface="Cambria"/>
                <a:cs typeface="Cambria"/>
              </a:rPr>
              <a:t> </a:t>
            </a:r>
            <a:r>
              <a:rPr sz="1900" b="1" spc="-10" dirty="0">
                <a:latin typeface="Cambria"/>
                <a:cs typeface="Cambria"/>
              </a:rPr>
              <a:t>System</a:t>
            </a:r>
            <a:endParaRPr sz="1900" dirty="0">
              <a:latin typeface="Cambria"/>
              <a:cs typeface="Cambria"/>
            </a:endParaRPr>
          </a:p>
        </p:txBody>
      </p:sp>
      <p:sp>
        <p:nvSpPr>
          <p:cNvPr id="3" name="object 3"/>
          <p:cNvSpPr txBox="1"/>
          <p:nvPr/>
        </p:nvSpPr>
        <p:spPr>
          <a:xfrm>
            <a:off x="577850" y="1142757"/>
            <a:ext cx="5053330" cy="399468"/>
          </a:xfrm>
          <a:prstGeom prst="rect">
            <a:avLst/>
          </a:prstGeom>
        </p:spPr>
        <p:txBody>
          <a:bodyPr vert="horz" wrap="square" lIns="0" tIns="12065" rIns="0" bIns="0" rtlCol="0">
            <a:spAutoFit/>
          </a:bodyPr>
          <a:lstStyle/>
          <a:p>
            <a:pPr marL="207010" marR="5080" indent="-194945">
              <a:lnSpc>
                <a:spcPct val="108600"/>
              </a:lnSpc>
              <a:spcBef>
                <a:spcPts val="95"/>
              </a:spcBef>
              <a:buFont typeface="Arial"/>
              <a:buChar char="•"/>
              <a:tabLst>
                <a:tab pos="207010" algn="l"/>
              </a:tabLst>
            </a:pPr>
            <a:r>
              <a:rPr sz="1200" b="1" dirty="0">
                <a:latin typeface="Cambria"/>
                <a:cs typeface="Cambria"/>
              </a:rPr>
              <a:t>Project:</a:t>
            </a:r>
            <a:r>
              <a:rPr sz="1200" b="1" spc="490" dirty="0">
                <a:latin typeface="Cambria"/>
                <a:cs typeface="Cambria"/>
              </a:rPr>
              <a:t> </a:t>
            </a:r>
            <a:r>
              <a:rPr sz="1200" dirty="0">
                <a:latin typeface="Cambria"/>
                <a:cs typeface="Cambria"/>
              </a:rPr>
              <a:t>Design</a:t>
            </a:r>
            <a:r>
              <a:rPr sz="1200" spc="495" dirty="0">
                <a:latin typeface="Cambria"/>
                <a:cs typeface="Cambria"/>
              </a:rPr>
              <a:t> </a:t>
            </a:r>
            <a:r>
              <a:rPr sz="1200" dirty="0">
                <a:latin typeface="Cambria"/>
                <a:cs typeface="Cambria"/>
              </a:rPr>
              <a:t>and</a:t>
            </a:r>
            <a:r>
              <a:rPr sz="1200" spc="495" dirty="0">
                <a:latin typeface="Cambria"/>
                <a:cs typeface="Cambria"/>
              </a:rPr>
              <a:t> </a:t>
            </a:r>
            <a:r>
              <a:rPr sz="1200" dirty="0">
                <a:latin typeface="Cambria"/>
                <a:cs typeface="Cambria"/>
              </a:rPr>
              <a:t>implementation</a:t>
            </a:r>
            <a:r>
              <a:rPr sz="1200" spc="495" dirty="0">
                <a:latin typeface="Cambria"/>
                <a:cs typeface="Cambria"/>
              </a:rPr>
              <a:t> </a:t>
            </a:r>
            <a:r>
              <a:rPr sz="1200" dirty="0">
                <a:latin typeface="Cambria"/>
                <a:cs typeface="Cambria"/>
              </a:rPr>
              <a:t>of</a:t>
            </a:r>
            <a:r>
              <a:rPr sz="1200" spc="120" dirty="0">
                <a:latin typeface="Cambria"/>
                <a:cs typeface="Cambria"/>
              </a:rPr>
              <a:t>  </a:t>
            </a:r>
            <a:r>
              <a:rPr sz="1200" dirty="0">
                <a:latin typeface="Cambria"/>
                <a:cs typeface="Cambria"/>
              </a:rPr>
              <a:t>a</a:t>
            </a:r>
            <a:r>
              <a:rPr sz="1200" spc="495" dirty="0">
                <a:latin typeface="Cambria"/>
                <a:cs typeface="Cambria"/>
              </a:rPr>
              <a:t> </a:t>
            </a:r>
            <a:r>
              <a:rPr sz="1200" dirty="0">
                <a:latin typeface="Cambria"/>
                <a:cs typeface="Cambria"/>
              </a:rPr>
              <a:t>simple</a:t>
            </a:r>
            <a:r>
              <a:rPr sz="1200" spc="490" dirty="0">
                <a:latin typeface="Cambria"/>
                <a:cs typeface="Cambria"/>
              </a:rPr>
              <a:t> </a:t>
            </a:r>
            <a:r>
              <a:rPr sz="1200" u="sng" dirty="0">
                <a:uFill>
                  <a:solidFill>
                    <a:srgbClr val="000000"/>
                  </a:solidFill>
                </a:uFill>
                <a:latin typeface="Cambria"/>
                <a:cs typeface="Cambria"/>
              </a:rPr>
              <a:t>machine</a:t>
            </a:r>
            <a:r>
              <a:rPr sz="1200" u="sng" spc="114" dirty="0">
                <a:uFill>
                  <a:solidFill>
                    <a:srgbClr val="000000"/>
                  </a:solidFill>
                </a:uFill>
                <a:latin typeface="Cambria"/>
                <a:cs typeface="Cambria"/>
              </a:rPr>
              <a:t>  </a:t>
            </a:r>
            <a:r>
              <a:rPr sz="1200" u="sng" spc="-10" dirty="0">
                <a:uFill>
                  <a:solidFill>
                    <a:srgbClr val="000000"/>
                  </a:solidFill>
                </a:uFill>
                <a:latin typeface="Cambria"/>
                <a:cs typeface="Cambria"/>
              </a:rPr>
              <a:t>learning</a:t>
            </a:r>
            <a:r>
              <a:rPr sz="1200" spc="-10" dirty="0">
                <a:latin typeface="Cambria"/>
                <a:cs typeface="Cambria"/>
              </a:rPr>
              <a:t> </a:t>
            </a:r>
            <a:r>
              <a:rPr sz="1200" u="sng" dirty="0">
                <a:uFill>
                  <a:solidFill>
                    <a:srgbClr val="000000"/>
                  </a:solidFill>
                </a:uFill>
                <a:latin typeface="Cambria"/>
                <a:cs typeface="Cambria"/>
              </a:rPr>
              <a:t>system</a:t>
            </a:r>
            <a:r>
              <a:rPr sz="1200" spc="35" dirty="0">
                <a:latin typeface="Cambria"/>
                <a:cs typeface="Cambria"/>
              </a:rPr>
              <a:t> </a:t>
            </a:r>
            <a:r>
              <a:rPr sz="1200" dirty="0">
                <a:latin typeface="Cambria"/>
                <a:cs typeface="Cambria"/>
              </a:rPr>
              <a:t>for</a:t>
            </a:r>
            <a:r>
              <a:rPr sz="1200" spc="40" dirty="0">
                <a:latin typeface="Cambria"/>
                <a:cs typeface="Cambria"/>
              </a:rPr>
              <a:t> </a:t>
            </a:r>
            <a:r>
              <a:rPr sz="1200" dirty="0">
                <a:latin typeface="Cambria"/>
                <a:cs typeface="Cambria"/>
              </a:rPr>
              <a:t>recognising</a:t>
            </a:r>
            <a:r>
              <a:rPr sz="1200" spc="40" dirty="0">
                <a:latin typeface="Cambria"/>
                <a:cs typeface="Cambria"/>
              </a:rPr>
              <a:t> </a:t>
            </a:r>
            <a:r>
              <a:rPr sz="1200" dirty="0">
                <a:latin typeface="Cambria"/>
                <a:cs typeface="Cambria"/>
              </a:rPr>
              <a:t>handwritten</a:t>
            </a:r>
            <a:r>
              <a:rPr sz="1200" spc="30" dirty="0">
                <a:latin typeface="Cambria"/>
                <a:cs typeface="Cambria"/>
              </a:rPr>
              <a:t> </a:t>
            </a:r>
            <a:r>
              <a:rPr sz="1200" dirty="0">
                <a:latin typeface="Cambria"/>
                <a:cs typeface="Cambria"/>
              </a:rPr>
              <a:t>characters</a:t>
            </a:r>
            <a:r>
              <a:rPr sz="1200" spc="40" dirty="0">
                <a:latin typeface="Cambria"/>
                <a:cs typeface="Cambria"/>
              </a:rPr>
              <a:t> </a:t>
            </a:r>
            <a:r>
              <a:rPr sz="1200" dirty="0">
                <a:latin typeface="Cambria"/>
                <a:cs typeface="Cambria"/>
              </a:rPr>
              <a:t>&amp;</a:t>
            </a:r>
            <a:r>
              <a:rPr sz="1200" spc="35" dirty="0">
                <a:latin typeface="Cambria"/>
                <a:cs typeface="Cambria"/>
              </a:rPr>
              <a:t> </a:t>
            </a:r>
            <a:r>
              <a:rPr sz="1200" spc="-10" dirty="0">
                <a:latin typeface="Cambria"/>
                <a:cs typeface="Cambria"/>
              </a:rPr>
              <a:t>symbols</a:t>
            </a:r>
            <a:endParaRPr sz="1200" dirty="0">
              <a:latin typeface="Cambria"/>
              <a:cs typeface="Cambria"/>
            </a:endParaRPr>
          </a:p>
        </p:txBody>
      </p:sp>
      <p:sp>
        <p:nvSpPr>
          <p:cNvPr id="4" name="object 4"/>
          <p:cNvSpPr txBox="1"/>
          <p:nvPr/>
        </p:nvSpPr>
        <p:spPr>
          <a:xfrm>
            <a:off x="5004605" y="2539631"/>
            <a:ext cx="1423035" cy="526426"/>
          </a:xfrm>
          <a:prstGeom prst="rect">
            <a:avLst/>
          </a:prstGeom>
          <a:solidFill>
            <a:srgbClr val="FFE699"/>
          </a:solidFill>
          <a:ln w="6495">
            <a:solidFill>
              <a:srgbClr val="C00000"/>
            </a:solidFill>
          </a:ln>
        </p:spPr>
        <p:txBody>
          <a:bodyPr vert="horz" wrap="square" lIns="0" tIns="23495" rIns="0" bIns="0" rtlCol="0">
            <a:spAutoFit/>
          </a:bodyPr>
          <a:lstStyle/>
          <a:p>
            <a:pPr marL="256540" indent="-194310">
              <a:spcBef>
                <a:spcPts val="185"/>
              </a:spcBef>
              <a:buFont typeface="Arial"/>
              <a:buChar char="•"/>
              <a:tabLst>
                <a:tab pos="256540" algn="l"/>
              </a:tabLst>
            </a:pPr>
            <a:r>
              <a:rPr sz="1100" spc="-10" dirty="0">
                <a:latin typeface="Cambria"/>
                <a:cs typeface="Cambria"/>
              </a:rPr>
              <a:t>Machine</a:t>
            </a:r>
            <a:r>
              <a:rPr sz="1100" spc="-20" dirty="0">
                <a:latin typeface="Cambria"/>
                <a:cs typeface="Cambria"/>
              </a:rPr>
              <a:t> </a:t>
            </a:r>
            <a:r>
              <a:rPr sz="1100" spc="-10" dirty="0">
                <a:latin typeface="Cambria"/>
                <a:cs typeface="Cambria"/>
              </a:rPr>
              <a:t>learning</a:t>
            </a:r>
            <a:endParaRPr sz="1100" dirty="0">
              <a:latin typeface="Cambria"/>
              <a:cs typeface="Cambria"/>
            </a:endParaRPr>
          </a:p>
          <a:p>
            <a:pPr marL="256540" indent="-194310">
              <a:lnSpc>
                <a:spcPts val="1305"/>
              </a:lnSpc>
              <a:spcBef>
                <a:spcPts val="45"/>
              </a:spcBef>
              <a:buFont typeface="Arial"/>
              <a:buChar char="•"/>
              <a:tabLst>
                <a:tab pos="256540" algn="l"/>
              </a:tabLst>
            </a:pPr>
            <a:r>
              <a:rPr sz="1100" dirty="0">
                <a:latin typeface="Cambria"/>
                <a:cs typeface="Cambria"/>
              </a:rPr>
              <a:t>Deep</a:t>
            </a:r>
            <a:r>
              <a:rPr sz="1100" spc="-60" dirty="0">
                <a:latin typeface="Cambria"/>
                <a:cs typeface="Cambria"/>
              </a:rPr>
              <a:t> </a:t>
            </a:r>
            <a:r>
              <a:rPr sz="1100" spc="-10" dirty="0">
                <a:latin typeface="Cambria"/>
                <a:cs typeface="Cambria"/>
              </a:rPr>
              <a:t>learning</a:t>
            </a:r>
            <a:endParaRPr sz="1100" dirty="0">
              <a:latin typeface="Cambria"/>
              <a:cs typeface="Cambria"/>
            </a:endParaRPr>
          </a:p>
          <a:p>
            <a:pPr marL="256540" indent="-194310">
              <a:lnSpc>
                <a:spcPts val="1305"/>
              </a:lnSpc>
              <a:buFont typeface="Arial"/>
              <a:buChar char="•"/>
              <a:tabLst>
                <a:tab pos="256540" algn="l"/>
              </a:tabLst>
            </a:pPr>
            <a:r>
              <a:rPr sz="1100" spc="-10" dirty="0">
                <a:latin typeface="Cambria"/>
                <a:cs typeface="Cambria"/>
              </a:rPr>
              <a:t>Computer</a:t>
            </a:r>
            <a:r>
              <a:rPr sz="1100" spc="-40" dirty="0">
                <a:latin typeface="Cambria"/>
                <a:cs typeface="Cambria"/>
              </a:rPr>
              <a:t> </a:t>
            </a:r>
            <a:r>
              <a:rPr sz="1100" spc="-10" dirty="0">
                <a:latin typeface="Cambria"/>
                <a:cs typeface="Cambria"/>
              </a:rPr>
              <a:t>vision</a:t>
            </a:r>
            <a:endParaRPr sz="1100" dirty="0">
              <a:latin typeface="Cambria"/>
              <a:cs typeface="Cambria"/>
            </a:endParaRPr>
          </a:p>
        </p:txBody>
      </p:sp>
      <p:pic>
        <p:nvPicPr>
          <p:cNvPr id="5" name="object 5"/>
          <p:cNvPicPr/>
          <p:nvPr/>
        </p:nvPicPr>
        <p:blipFill>
          <a:blip r:embed="rId2" cstate="print"/>
          <a:stretch>
            <a:fillRect/>
          </a:stretch>
        </p:blipFill>
        <p:spPr>
          <a:xfrm>
            <a:off x="1031221" y="3270835"/>
            <a:ext cx="3188525" cy="1114899"/>
          </a:xfrm>
          <a:prstGeom prst="rect">
            <a:avLst/>
          </a:prstGeom>
        </p:spPr>
      </p:pic>
      <p:pic>
        <p:nvPicPr>
          <p:cNvPr id="6" name="object 6"/>
          <p:cNvPicPr/>
          <p:nvPr/>
        </p:nvPicPr>
        <p:blipFill>
          <a:blip r:embed="rId3" cstate="print"/>
          <a:stretch>
            <a:fillRect/>
          </a:stretch>
        </p:blipFill>
        <p:spPr>
          <a:xfrm>
            <a:off x="1501101" y="2387388"/>
            <a:ext cx="2154516" cy="7190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501650" y="406400"/>
            <a:ext cx="5562600" cy="2250440"/>
          </a:xfrm>
          <a:prstGeom prst="rect">
            <a:avLst/>
          </a:prstGeom>
        </p:spPr>
        <p:txBody>
          <a:bodyPr vert="horz" wrap="square" lIns="0" tIns="17145" rIns="0" bIns="0" rtlCol="0">
            <a:spAutoFit/>
          </a:bodyPr>
          <a:lstStyle/>
          <a:p>
            <a:pPr marL="13335">
              <a:lnSpc>
                <a:spcPts val="2270"/>
              </a:lnSpc>
              <a:spcBef>
                <a:spcPts val="135"/>
              </a:spcBef>
            </a:pPr>
            <a:r>
              <a:rPr sz="1900" b="1" dirty="0">
                <a:latin typeface="Cambria"/>
                <a:cs typeface="Cambria"/>
              </a:rPr>
              <a:t>Project</a:t>
            </a:r>
            <a:r>
              <a:rPr sz="1900" b="1" spc="-40" dirty="0">
                <a:latin typeface="Cambria"/>
                <a:cs typeface="Cambria"/>
              </a:rPr>
              <a:t> </a:t>
            </a:r>
            <a:r>
              <a:rPr sz="1900" b="1" dirty="0">
                <a:latin typeface="Cambria"/>
                <a:cs typeface="Cambria"/>
              </a:rPr>
              <a:t>Option</a:t>
            </a:r>
            <a:r>
              <a:rPr sz="1900" b="1" spc="-50" dirty="0">
                <a:latin typeface="Cambria"/>
                <a:cs typeface="Cambria"/>
              </a:rPr>
              <a:t> </a:t>
            </a:r>
            <a:r>
              <a:rPr sz="1900" b="1" spc="-25" dirty="0">
                <a:latin typeface="Cambria"/>
                <a:cs typeface="Cambria"/>
              </a:rPr>
              <a:t>C:</a:t>
            </a:r>
            <a:endParaRPr sz="1900" dirty="0">
              <a:latin typeface="Cambria"/>
              <a:cs typeface="Cambria"/>
            </a:endParaRPr>
          </a:p>
          <a:p>
            <a:pPr marL="13335">
              <a:lnSpc>
                <a:spcPts val="2270"/>
              </a:lnSpc>
            </a:pPr>
            <a:r>
              <a:rPr sz="1900" b="1" dirty="0">
                <a:latin typeface="Cambria"/>
                <a:cs typeface="Cambria"/>
              </a:rPr>
              <a:t>Stock</a:t>
            </a:r>
            <a:r>
              <a:rPr sz="1900" b="1" spc="-45" dirty="0">
                <a:latin typeface="Cambria"/>
                <a:cs typeface="Cambria"/>
              </a:rPr>
              <a:t> </a:t>
            </a:r>
            <a:r>
              <a:rPr sz="1900" b="1" dirty="0">
                <a:latin typeface="Cambria"/>
                <a:cs typeface="Cambria"/>
              </a:rPr>
              <a:t>Price</a:t>
            </a:r>
            <a:r>
              <a:rPr sz="1900" b="1" spc="-40" dirty="0">
                <a:latin typeface="Cambria"/>
                <a:cs typeface="Cambria"/>
              </a:rPr>
              <a:t> </a:t>
            </a:r>
            <a:r>
              <a:rPr sz="1900" b="1" dirty="0">
                <a:latin typeface="Cambria"/>
                <a:cs typeface="Cambria"/>
              </a:rPr>
              <a:t>Prediction</a:t>
            </a:r>
            <a:r>
              <a:rPr sz="1900" b="1" spc="-50" dirty="0">
                <a:latin typeface="Cambria"/>
                <a:cs typeface="Cambria"/>
              </a:rPr>
              <a:t> </a:t>
            </a:r>
            <a:r>
              <a:rPr sz="1900" b="1" spc="-10" dirty="0">
                <a:latin typeface="Cambria"/>
                <a:cs typeface="Cambria"/>
              </a:rPr>
              <a:t>System</a:t>
            </a:r>
            <a:endParaRPr sz="1900" dirty="0">
              <a:latin typeface="Cambria"/>
              <a:cs typeface="Cambria"/>
            </a:endParaRPr>
          </a:p>
          <a:p>
            <a:pPr marL="207010" marR="5080" indent="-194945" algn="just">
              <a:lnSpc>
                <a:spcPct val="105400"/>
              </a:lnSpc>
              <a:spcBef>
                <a:spcPts val="495"/>
              </a:spcBef>
              <a:buFont typeface="Arial"/>
              <a:buChar char="•"/>
              <a:tabLst>
                <a:tab pos="207010" algn="l"/>
              </a:tabLst>
            </a:pPr>
            <a:r>
              <a:rPr sz="1200" b="1" dirty="0">
                <a:latin typeface="Cambria"/>
                <a:cs typeface="Cambria"/>
              </a:rPr>
              <a:t>Project:</a:t>
            </a:r>
            <a:r>
              <a:rPr sz="1200" b="1" spc="490" dirty="0">
                <a:latin typeface="Cambria"/>
                <a:cs typeface="Cambria"/>
              </a:rPr>
              <a:t> </a:t>
            </a:r>
            <a:r>
              <a:rPr sz="1200" dirty="0">
                <a:latin typeface="Cambria"/>
                <a:cs typeface="Cambria"/>
              </a:rPr>
              <a:t>Design</a:t>
            </a:r>
            <a:r>
              <a:rPr sz="1200" spc="495" dirty="0">
                <a:latin typeface="Cambria"/>
                <a:cs typeface="Cambria"/>
              </a:rPr>
              <a:t> </a:t>
            </a:r>
            <a:r>
              <a:rPr sz="1200" dirty="0">
                <a:latin typeface="Cambria"/>
                <a:cs typeface="Cambria"/>
              </a:rPr>
              <a:t>and</a:t>
            </a:r>
            <a:r>
              <a:rPr sz="1200" spc="495" dirty="0">
                <a:latin typeface="Cambria"/>
                <a:cs typeface="Cambria"/>
              </a:rPr>
              <a:t> </a:t>
            </a:r>
            <a:r>
              <a:rPr sz="1200" dirty="0">
                <a:latin typeface="Cambria"/>
                <a:cs typeface="Cambria"/>
              </a:rPr>
              <a:t>implementation</a:t>
            </a:r>
            <a:r>
              <a:rPr sz="1200" spc="495" dirty="0">
                <a:latin typeface="Cambria"/>
                <a:cs typeface="Cambria"/>
              </a:rPr>
              <a:t> </a:t>
            </a:r>
            <a:r>
              <a:rPr sz="1200" dirty="0">
                <a:latin typeface="Cambria"/>
                <a:cs typeface="Cambria"/>
              </a:rPr>
              <a:t>of</a:t>
            </a:r>
            <a:r>
              <a:rPr sz="1200" spc="120" dirty="0">
                <a:latin typeface="Cambria"/>
                <a:cs typeface="Cambria"/>
              </a:rPr>
              <a:t>  </a:t>
            </a:r>
            <a:r>
              <a:rPr sz="1200" dirty="0">
                <a:latin typeface="Cambria"/>
                <a:cs typeface="Cambria"/>
              </a:rPr>
              <a:t>a</a:t>
            </a:r>
            <a:r>
              <a:rPr sz="1200" spc="495" dirty="0">
                <a:latin typeface="Cambria"/>
                <a:cs typeface="Cambria"/>
              </a:rPr>
              <a:t> </a:t>
            </a:r>
            <a:r>
              <a:rPr sz="1200" dirty="0">
                <a:latin typeface="Cambria"/>
                <a:cs typeface="Cambria"/>
              </a:rPr>
              <a:t>simple</a:t>
            </a:r>
            <a:r>
              <a:rPr sz="1200" spc="490" dirty="0">
                <a:latin typeface="Cambria"/>
                <a:cs typeface="Cambria"/>
              </a:rPr>
              <a:t> </a:t>
            </a:r>
            <a:r>
              <a:rPr sz="1200" u="sng" dirty="0">
                <a:uFill>
                  <a:solidFill>
                    <a:srgbClr val="000000"/>
                  </a:solidFill>
                </a:uFill>
                <a:latin typeface="Cambria"/>
                <a:cs typeface="Cambria"/>
              </a:rPr>
              <a:t>machine</a:t>
            </a:r>
            <a:r>
              <a:rPr lang="en-US" sz="1200" u="sng" spc="114" dirty="0">
                <a:uFill>
                  <a:solidFill>
                    <a:srgbClr val="000000"/>
                  </a:solidFill>
                </a:uFill>
                <a:latin typeface="Cambria"/>
                <a:cs typeface="Cambria"/>
              </a:rPr>
              <a:t> </a:t>
            </a:r>
            <a:r>
              <a:rPr sz="1200" u="sng" spc="-10" dirty="0">
                <a:uFill>
                  <a:solidFill>
                    <a:srgbClr val="000000"/>
                  </a:solidFill>
                </a:uFill>
                <a:latin typeface="Cambria"/>
                <a:cs typeface="Cambria"/>
              </a:rPr>
              <a:t>learning</a:t>
            </a:r>
            <a:r>
              <a:rPr sz="1200" spc="-10" dirty="0">
                <a:latin typeface="Cambria"/>
                <a:cs typeface="Cambria"/>
              </a:rPr>
              <a:t> </a:t>
            </a:r>
            <a:r>
              <a:rPr sz="1200" u="sng" dirty="0">
                <a:uFill>
                  <a:solidFill>
                    <a:srgbClr val="000000"/>
                  </a:solidFill>
                </a:uFill>
                <a:latin typeface="Cambria"/>
                <a:cs typeface="Cambria"/>
              </a:rPr>
              <a:t>system</a:t>
            </a:r>
            <a:r>
              <a:rPr sz="1200" spc="40" dirty="0">
                <a:latin typeface="Cambria"/>
                <a:cs typeface="Cambria"/>
              </a:rPr>
              <a:t> </a:t>
            </a:r>
            <a:r>
              <a:rPr sz="1200" dirty="0">
                <a:latin typeface="Cambria"/>
                <a:cs typeface="Cambria"/>
              </a:rPr>
              <a:t>for</a:t>
            </a:r>
            <a:r>
              <a:rPr sz="1200" spc="45" dirty="0">
                <a:latin typeface="Cambria"/>
                <a:cs typeface="Cambria"/>
              </a:rPr>
              <a:t> </a:t>
            </a:r>
            <a:r>
              <a:rPr sz="1200" dirty="0">
                <a:latin typeface="Cambria"/>
                <a:cs typeface="Cambria"/>
              </a:rPr>
              <a:t>predicting</a:t>
            </a:r>
            <a:r>
              <a:rPr sz="1200" spc="40" dirty="0">
                <a:latin typeface="Cambria"/>
                <a:cs typeface="Cambria"/>
              </a:rPr>
              <a:t> </a:t>
            </a:r>
            <a:r>
              <a:rPr sz="1200" dirty="0">
                <a:latin typeface="Cambria"/>
                <a:cs typeface="Cambria"/>
              </a:rPr>
              <a:t>stock</a:t>
            </a:r>
            <a:r>
              <a:rPr sz="1200" spc="45" dirty="0">
                <a:latin typeface="Cambria"/>
                <a:cs typeface="Cambria"/>
              </a:rPr>
              <a:t> </a:t>
            </a:r>
            <a:r>
              <a:rPr sz="1200" dirty="0">
                <a:latin typeface="Cambria"/>
                <a:cs typeface="Cambria"/>
              </a:rPr>
              <a:t>price</a:t>
            </a:r>
            <a:r>
              <a:rPr sz="1200" spc="35" dirty="0">
                <a:latin typeface="Cambria"/>
                <a:cs typeface="Cambria"/>
              </a:rPr>
              <a:t> </a:t>
            </a:r>
            <a:r>
              <a:rPr sz="1200" dirty="0">
                <a:latin typeface="Cambria"/>
                <a:cs typeface="Cambria"/>
              </a:rPr>
              <a:t>of</a:t>
            </a:r>
            <a:r>
              <a:rPr sz="1200" spc="40" dirty="0">
                <a:latin typeface="Cambria"/>
                <a:cs typeface="Cambria"/>
              </a:rPr>
              <a:t> </a:t>
            </a:r>
            <a:r>
              <a:rPr sz="1200" dirty="0">
                <a:latin typeface="Cambria"/>
                <a:cs typeface="Cambria"/>
              </a:rPr>
              <a:t>companies</a:t>
            </a:r>
            <a:r>
              <a:rPr sz="1200" spc="40" dirty="0">
                <a:latin typeface="Cambria"/>
                <a:cs typeface="Cambria"/>
              </a:rPr>
              <a:t> </a:t>
            </a:r>
            <a:r>
              <a:rPr sz="1200" dirty="0">
                <a:latin typeface="Cambria"/>
                <a:cs typeface="Cambria"/>
              </a:rPr>
              <a:t>on</a:t>
            </a:r>
            <a:r>
              <a:rPr sz="1200" spc="35" dirty="0">
                <a:latin typeface="Cambria"/>
                <a:cs typeface="Cambria"/>
              </a:rPr>
              <a:t> </a:t>
            </a:r>
            <a:r>
              <a:rPr sz="1200" dirty="0">
                <a:latin typeface="Cambria"/>
                <a:cs typeface="Cambria"/>
              </a:rPr>
              <a:t>the</a:t>
            </a:r>
            <a:r>
              <a:rPr sz="1200" spc="35" dirty="0">
                <a:latin typeface="Cambria"/>
                <a:cs typeface="Cambria"/>
              </a:rPr>
              <a:t> </a:t>
            </a:r>
            <a:r>
              <a:rPr sz="1200" dirty="0">
                <a:latin typeface="Cambria"/>
                <a:cs typeface="Cambria"/>
              </a:rPr>
              <a:t>stock</a:t>
            </a:r>
            <a:r>
              <a:rPr sz="1200" spc="50" dirty="0">
                <a:latin typeface="Cambria"/>
                <a:cs typeface="Cambria"/>
              </a:rPr>
              <a:t> </a:t>
            </a:r>
            <a:r>
              <a:rPr sz="1200" dirty="0">
                <a:latin typeface="Cambria"/>
                <a:cs typeface="Cambria"/>
              </a:rPr>
              <a:t>market</a:t>
            </a:r>
            <a:r>
              <a:rPr sz="1200" spc="40" dirty="0">
                <a:latin typeface="Cambria"/>
                <a:cs typeface="Cambria"/>
              </a:rPr>
              <a:t> </a:t>
            </a:r>
            <a:r>
              <a:rPr sz="1200" spc="-10" dirty="0">
                <a:latin typeface="Cambria"/>
                <a:cs typeface="Cambria"/>
              </a:rPr>
              <a:t>using </a:t>
            </a:r>
            <a:r>
              <a:rPr sz="1200" dirty="0">
                <a:latin typeface="Cambria"/>
                <a:cs typeface="Cambria"/>
              </a:rPr>
              <a:t>real-world</a:t>
            </a:r>
            <a:r>
              <a:rPr sz="1200" spc="35" dirty="0">
                <a:latin typeface="Cambria"/>
                <a:cs typeface="Cambria"/>
              </a:rPr>
              <a:t> </a:t>
            </a:r>
            <a:r>
              <a:rPr sz="1200" spc="-10" dirty="0">
                <a:latin typeface="Cambria"/>
                <a:cs typeface="Cambria"/>
              </a:rPr>
              <a:t>datasets.</a:t>
            </a:r>
            <a:endParaRPr sz="1200" dirty="0">
              <a:latin typeface="Cambria"/>
              <a:cs typeface="Cambria"/>
            </a:endParaRPr>
          </a:p>
          <a:p>
            <a:pPr marL="207010" marR="5080" indent="-194945" algn="just">
              <a:lnSpc>
                <a:spcPct val="104299"/>
              </a:lnSpc>
              <a:spcBef>
                <a:spcPts val="375"/>
              </a:spcBef>
              <a:buFont typeface="Arial"/>
              <a:buChar char="•"/>
              <a:tabLst>
                <a:tab pos="207010" algn="l"/>
              </a:tabLst>
            </a:pPr>
            <a:r>
              <a:rPr sz="1200" dirty="0">
                <a:latin typeface="Cambria"/>
                <a:cs typeface="Cambria"/>
              </a:rPr>
              <a:t>You</a:t>
            </a:r>
            <a:r>
              <a:rPr sz="1200" spc="195" dirty="0">
                <a:latin typeface="Cambria"/>
                <a:cs typeface="Cambria"/>
              </a:rPr>
              <a:t> </a:t>
            </a:r>
            <a:r>
              <a:rPr sz="1200" dirty="0">
                <a:latin typeface="Cambria"/>
                <a:cs typeface="Cambria"/>
              </a:rPr>
              <a:t>are</a:t>
            </a:r>
            <a:r>
              <a:rPr sz="1200" spc="185" dirty="0">
                <a:latin typeface="Cambria"/>
                <a:cs typeface="Cambria"/>
              </a:rPr>
              <a:t> </a:t>
            </a:r>
            <a:r>
              <a:rPr sz="1200" dirty="0">
                <a:latin typeface="Cambria"/>
                <a:cs typeface="Cambria"/>
              </a:rPr>
              <a:t>going</a:t>
            </a:r>
            <a:r>
              <a:rPr sz="1200" spc="190" dirty="0">
                <a:latin typeface="Cambria"/>
                <a:cs typeface="Cambria"/>
              </a:rPr>
              <a:t> </a:t>
            </a:r>
            <a:r>
              <a:rPr sz="1200" dirty="0">
                <a:latin typeface="Cambria"/>
                <a:cs typeface="Cambria"/>
              </a:rPr>
              <a:t>to</a:t>
            </a:r>
            <a:r>
              <a:rPr sz="1200" spc="185" dirty="0">
                <a:latin typeface="Cambria"/>
                <a:cs typeface="Cambria"/>
              </a:rPr>
              <a:t> </a:t>
            </a:r>
            <a:r>
              <a:rPr sz="1200" dirty="0">
                <a:latin typeface="Cambria"/>
                <a:cs typeface="Cambria"/>
              </a:rPr>
              <a:t>work</a:t>
            </a:r>
            <a:r>
              <a:rPr sz="1200" spc="200" dirty="0">
                <a:latin typeface="Cambria"/>
                <a:cs typeface="Cambria"/>
              </a:rPr>
              <a:t> </a:t>
            </a:r>
            <a:r>
              <a:rPr sz="1200" dirty="0">
                <a:latin typeface="Cambria"/>
                <a:cs typeface="Cambria"/>
              </a:rPr>
              <a:t>in</a:t>
            </a:r>
            <a:r>
              <a:rPr sz="1200" spc="185" dirty="0">
                <a:latin typeface="Cambria"/>
                <a:cs typeface="Cambria"/>
              </a:rPr>
              <a:t> </a:t>
            </a:r>
            <a:r>
              <a:rPr sz="1200" dirty="0">
                <a:latin typeface="Cambria"/>
                <a:cs typeface="Cambria"/>
              </a:rPr>
              <a:t>a</a:t>
            </a:r>
            <a:r>
              <a:rPr sz="1200" spc="190" dirty="0">
                <a:latin typeface="Cambria"/>
                <a:cs typeface="Cambria"/>
              </a:rPr>
              <a:t> </a:t>
            </a:r>
            <a:r>
              <a:rPr sz="1200" dirty="0">
                <a:latin typeface="Cambria"/>
                <a:cs typeface="Cambria"/>
              </a:rPr>
              <a:t>project</a:t>
            </a:r>
            <a:r>
              <a:rPr sz="1200" spc="195" dirty="0">
                <a:latin typeface="Cambria"/>
                <a:cs typeface="Cambria"/>
              </a:rPr>
              <a:t> </a:t>
            </a:r>
            <a:r>
              <a:rPr sz="1200" dirty="0">
                <a:latin typeface="Cambria"/>
                <a:cs typeface="Cambria"/>
              </a:rPr>
              <a:t>led</a:t>
            </a:r>
            <a:r>
              <a:rPr sz="1200" spc="190" dirty="0">
                <a:latin typeface="Cambria"/>
                <a:cs typeface="Cambria"/>
              </a:rPr>
              <a:t> </a:t>
            </a:r>
            <a:r>
              <a:rPr sz="1200" dirty="0">
                <a:latin typeface="Cambria"/>
                <a:cs typeface="Cambria"/>
              </a:rPr>
              <a:t>by</a:t>
            </a:r>
            <a:r>
              <a:rPr sz="1200" spc="200" dirty="0">
                <a:latin typeface="Cambria"/>
                <a:cs typeface="Cambria"/>
              </a:rPr>
              <a:t> </a:t>
            </a:r>
            <a:r>
              <a:rPr sz="1200" dirty="0">
                <a:latin typeface="Cambria"/>
                <a:cs typeface="Cambria"/>
              </a:rPr>
              <a:t>a</a:t>
            </a:r>
            <a:r>
              <a:rPr sz="1200" spc="190" dirty="0">
                <a:latin typeface="Cambria"/>
                <a:cs typeface="Cambria"/>
              </a:rPr>
              <a:t> </a:t>
            </a:r>
            <a:r>
              <a:rPr sz="1200" dirty="0">
                <a:latin typeface="Cambria"/>
                <a:cs typeface="Cambria"/>
              </a:rPr>
              <a:t>teaching</a:t>
            </a:r>
            <a:r>
              <a:rPr sz="1200" spc="190" dirty="0">
                <a:latin typeface="Cambria"/>
                <a:cs typeface="Cambria"/>
              </a:rPr>
              <a:t> </a:t>
            </a:r>
            <a:r>
              <a:rPr sz="1200" dirty="0">
                <a:latin typeface="Cambria"/>
                <a:cs typeface="Cambria"/>
              </a:rPr>
              <a:t>staff.</a:t>
            </a:r>
            <a:r>
              <a:rPr sz="1200" spc="195" dirty="0">
                <a:latin typeface="Cambria"/>
                <a:cs typeface="Cambria"/>
              </a:rPr>
              <a:t> </a:t>
            </a:r>
            <a:r>
              <a:rPr sz="1200" dirty="0">
                <a:latin typeface="Cambria"/>
                <a:cs typeface="Cambria"/>
              </a:rPr>
              <a:t>The</a:t>
            </a:r>
            <a:r>
              <a:rPr sz="1200" spc="190" dirty="0">
                <a:latin typeface="Cambria"/>
                <a:cs typeface="Cambria"/>
              </a:rPr>
              <a:t> </a:t>
            </a:r>
            <a:r>
              <a:rPr sz="1200" spc="-10" dirty="0">
                <a:latin typeface="Cambria"/>
                <a:cs typeface="Cambria"/>
              </a:rPr>
              <a:t>project </a:t>
            </a:r>
            <a:r>
              <a:rPr sz="1200" dirty="0">
                <a:latin typeface="Cambria"/>
                <a:cs typeface="Cambria"/>
              </a:rPr>
              <a:t>leader</a:t>
            </a:r>
            <a:r>
              <a:rPr sz="1200" spc="245" dirty="0">
                <a:latin typeface="Cambria"/>
                <a:cs typeface="Cambria"/>
              </a:rPr>
              <a:t> </a:t>
            </a:r>
            <a:r>
              <a:rPr sz="1200" dirty="0">
                <a:latin typeface="Cambria"/>
                <a:cs typeface="Cambria"/>
              </a:rPr>
              <a:t>will</a:t>
            </a:r>
            <a:r>
              <a:rPr sz="1200" spc="245" dirty="0">
                <a:latin typeface="Cambria"/>
                <a:cs typeface="Cambria"/>
              </a:rPr>
              <a:t> </a:t>
            </a:r>
            <a:r>
              <a:rPr sz="1200" dirty="0">
                <a:latin typeface="Cambria"/>
                <a:cs typeface="Cambria"/>
              </a:rPr>
              <a:t>give</a:t>
            </a:r>
            <a:r>
              <a:rPr sz="1200" spc="240" dirty="0">
                <a:latin typeface="Cambria"/>
                <a:cs typeface="Cambria"/>
              </a:rPr>
              <a:t> </a:t>
            </a:r>
            <a:r>
              <a:rPr sz="1200" dirty="0">
                <a:latin typeface="Cambria"/>
                <a:cs typeface="Cambria"/>
              </a:rPr>
              <a:t>you</a:t>
            </a:r>
            <a:r>
              <a:rPr sz="1200" spc="250" dirty="0">
                <a:latin typeface="Cambria"/>
                <a:cs typeface="Cambria"/>
              </a:rPr>
              <a:t> </a:t>
            </a:r>
            <a:r>
              <a:rPr sz="1200" dirty="0">
                <a:latin typeface="Cambria"/>
                <a:cs typeface="Cambria"/>
              </a:rPr>
              <a:t>starting</a:t>
            </a:r>
            <a:r>
              <a:rPr sz="1200" spc="245" dirty="0">
                <a:latin typeface="Cambria"/>
                <a:cs typeface="Cambria"/>
              </a:rPr>
              <a:t> </a:t>
            </a:r>
            <a:r>
              <a:rPr sz="1200" dirty="0">
                <a:latin typeface="Cambria"/>
                <a:cs typeface="Cambria"/>
              </a:rPr>
              <a:t>code</a:t>
            </a:r>
            <a:r>
              <a:rPr sz="1200" spc="240" dirty="0">
                <a:latin typeface="Cambria"/>
                <a:cs typeface="Cambria"/>
              </a:rPr>
              <a:t> </a:t>
            </a:r>
            <a:r>
              <a:rPr sz="1200" dirty="0">
                <a:latin typeface="Cambria"/>
                <a:cs typeface="Cambria"/>
              </a:rPr>
              <a:t>for</a:t>
            </a:r>
            <a:r>
              <a:rPr sz="1200" spc="250" dirty="0">
                <a:latin typeface="Cambria"/>
                <a:cs typeface="Cambria"/>
              </a:rPr>
              <a:t> </a:t>
            </a:r>
            <a:r>
              <a:rPr sz="1200" dirty="0">
                <a:latin typeface="Cambria"/>
                <a:cs typeface="Cambria"/>
              </a:rPr>
              <a:t>this</a:t>
            </a:r>
            <a:r>
              <a:rPr sz="1200" spc="245" dirty="0">
                <a:latin typeface="Cambria"/>
                <a:cs typeface="Cambria"/>
              </a:rPr>
              <a:t> </a:t>
            </a:r>
            <a:r>
              <a:rPr sz="1200" dirty="0">
                <a:latin typeface="Cambria"/>
                <a:cs typeface="Cambria"/>
              </a:rPr>
              <a:t>project.</a:t>
            </a:r>
            <a:r>
              <a:rPr sz="1200" spc="250" dirty="0">
                <a:latin typeface="Cambria"/>
                <a:cs typeface="Cambria"/>
              </a:rPr>
              <a:t> </a:t>
            </a:r>
            <a:r>
              <a:rPr sz="1200" dirty="0">
                <a:latin typeface="Cambria"/>
                <a:cs typeface="Cambria"/>
              </a:rPr>
              <a:t>It</a:t>
            </a:r>
            <a:r>
              <a:rPr sz="1200" spc="250" dirty="0">
                <a:latin typeface="Cambria"/>
                <a:cs typeface="Cambria"/>
              </a:rPr>
              <a:t> </a:t>
            </a:r>
            <a:r>
              <a:rPr sz="1200" dirty="0">
                <a:latin typeface="Cambria"/>
                <a:cs typeface="Cambria"/>
              </a:rPr>
              <a:t>is</a:t>
            </a:r>
            <a:r>
              <a:rPr sz="1200" spc="245" dirty="0">
                <a:latin typeface="Cambria"/>
                <a:cs typeface="Cambria"/>
              </a:rPr>
              <a:t> </a:t>
            </a:r>
            <a:r>
              <a:rPr sz="1200" dirty="0">
                <a:latin typeface="Cambria"/>
                <a:cs typeface="Cambria"/>
              </a:rPr>
              <a:t>quite</a:t>
            </a:r>
            <a:r>
              <a:rPr sz="1200" spc="240" dirty="0">
                <a:latin typeface="Cambria"/>
                <a:cs typeface="Cambria"/>
              </a:rPr>
              <a:t> </a:t>
            </a:r>
            <a:r>
              <a:rPr sz="1200" dirty="0">
                <a:latin typeface="Cambria"/>
                <a:cs typeface="Cambria"/>
              </a:rPr>
              <a:t>poor</a:t>
            </a:r>
            <a:r>
              <a:rPr sz="1200" spc="250" dirty="0">
                <a:latin typeface="Cambria"/>
                <a:cs typeface="Cambria"/>
              </a:rPr>
              <a:t> </a:t>
            </a:r>
            <a:r>
              <a:rPr sz="1200" spc="-25" dirty="0">
                <a:latin typeface="Cambria"/>
                <a:cs typeface="Cambria"/>
              </a:rPr>
              <a:t>(in </a:t>
            </a:r>
            <a:r>
              <a:rPr sz="1200" dirty="0">
                <a:latin typeface="Cambria"/>
                <a:cs typeface="Cambria"/>
              </a:rPr>
              <a:t>terms</a:t>
            </a:r>
            <a:r>
              <a:rPr sz="1200" spc="85" dirty="0">
                <a:latin typeface="Cambria"/>
                <a:cs typeface="Cambria"/>
              </a:rPr>
              <a:t> </a:t>
            </a:r>
            <a:r>
              <a:rPr sz="1200" dirty="0">
                <a:latin typeface="Cambria"/>
                <a:cs typeface="Cambria"/>
              </a:rPr>
              <a:t>of</a:t>
            </a:r>
            <a:r>
              <a:rPr sz="1200" spc="85" dirty="0">
                <a:latin typeface="Cambria"/>
                <a:cs typeface="Cambria"/>
              </a:rPr>
              <a:t> </a:t>
            </a:r>
            <a:r>
              <a:rPr sz="1200" dirty="0">
                <a:latin typeface="Cambria"/>
                <a:cs typeface="Cambria"/>
              </a:rPr>
              <a:t>programming</a:t>
            </a:r>
            <a:r>
              <a:rPr sz="1200" spc="80" dirty="0">
                <a:latin typeface="Cambria"/>
                <a:cs typeface="Cambria"/>
              </a:rPr>
              <a:t> </a:t>
            </a:r>
            <a:r>
              <a:rPr sz="1200" dirty="0">
                <a:latin typeface="Cambria"/>
                <a:cs typeface="Cambria"/>
              </a:rPr>
              <a:t>and</a:t>
            </a:r>
            <a:r>
              <a:rPr sz="1200" spc="85" dirty="0">
                <a:latin typeface="Cambria"/>
                <a:cs typeface="Cambria"/>
              </a:rPr>
              <a:t> </a:t>
            </a:r>
            <a:r>
              <a:rPr sz="1200" dirty="0">
                <a:latin typeface="Cambria"/>
                <a:cs typeface="Cambria"/>
              </a:rPr>
              <a:t>performance).</a:t>
            </a:r>
            <a:r>
              <a:rPr sz="1200" spc="85" dirty="0">
                <a:latin typeface="Cambria"/>
                <a:cs typeface="Cambria"/>
              </a:rPr>
              <a:t> </a:t>
            </a:r>
            <a:r>
              <a:rPr sz="1200" dirty="0">
                <a:latin typeface="Cambria"/>
                <a:cs typeface="Cambria"/>
              </a:rPr>
              <a:t>We</a:t>
            </a:r>
            <a:r>
              <a:rPr sz="1200" spc="80" dirty="0">
                <a:latin typeface="Cambria"/>
                <a:cs typeface="Cambria"/>
              </a:rPr>
              <a:t> </a:t>
            </a:r>
            <a:r>
              <a:rPr sz="1200" dirty="0">
                <a:latin typeface="Cambria"/>
                <a:cs typeface="Cambria"/>
              </a:rPr>
              <a:t>will</a:t>
            </a:r>
            <a:r>
              <a:rPr sz="1200" spc="80" dirty="0">
                <a:latin typeface="Cambria"/>
                <a:cs typeface="Cambria"/>
              </a:rPr>
              <a:t> </a:t>
            </a:r>
            <a:r>
              <a:rPr sz="1200" dirty="0">
                <a:latin typeface="Cambria"/>
                <a:cs typeface="Cambria"/>
              </a:rPr>
              <a:t>give</a:t>
            </a:r>
            <a:r>
              <a:rPr sz="1200" spc="80" dirty="0">
                <a:latin typeface="Cambria"/>
                <a:cs typeface="Cambria"/>
              </a:rPr>
              <a:t> </a:t>
            </a:r>
            <a:r>
              <a:rPr sz="1200" dirty="0">
                <a:latin typeface="Cambria"/>
                <a:cs typeface="Cambria"/>
              </a:rPr>
              <a:t>you</a:t>
            </a:r>
            <a:r>
              <a:rPr sz="1200" spc="90" dirty="0">
                <a:latin typeface="Cambria"/>
                <a:cs typeface="Cambria"/>
              </a:rPr>
              <a:t> </a:t>
            </a:r>
            <a:r>
              <a:rPr sz="1200" dirty="0">
                <a:latin typeface="Cambria"/>
                <a:cs typeface="Cambria"/>
              </a:rPr>
              <a:t>weekly</a:t>
            </a:r>
            <a:r>
              <a:rPr sz="1200" spc="90" dirty="0">
                <a:latin typeface="Cambria"/>
                <a:cs typeface="Cambria"/>
              </a:rPr>
              <a:t> </a:t>
            </a:r>
            <a:r>
              <a:rPr sz="1200" spc="-10" dirty="0">
                <a:latin typeface="Cambria"/>
                <a:cs typeface="Cambria"/>
              </a:rPr>
              <a:t>tasks </a:t>
            </a:r>
            <a:r>
              <a:rPr sz="1200" dirty="0">
                <a:latin typeface="Cambria"/>
                <a:cs typeface="Cambria"/>
              </a:rPr>
              <a:t>to</a:t>
            </a:r>
            <a:r>
              <a:rPr sz="1200" spc="55" dirty="0">
                <a:latin typeface="Cambria"/>
                <a:cs typeface="Cambria"/>
              </a:rPr>
              <a:t> </a:t>
            </a:r>
            <a:r>
              <a:rPr sz="1200" dirty="0">
                <a:latin typeface="Cambria"/>
                <a:cs typeface="Cambria"/>
              </a:rPr>
              <a:t>do</a:t>
            </a:r>
            <a:r>
              <a:rPr sz="1200" spc="65" dirty="0">
                <a:latin typeface="Cambria"/>
                <a:cs typeface="Cambria"/>
              </a:rPr>
              <a:t> </a:t>
            </a:r>
            <a:r>
              <a:rPr sz="1200" dirty="0">
                <a:latin typeface="Cambria"/>
                <a:cs typeface="Cambria"/>
              </a:rPr>
              <a:t>to</a:t>
            </a:r>
            <a:r>
              <a:rPr sz="1200" spc="65" dirty="0">
                <a:latin typeface="Cambria"/>
                <a:cs typeface="Cambria"/>
              </a:rPr>
              <a:t> </a:t>
            </a:r>
            <a:r>
              <a:rPr sz="1200" dirty="0">
                <a:latin typeface="Cambria"/>
                <a:cs typeface="Cambria"/>
              </a:rPr>
              <a:t>improve</a:t>
            </a:r>
            <a:r>
              <a:rPr sz="1200" spc="65" dirty="0">
                <a:latin typeface="Cambria"/>
                <a:cs typeface="Cambria"/>
              </a:rPr>
              <a:t> </a:t>
            </a:r>
            <a:r>
              <a:rPr sz="1200" dirty="0">
                <a:latin typeface="Cambria"/>
                <a:cs typeface="Cambria"/>
              </a:rPr>
              <a:t>this</a:t>
            </a:r>
            <a:r>
              <a:rPr sz="1200" spc="70" dirty="0">
                <a:latin typeface="Cambria"/>
                <a:cs typeface="Cambria"/>
              </a:rPr>
              <a:t> </a:t>
            </a:r>
            <a:r>
              <a:rPr sz="1200" dirty="0">
                <a:latin typeface="Cambria"/>
                <a:cs typeface="Cambria"/>
              </a:rPr>
              <a:t>code</a:t>
            </a:r>
            <a:r>
              <a:rPr sz="1200" spc="70" dirty="0">
                <a:latin typeface="Cambria"/>
                <a:cs typeface="Cambria"/>
              </a:rPr>
              <a:t> </a:t>
            </a:r>
            <a:r>
              <a:rPr sz="1200" dirty="0">
                <a:latin typeface="Cambria"/>
                <a:cs typeface="Cambria"/>
              </a:rPr>
              <a:t>base</a:t>
            </a:r>
            <a:r>
              <a:rPr sz="1200" spc="70" dirty="0">
                <a:latin typeface="Cambria"/>
                <a:cs typeface="Cambria"/>
              </a:rPr>
              <a:t> </a:t>
            </a:r>
            <a:r>
              <a:rPr sz="1200" dirty="0">
                <a:latin typeface="Cambria"/>
                <a:cs typeface="Cambria"/>
              </a:rPr>
              <a:t>(and</a:t>
            </a:r>
            <a:r>
              <a:rPr sz="1200" spc="70" dirty="0">
                <a:latin typeface="Cambria"/>
                <a:cs typeface="Cambria"/>
              </a:rPr>
              <a:t> </a:t>
            </a:r>
            <a:r>
              <a:rPr sz="1200" dirty="0">
                <a:latin typeface="Cambria"/>
                <a:cs typeface="Cambria"/>
              </a:rPr>
              <a:t>in</a:t>
            </a:r>
            <a:r>
              <a:rPr sz="1200" spc="65" dirty="0">
                <a:latin typeface="Cambria"/>
                <a:cs typeface="Cambria"/>
              </a:rPr>
              <a:t> </a:t>
            </a:r>
            <a:r>
              <a:rPr sz="1200" dirty="0">
                <a:latin typeface="Cambria"/>
                <a:cs typeface="Cambria"/>
              </a:rPr>
              <a:t>the</a:t>
            </a:r>
            <a:r>
              <a:rPr sz="1200" spc="70" dirty="0">
                <a:latin typeface="Cambria"/>
                <a:cs typeface="Cambria"/>
              </a:rPr>
              <a:t> </a:t>
            </a:r>
            <a:r>
              <a:rPr sz="1200" dirty="0">
                <a:latin typeface="Cambria"/>
                <a:cs typeface="Cambria"/>
              </a:rPr>
              <a:t>process,</a:t>
            </a:r>
            <a:r>
              <a:rPr sz="1200" spc="75" dirty="0">
                <a:latin typeface="Cambria"/>
                <a:cs typeface="Cambria"/>
              </a:rPr>
              <a:t> </a:t>
            </a:r>
            <a:r>
              <a:rPr sz="1200" dirty="0">
                <a:latin typeface="Cambria"/>
                <a:cs typeface="Cambria"/>
              </a:rPr>
              <a:t>you</a:t>
            </a:r>
            <a:r>
              <a:rPr sz="1200" spc="75" dirty="0">
                <a:latin typeface="Cambria"/>
                <a:cs typeface="Cambria"/>
              </a:rPr>
              <a:t> </a:t>
            </a:r>
            <a:r>
              <a:rPr sz="1200" dirty="0">
                <a:latin typeface="Cambria"/>
                <a:cs typeface="Cambria"/>
              </a:rPr>
              <a:t>will</a:t>
            </a:r>
            <a:r>
              <a:rPr sz="1200" spc="70" dirty="0">
                <a:latin typeface="Cambria"/>
                <a:cs typeface="Cambria"/>
              </a:rPr>
              <a:t> </a:t>
            </a:r>
            <a:r>
              <a:rPr sz="1200" dirty="0">
                <a:latin typeface="Cambria"/>
                <a:cs typeface="Cambria"/>
              </a:rPr>
              <a:t>learn</a:t>
            </a:r>
            <a:r>
              <a:rPr sz="1200" spc="70" dirty="0">
                <a:latin typeface="Cambria"/>
                <a:cs typeface="Cambria"/>
              </a:rPr>
              <a:t> </a:t>
            </a:r>
            <a:r>
              <a:rPr sz="1200" spc="-10" dirty="0">
                <a:latin typeface="Cambria"/>
                <a:cs typeface="Cambria"/>
              </a:rPr>
              <a:t>about </a:t>
            </a:r>
            <a:r>
              <a:rPr sz="1200" dirty="0">
                <a:latin typeface="Cambria"/>
                <a:cs typeface="Cambria"/>
              </a:rPr>
              <a:t>things</a:t>
            </a:r>
            <a:r>
              <a:rPr sz="1200" spc="35" dirty="0">
                <a:latin typeface="Cambria"/>
                <a:cs typeface="Cambria"/>
              </a:rPr>
              <a:t> </a:t>
            </a:r>
            <a:r>
              <a:rPr sz="1200" dirty="0">
                <a:latin typeface="Cambria"/>
                <a:cs typeface="Cambria"/>
              </a:rPr>
              <a:t>such</a:t>
            </a:r>
            <a:r>
              <a:rPr sz="1200" spc="35" dirty="0">
                <a:latin typeface="Cambria"/>
                <a:cs typeface="Cambria"/>
              </a:rPr>
              <a:t> </a:t>
            </a:r>
            <a:r>
              <a:rPr sz="1200" dirty="0">
                <a:latin typeface="Cambria"/>
                <a:cs typeface="Cambria"/>
              </a:rPr>
              <a:t>as</a:t>
            </a:r>
            <a:r>
              <a:rPr sz="1200" spc="40" dirty="0">
                <a:latin typeface="Cambria"/>
                <a:cs typeface="Cambria"/>
              </a:rPr>
              <a:t> </a:t>
            </a:r>
            <a:r>
              <a:rPr sz="1200" dirty="0">
                <a:latin typeface="Cambria"/>
                <a:cs typeface="Cambria"/>
              </a:rPr>
              <a:t>data</a:t>
            </a:r>
            <a:r>
              <a:rPr sz="1200" spc="40" dirty="0">
                <a:latin typeface="Cambria"/>
                <a:cs typeface="Cambria"/>
              </a:rPr>
              <a:t> </a:t>
            </a:r>
            <a:r>
              <a:rPr sz="1200" dirty="0">
                <a:latin typeface="Cambria"/>
                <a:cs typeface="Cambria"/>
              </a:rPr>
              <a:t>processing</a:t>
            </a:r>
            <a:r>
              <a:rPr sz="1200" spc="40" dirty="0">
                <a:latin typeface="Cambria"/>
                <a:cs typeface="Cambria"/>
              </a:rPr>
              <a:t> </a:t>
            </a:r>
            <a:r>
              <a:rPr sz="1200" dirty="0">
                <a:latin typeface="Cambria"/>
                <a:cs typeface="Cambria"/>
              </a:rPr>
              <a:t>and</a:t>
            </a:r>
            <a:r>
              <a:rPr sz="1200" spc="40" dirty="0">
                <a:latin typeface="Cambria"/>
                <a:cs typeface="Cambria"/>
              </a:rPr>
              <a:t> </a:t>
            </a:r>
            <a:r>
              <a:rPr sz="1200" dirty="0">
                <a:latin typeface="Cambria"/>
                <a:cs typeface="Cambria"/>
              </a:rPr>
              <a:t>deep</a:t>
            </a:r>
            <a:r>
              <a:rPr sz="1200" spc="40" dirty="0">
                <a:latin typeface="Cambria"/>
                <a:cs typeface="Cambria"/>
              </a:rPr>
              <a:t> </a:t>
            </a:r>
            <a:r>
              <a:rPr sz="1200" spc="-10" dirty="0">
                <a:latin typeface="Cambria"/>
                <a:cs typeface="Cambria"/>
              </a:rPr>
              <a:t>learning).</a:t>
            </a:r>
            <a:endParaRPr sz="1200" dirty="0">
              <a:latin typeface="Cambria"/>
              <a:cs typeface="Cambria"/>
            </a:endParaRPr>
          </a:p>
        </p:txBody>
      </p:sp>
      <p:sp>
        <p:nvSpPr>
          <p:cNvPr id="9" name="object 9"/>
          <p:cNvSpPr txBox="1"/>
          <p:nvPr/>
        </p:nvSpPr>
        <p:spPr>
          <a:xfrm>
            <a:off x="4563128" y="3132950"/>
            <a:ext cx="1956435" cy="528350"/>
          </a:xfrm>
          <a:prstGeom prst="rect">
            <a:avLst/>
          </a:prstGeom>
          <a:solidFill>
            <a:srgbClr val="FBE5D6"/>
          </a:solidFill>
          <a:ln w="6495">
            <a:solidFill>
              <a:srgbClr val="C00000"/>
            </a:solidFill>
          </a:ln>
        </p:spPr>
        <p:txBody>
          <a:bodyPr vert="horz" wrap="square" lIns="0" tIns="25400" rIns="0" bIns="0" rtlCol="0">
            <a:spAutoFit/>
          </a:bodyPr>
          <a:lstStyle/>
          <a:p>
            <a:pPr marL="256540" indent="-194310">
              <a:spcBef>
                <a:spcPts val="200"/>
              </a:spcBef>
              <a:buFont typeface="Arial"/>
              <a:buChar char="•"/>
              <a:tabLst>
                <a:tab pos="256540" algn="l"/>
              </a:tabLst>
            </a:pPr>
            <a:r>
              <a:rPr sz="1100" spc="-10" dirty="0">
                <a:latin typeface="Cambria"/>
                <a:cs typeface="Cambria"/>
              </a:rPr>
              <a:t>Machine</a:t>
            </a:r>
            <a:r>
              <a:rPr sz="1100" spc="-20" dirty="0">
                <a:latin typeface="Cambria"/>
                <a:cs typeface="Cambria"/>
              </a:rPr>
              <a:t> </a:t>
            </a:r>
            <a:r>
              <a:rPr sz="1100" spc="-10" dirty="0">
                <a:latin typeface="Cambria"/>
                <a:cs typeface="Cambria"/>
              </a:rPr>
              <a:t>learning</a:t>
            </a:r>
            <a:endParaRPr sz="1100" dirty="0">
              <a:latin typeface="Cambria"/>
              <a:cs typeface="Cambria"/>
            </a:endParaRPr>
          </a:p>
          <a:p>
            <a:pPr marL="256540" indent="-194310">
              <a:lnSpc>
                <a:spcPts val="1305"/>
              </a:lnSpc>
              <a:spcBef>
                <a:spcPts val="45"/>
              </a:spcBef>
              <a:buFont typeface="Arial"/>
              <a:buChar char="•"/>
              <a:tabLst>
                <a:tab pos="256540" algn="l"/>
              </a:tabLst>
            </a:pPr>
            <a:r>
              <a:rPr sz="1100" dirty="0">
                <a:latin typeface="Cambria"/>
                <a:cs typeface="Cambria"/>
              </a:rPr>
              <a:t>Deep</a:t>
            </a:r>
            <a:r>
              <a:rPr sz="1100" spc="-60" dirty="0">
                <a:latin typeface="Cambria"/>
                <a:cs typeface="Cambria"/>
              </a:rPr>
              <a:t> </a:t>
            </a:r>
            <a:r>
              <a:rPr sz="1100" spc="-10" dirty="0">
                <a:latin typeface="Cambria"/>
                <a:cs typeface="Cambria"/>
              </a:rPr>
              <a:t>learning</a:t>
            </a:r>
            <a:endParaRPr sz="1100" dirty="0">
              <a:latin typeface="Cambria"/>
              <a:cs typeface="Cambria"/>
            </a:endParaRPr>
          </a:p>
          <a:p>
            <a:pPr marL="256540" indent="-194310">
              <a:lnSpc>
                <a:spcPts val="1305"/>
              </a:lnSpc>
              <a:buFont typeface="Arial"/>
              <a:buChar char="•"/>
              <a:tabLst>
                <a:tab pos="256540" algn="l"/>
              </a:tabLst>
            </a:pPr>
            <a:r>
              <a:rPr sz="1100" spc="-10" dirty="0">
                <a:latin typeface="Cambria"/>
                <a:cs typeface="Cambria"/>
              </a:rPr>
              <a:t>Stock</a:t>
            </a:r>
            <a:r>
              <a:rPr sz="1100" spc="-35" dirty="0">
                <a:latin typeface="Cambria"/>
                <a:cs typeface="Cambria"/>
              </a:rPr>
              <a:t> </a:t>
            </a:r>
            <a:r>
              <a:rPr sz="1100" dirty="0">
                <a:latin typeface="Cambria"/>
                <a:cs typeface="Cambria"/>
              </a:rPr>
              <a:t>price</a:t>
            </a:r>
            <a:r>
              <a:rPr sz="1100" spc="-40" dirty="0">
                <a:latin typeface="Cambria"/>
                <a:cs typeface="Cambria"/>
              </a:rPr>
              <a:t> </a:t>
            </a:r>
            <a:r>
              <a:rPr sz="1100" spc="-10" dirty="0">
                <a:latin typeface="Cambria"/>
                <a:cs typeface="Cambria"/>
              </a:rPr>
              <a:t>prediction</a:t>
            </a:r>
            <a:endParaRPr sz="1100" dirty="0">
              <a:latin typeface="Cambria"/>
              <a:cs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9250" y="311150"/>
            <a:ext cx="5791199" cy="2402261"/>
          </a:xfrm>
          <a:prstGeom prst="rect">
            <a:avLst/>
          </a:prstGeom>
        </p:spPr>
        <p:txBody>
          <a:bodyPr vert="horz" wrap="square" lIns="0" tIns="62865" rIns="0" bIns="0" rtlCol="0">
            <a:spAutoFit/>
          </a:bodyPr>
          <a:lstStyle/>
          <a:p>
            <a:pPr marL="111760">
              <a:spcBef>
                <a:spcPts val="495"/>
              </a:spcBef>
            </a:pPr>
            <a:r>
              <a:rPr sz="1750" b="1" dirty="0">
                <a:latin typeface="Cambria"/>
                <a:cs typeface="Cambria"/>
              </a:rPr>
              <a:t>Project</a:t>
            </a:r>
            <a:r>
              <a:rPr sz="1750" b="1" spc="10" dirty="0">
                <a:latin typeface="Cambria"/>
                <a:cs typeface="Cambria"/>
              </a:rPr>
              <a:t> </a:t>
            </a:r>
            <a:r>
              <a:rPr sz="1750" b="1" dirty="0">
                <a:latin typeface="Cambria"/>
                <a:cs typeface="Cambria"/>
              </a:rPr>
              <a:t>Option</a:t>
            </a:r>
            <a:r>
              <a:rPr sz="1750" b="1" spc="25" dirty="0">
                <a:latin typeface="Cambria"/>
                <a:cs typeface="Cambria"/>
              </a:rPr>
              <a:t> </a:t>
            </a:r>
            <a:r>
              <a:rPr sz="1750" b="1" spc="-25" dirty="0">
                <a:latin typeface="Cambria"/>
                <a:cs typeface="Cambria"/>
              </a:rPr>
              <a:t>D:</a:t>
            </a:r>
            <a:endParaRPr sz="1750" dirty="0">
              <a:latin typeface="Cambria"/>
              <a:cs typeface="Cambria"/>
            </a:endParaRPr>
          </a:p>
          <a:p>
            <a:pPr marL="111760" marR="5080">
              <a:lnSpc>
                <a:spcPts val="1240"/>
              </a:lnSpc>
              <a:spcBef>
                <a:spcPts val="515"/>
              </a:spcBef>
            </a:pPr>
            <a:r>
              <a:rPr sz="1200" b="1" dirty="0">
                <a:latin typeface="Cambria"/>
                <a:cs typeface="Cambria"/>
              </a:rPr>
              <a:t>Large</a:t>
            </a:r>
            <a:r>
              <a:rPr sz="1200" b="1" spc="229" dirty="0">
                <a:latin typeface="Cambria"/>
                <a:cs typeface="Cambria"/>
              </a:rPr>
              <a:t>  </a:t>
            </a:r>
            <a:r>
              <a:rPr sz="1200" b="1" dirty="0">
                <a:latin typeface="Cambria"/>
                <a:cs typeface="Cambria"/>
              </a:rPr>
              <a:t>Language</a:t>
            </a:r>
            <a:r>
              <a:rPr sz="1200" b="1" spc="229" dirty="0">
                <a:latin typeface="Cambria"/>
                <a:cs typeface="Cambria"/>
              </a:rPr>
              <a:t>  </a:t>
            </a:r>
            <a:r>
              <a:rPr sz="1200" b="1" dirty="0">
                <a:latin typeface="Cambria"/>
                <a:cs typeface="Cambria"/>
              </a:rPr>
              <a:t>Model</a:t>
            </a:r>
            <a:r>
              <a:rPr sz="1200" b="1" spc="229" dirty="0">
                <a:latin typeface="Cambria"/>
                <a:cs typeface="Cambria"/>
              </a:rPr>
              <a:t>  </a:t>
            </a:r>
            <a:r>
              <a:rPr sz="1200" b="1" dirty="0">
                <a:latin typeface="Cambria"/>
                <a:cs typeface="Cambria"/>
              </a:rPr>
              <a:t>(LLM)</a:t>
            </a:r>
            <a:r>
              <a:rPr lang="en-001" sz="1200" b="1" dirty="0">
                <a:latin typeface="Cambria"/>
                <a:cs typeface="Cambria"/>
              </a:rPr>
              <a:t>-</a:t>
            </a:r>
            <a:r>
              <a:rPr sz="1200" b="1" dirty="0">
                <a:latin typeface="Cambria"/>
                <a:cs typeface="Cambria"/>
              </a:rPr>
              <a:t>powered</a:t>
            </a:r>
            <a:r>
              <a:rPr lang="en-001" sz="1200" b="1" spc="229" dirty="0">
                <a:latin typeface="Cambria"/>
                <a:cs typeface="Cambria"/>
              </a:rPr>
              <a:t>  </a:t>
            </a:r>
            <a:r>
              <a:rPr sz="1200" b="1" dirty="0">
                <a:latin typeface="Cambria"/>
                <a:cs typeface="Cambria"/>
              </a:rPr>
              <a:t>Autonomous</a:t>
            </a:r>
            <a:r>
              <a:rPr sz="1200" b="1" spc="229" dirty="0">
                <a:latin typeface="Cambria"/>
                <a:cs typeface="Cambria"/>
              </a:rPr>
              <a:t>  </a:t>
            </a:r>
            <a:r>
              <a:rPr sz="1200" b="1" dirty="0">
                <a:latin typeface="Cambria"/>
                <a:cs typeface="Cambria"/>
              </a:rPr>
              <a:t>Agents</a:t>
            </a:r>
            <a:r>
              <a:rPr sz="1200" b="1" spc="235" dirty="0">
                <a:latin typeface="Cambria"/>
                <a:cs typeface="Cambria"/>
              </a:rPr>
              <a:t>  </a:t>
            </a:r>
            <a:r>
              <a:rPr sz="1200" b="1" spc="-25" dirty="0">
                <a:latin typeface="Cambria"/>
                <a:cs typeface="Cambria"/>
              </a:rPr>
              <a:t>and </a:t>
            </a:r>
            <a:r>
              <a:rPr sz="1200" b="1" dirty="0">
                <a:latin typeface="Cambria"/>
                <a:cs typeface="Cambria"/>
              </a:rPr>
              <a:t>Multiagent</a:t>
            </a:r>
            <a:r>
              <a:rPr sz="1200" b="1" spc="100" dirty="0">
                <a:latin typeface="Cambria"/>
                <a:cs typeface="Cambria"/>
              </a:rPr>
              <a:t> </a:t>
            </a:r>
            <a:r>
              <a:rPr sz="1200" b="1" spc="-10" dirty="0">
                <a:latin typeface="Cambria"/>
                <a:cs typeface="Cambria"/>
              </a:rPr>
              <a:t>systems</a:t>
            </a:r>
            <a:endParaRPr lang="en-US" sz="1200" b="1" spc="-10" dirty="0">
              <a:latin typeface="Cambria"/>
              <a:cs typeface="Cambria"/>
            </a:endParaRPr>
          </a:p>
          <a:p>
            <a:pPr marL="111760" marR="5080">
              <a:lnSpc>
                <a:spcPts val="1240"/>
              </a:lnSpc>
              <a:spcBef>
                <a:spcPts val="515"/>
              </a:spcBef>
            </a:pPr>
            <a:endParaRPr sz="1200" dirty="0">
              <a:latin typeface="Cambria"/>
              <a:cs typeface="Cambria"/>
            </a:endParaRPr>
          </a:p>
          <a:p>
            <a:pPr marL="207010" marR="543560" indent="-194945" algn="just">
              <a:lnSpc>
                <a:spcPct val="101800"/>
              </a:lnSpc>
            </a:pPr>
            <a:r>
              <a:rPr lang="en-US" sz="1350" dirty="0">
                <a:latin typeface="Times New Roman"/>
                <a:cs typeface="Times New Roman"/>
              </a:rPr>
              <a:t>	</a:t>
            </a:r>
            <a:r>
              <a:rPr sz="1350" dirty="0">
                <a:latin typeface="Cambria" panose="02040503050406030204" pitchFamily="18" charset="0"/>
                <a:ea typeface="Cambria" panose="02040503050406030204" pitchFamily="18" charset="0"/>
                <a:cs typeface="Times New Roman"/>
              </a:rPr>
              <a:t>This</a:t>
            </a:r>
            <a:r>
              <a:rPr sz="1350" spc="32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project</a:t>
            </a:r>
            <a:r>
              <a:rPr sz="1350" spc="3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aims</a:t>
            </a:r>
            <a:r>
              <a:rPr sz="1350" spc="32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to</a:t>
            </a:r>
            <a:r>
              <a:rPr sz="1350" spc="32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implement</a:t>
            </a:r>
            <a:r>
              <a:rPr sz="1350" spc="3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and</a:t>
            </a:r>
            <a:r>
              <a:rPr sz="1350" spc="32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demonstrate</a:t>
            </a:r>
            <a:r>
              <a:rPr sz="1350" spc="325" dirty="0">
                <a:latin typeface="Cambria" panose="02040503050406030204" pitchFamily="18" charset="0"/>
                <a:ea typeface="Cambria" panose="02040503050406030204" pitchFamily="18" charset="0"/>
                <a:cs typeface="Times New Roman"/>
              </a:rPr>
              <a:t> </a:t>
            </a:r>
            <a:r>
              <a:rPr sz="1350" spc="-25" dirty="0">
                <a:latin typeface="Cambria" panose="02040503050406030204" pitchFamily="18" charset="0"/>
                <a:ea typeface="Cambria" panose="02040503050406030204" pitchFamily="18" charset="0"/>
                <a:cs typeface="Times New Roman"/>
              </a:rPr>
              <a:t>the </a:t>
            </a:r>
            <a:r>
              <a:rPr sz="1350" dirty="0">
                <a:latin typeface="Cambria" panose="02040503050406030204" pitchFamily="18" charset="0"/>
                <a:ea typeface="Cambria" panose="02040503050406030204" pitchFamily="18" charset="0"/>
                <a:cs typeface="Times New Roman"/>
              </a:rPr>
              <a:t>capabilities</a:t>
            </a:r>
            <a:r>
              <a:rPr sz="1350" spc="14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of</a:t>
            </a:r>
            <a:r>
              <a:rPr sz="1350" spc="14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autonomous</a:t>
            </a:r>
            <a:r>
              <a:rPr sz="1350" spc="14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agents</a:t>
            </a:r>
            <a:r>
              <a:rPr sz="1350" spc="15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powered</a:t>
            </a:r>
            <a:r>
              <a:rPr sz="1350" spc="15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by</a:t>
            </a:r>
            <a:r>
              <a:rPr sz="1350" spc="15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large</a:t>
            </a:r>
            <a:r>
              <a:rPr sz="1350" spc="155" dirty="0">
                <a:latin typeface="Cambria" panose="02040503050406030204" pitchFamily="18" charset="0"/>
                <a:ea typeface="Cambria" panose="02040503050406030204" pitchFamily="18" charset="0"/>
                <a:cs typeface="Times New Roman"/>
              </a:rPr>
              <a:t> </a:t>
            </a:r>
            <a:r>
              <a:rPr sz="1350" spc="-10" dirty="0">
                <a:latin typeface="Cambria" panose="02040503050406030204" pitchFamily="18" charset="0"/>
                <a:ea typeface="Cambria" panose="02040503050406030204" pitchFamily="18" charset="0"/>
                <a:cs typeface="Times New Roman"/>
              </a:rPr>
              <a:t>language </a:t>
            </a:r>
            <a:r>
              <a:rPr sz="1350" dirty="0">
                <a:latin typeface="Cambria" panose="02040503050406030204" pitchFamily="18" charset="0"/>
                <a:ea typeface="Cambria" panose="02040503050406030204" pitchFamily="18" charset="0"/>
                <a:cs typeface="Times New Roman"/>
              </a:rPr>
              <a:t>models</a:t>
            </a:r>
            <a:r>
              <a:rPr sz="1350" spc="-3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(LLMs)</a:t>
            </a:r>
            <a:r>
              <a:rPr sz="1350" spc="-2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such</a:t>
            </a:r>
            <a:r>
              <a:rPr sz="1350" spc="-2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as</a:t>
            </a:r>
            <a:r>
              <a:rPr sz="1350" spc="-2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GPTs,</a:t>
            </a:r>
            <a:r>
              <a:rPr sz="1350" spc="-2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Llama’s,</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or</a:t>
            </a:r>
            <a:r>
              <a:rPr sz="1350" spc="-20" dirty="0">
                <a:latin typeface="Cambria" panose="02040503050406030204" pitchFamily="18" charset="0"/>
                <a:ea typeface="Cambria" panose="02040503050406030204" pitchFamily="18" charset="0"/>
                <a:cs typeface="Times New Roman"/>
              </a:rPr>
              <a:t> </a:t>
            </a:r>
            <a:r>
              <a:rPr sz="1350" spc="-10" dirty="0">
                <a:latin typeface="Cambria" panose="02040503050406030204" pitchFamily="18" charset="0"/>
                <a:ea typeface="Cambria" panose="02040503050406030204" pitchFamily="18" charset="0"/>
                <a:cs typeface="Times New Roman"/>
              </a:rPr>
              <a:t>Gemini’s.</a:t>
            </a:r>
            <a:endParaRPr sz="1350" dirty="0">
              <a:latin typeface="Cambria" panose="02040503050406030204" pitchFamily="18" charset="0"/>
              <a:ea typeface="Cambria" panose="02040503050406030204" pitchFamily="18" charset="0"/>
              <a:cs typeface="Times New Roman"/>
            </a:endParaRPr>
          </a:p>
          <a:p>
            <a:pPr>
              <a:spcBef>
                <a:spcPts val="110"/>
              </a:spcBef>
            </a:pPr>
            <a:endParaRPr sz="1350" dirty="0">
              <a:latin typeface="Cambria" panose="02040503050406030204" pitchFamily="18" charset="0"/>
              <a:ea typeface="Cambria" panose="02040503050406030204" pitchFamily="18" charset="0"/>
              <a:cs typeface="Times New Roman"/>
            </a:endParaRPr>
          </a:p>
          <a:p>
            <a:pPr marL="205740" marR="542925" indent="-193675" algn="just">
              <a:buFont typeface="Arial"/>
              <a:buChar char="•"/>
              <a:tabLst>
                <a:tab pos="207010" algn="l"/>
              </a:tabLst>
            </a:pPr>
            <a:r>
              <a:rPr sz="1350" dirty="0">
                <a:latin typeface="Cambria" panose="02040503050406030204" pitchFamily="18" charset="0"/>
                <a:ea typeface="Cambria" panose="02040503050406030204" pitchFamily="18" charset="0"/>
                <a:cs typeface="Times New Roman"/>
              </a:rPr>
              <a:t>If</a:t>
            </a:r>
            <a:r>
              <a:rPr sz="1350" spc="5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you</a:t>
            </a:r>
            <a:r>
              <a:rPr sz="1350" spc="5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join</a:t>
            </a:r>
            <a:r>
              <a:rPr sz="1350" spc="5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this</a:t>
            </a:r>
            <a:r>
              <a:rPr sz="1350" spc="5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project,</a:t>
            </a:r>
            <a:r>
              <a:rPr sz="1350" spc="5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you</a:t>
            </a:r>
            <a:r>
              <a:rPr sz="1350" spc="6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will</a:t>
            </a:r>
            <a:r>
              <a:rPr sz="1350" spc="4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work</a:t>
            </a:r>
            <a:r>
              <a:rPr sz="1350" spc="5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under</a:t>
            </a:r>
            <a:r>
              <a:rPr sz="1350" spc="5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the</a:t>
            </a:r>
            <a:r>
              <a:rPr sz="1350" spc="5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supervision</a:t>
            </a:r>
            <a:r>
              <a:rPr sz="1350" spc="60" dirty="0">
                <a:latin typeface="Cambria" panose="02040503050406030204" pitchFamily="18" charset="0"/>
                <a:ea typeface="Cambria" panose="02040503050406030204" pitchFamily="18" charset="0"/>
                <a:cs typeface="Times New Roman"/>
              </a:rPr>
              <a:t> </a:t>
            </a:r>
            <a:r>
              <a:rPr sz="1350" spc="-25" dirty="0">
                <a:latin typeface="Cambria" panose="02040503050406030204" pitchFamily="18" charset="0"/>
                <a:ea typeface="Cambria" panose="02040503050406030204" pitchFamily="18" charset="0"/>
                <a:cs typeface="Times New Roman"/>
              </a:rPr>
              <a:t>of 	</a:t>
            </a:r>
            <a:r>
              <a:rPr sz="1350" dirty="0">
                <a:latin typeface="Cambria" panose="02040503050406030204" pitchFamily="18" charset="0"/>
                <a:ea typeface="Cambria" panose="02040503050406030204" pitchFamily="18" charset="0"/>
                <a:cs typeface="Times New Roman"/>
              </a:rPr>
              <a:t>your</a:t>
            </a:r>
            <a:r>
              <a:rPr sz="1350" spc="27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teaching</a:t>
            </a:r>
            <a:r>
              <a:rPr sz="1350" spc="29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staff</a:t>
            </a:r>
            <a:r>
              <a:rPr sz="1350" spc="28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of</a:t>
            </a:r>
            <a:r>
              <a:rPr sz="1350" spc="28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this</a:t>
            </a:r>
            <a:r>
              <a:rPr sz="1350" spc="29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unit</a:t>
            </a:r>
            <a:r>
              <a:rPr sz="1350" spc="285" dirty="0">
                <a:latin typeface="Cambria" panose="02040503050406030204" pitchFamily="18" charset="0"/>
                <a:ea typeface="Cambria" panose="02040503050406030204" pitchFamily="18" charset="0"/>
                <a:cs typeface="Times New Roman"/>
              </a:rPr>
              <a:t> </a:t>
            </a:r>
            <a:r>
              <a:rPr sz="1350" spc="-25" dirty="0">
                <a:latin typeface="Cambria" panose="02040503050406030204" pitchFamily="18" charset="0"/>
                <a:ea typeface="Cambria" panose="02040503050406030204" pitchFamily="18" charset="0"/>
                <a:cs typeface="Times New Roman"/>
              </a:rPr>
              <a:t>and </a:t>
            </a:r>
            <a:r>
              <a:rPr sz="1350" dirty="0">
                <a:latin typeface="Cambria" panose="02040503050406030204" pitchFamily="18" charset="0"/>
                <a:ea typeface="Cambria" panose="02040503050406030204" pitchFamily="18" charset="0"/>
                <a:cs typeface="Times New Roman"/>
              </a:rPr>
              <a:t>within</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 team of</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students (between 3</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and 5</a:t>
            </a:r>
            <a:r>
              <a:rPr sz="1350" spc="5" dirty="0">
                <a:latin typeface="Cambria" panose="02040503050406030204" pitchFamily="18" charset="0"/>
                <a:ea typeface="Cambria" panose="02040503050406030204" pitchFamily="18" charset="0"/>
                <a:cs typeface="Times New Roman"/>
              </a:rPr>
              <a:t> </a:t>
            </a:r>
            <a:r>
              <a:rPr sz="1350" spc="-10" dirty="0">
                <a:latin typeface="Cambria" panose="02040503050406030204" pitchFamily="18" charset="0"/>
                <a:ea typeface="Cambria" panose="02040503050406030204" pitchFamily="18" charset="0"/>
                <a:cs typeface="Times New Roman"/>
              </a:rPr>
              <a:t>students).</a:t>
            </a:r>
            <a:endParaRPr sz="1350" dirty="0">
              <a:latin typeface="Cambria" panose="02040503050406030204" pitchFamily="18" charset="0"/>
              <a:ea typeface="Cambria" panose="02040503050406030204" pitchFamily="18" charset="0"/>
              <a:cs typeface="Times New Roman"/>
            </a:endParaRPr>
          </a:p>
        </p:txBody>
      </p:sp>
      <p:sp>
        <p:nvSpPr>
          <p:cNvPr id="3" name="object 3"/>
          <p:cNvSpPr txBox="1"/>
          <p:nvPr/>
        </p:nvSpPr>
        <p:spPr>
          <a:xfrm>
            <a:off x="4976405" y="3447205"/>
            <a:ext cx="1766570" cy="694421"/>
          </a:xfrm>
          <a:prstGeom prst="rect">
            <a:avLst/>
          </a:prstGeom>
          <a:solidFill>
            <a:srgbClr val="E2F0D9"/>
          </a:solidFill>
          <a:ln w="6495">
            <a:solidFill>
              <a:srgbClr val="9DC3E6"/>
            </a:solidFill>
          </a:ln>
        </p:spPr>
        <p:txBody>
          <a:bodyPr vert="horz" wrap="square" lIns="0" tIns="24765" rIns="0" bIns="0" rtlCol="0">
            <a:spAutoFit/>
          </a:bodyPr>
          <a:lstStyle/>
          <a:p>
            <a:pPr marL="256540" indent="-194310">
              <a:spcBef>
                <a:spcPts val="195"/>
              </a:spcBef>
              <a:buFont typeface="Arial"/>
              <a:buChar char="•"/>
              <a:tabLst>
                <a:tab pos="256540" algn="l"/>
              </a:tabLst>
            </a:pPr>
            <a:r>
              <a:rPr sz="1100" spc="-10" dirty="0">
                <a:latin typeface="Cambria"/>
                <a:cs typeface="Cambria"/>
              </a:rPr>
              <a:t>Machine</a:t>
            </a:r>
            <a:r>
              <a:rPr sz="1100" spc="-20" dirty="0">
                <a:latin typeface="Cambria"/>
                <a:cs typeface="Cambria"/>
              </a:rPr>
              <a:t> </a:t>
            </a:r>
            <a:r>
              <a:rPr sz="1100" spc="-10" dirty="0">
                <a:latin typeface="Cambria"/>
                <a:cs typeface="Cambria"/>
              </a:rPr>
              <a:t>learning</a:t>
            </a:r>
            <a:endParaRPr sz="1100" dirty="0">
              <a:latin typeface="Cambria"/>
              <a:cs typeface="Cambria"/>
            </a:endParaRPr>
          </a:p>
          <a:p>
            <a:pPr marL="256540" indent="-194310">
              <a:lnSpc>
                <a:spcPts val="1305"/>
              </a:lnSpc>
              <a:spcBef>
                <a:spcPts val="45"/>
              </a:spcBef>
              <a:buFont typeface="Arial"/>
              <a:buChar char="•"/>
              <a:tabLst>
                <a:tab pos="256540" algn="l"/>
              </a:tabLst>
            </a:pPr>
            <a:r>
              <a:rPr sz="1100" spc="-25" dirty="0">
                <a:latin typeface="Cambria"/>
                <a:cs typeface="Cambria"/>
              </a:rPr>
              <a:t>NLP</a:t>
            </a:r>
            <a:endParaRPr sz="1100" dirty="0">
              <a:latin typeface="Cambria"/>
              <a:cs typeface="Cambria"/>
            </a:endParaRPr>
          </a:p>
          <a:p>
            <a:pPr marL="256540" indent="-194310">
              <a:lnSpc>
                <a:spcPts val="1295"/>
              </a:lnSpc>
              <a:buFont typeface="Arial"/>
              <a:buChar char="•"/>
              <a:tabLst>
                <a:tab pos="256540" algn="l"/>
              </a:tabLst>
            </a:pPr>
            <a:r>
              <a:rPr sz="1100" dirty="0">
                <a:latin typeface="Cambria"/>
                <a:cs typeface="Cambria"/>
              </a:rPr>
              <a:t>Large</a:t>
            </a:r>
            <a:r>
              <a:rPr sz="1100" spc="-35" dirty="0">
                <a:latin typeface="Cambria"/>
                <a:cs typeface="Cambria"/>
              </a:rPr>
              <a:t> </a:t>
            </a:r>
            <a:r>
              <a:rPr sz="1100" spc="-10" dirty="0">
                <a:latin typeface="Cambria"/>
                <a:cs typeface="Cambria"/>
              </a:rPr>
              <a:t>language</a:t>
            </a:r>
            <a:r>
              <a:rPr sz="1100" spc="-30" dirty="0">
                <a:latin typeface="Cambria"/>
                <a:cs typeface="Cambria"/>
              </a:rPr>
              <a:t> </a:t>
            </a:r>
            <a:r>
              <a:rPr sz="1100" spc="-10" dirty="0">
                <a:latin typeface="Cambria"/>
                <a:cs typeface="Cambria"/>
              </a:rPr>
              <a:t>Models</a:t>
            </a:r>
            <a:endParaRPr sz="1100" dirty="0">
              <a:latin typeface="Cambria"/>
              <a:cs typeface="Cambria"/>
            </a:endParaRPr>
          </a:p>
          <a:p>
            <a:pPr marL="256540" indent="-194310">
              <a:lnSpc>
                <a:spcPts val="1310"/>
              </a:lnSpc>
              <a:buFont typeface="Arial"/>
              <a:buChar char="•"/>
              <a:tabLst>
                <a:tab pos="256540" algn="l"/>
              </a:tabLst>
            </a:pPr>
            <a:r>
              <a:rPr sz="1100" spc="-20" dirty="0">
                <a:latin typeface="Cambria"/>
                <a:cs typeface="Cambria"/>
              </a:rPr>
              <a:t>Generative</a:t>
            </a:r>
            <a:r>
              <a:rPr sz="1100" spc="20" dirty="0">
                <a:latin typeface="Cambria"/>
                <a:cs typeface="Cambria"/>
              </a:rPr>
              <a:t> </a:t>
            </a:r>
            <a:r>
              <a:rPr sz="1100" spc="-25" dirty="0">
                <a:latin typeface="Cambria"/>
                <a:cs typeface="Cambria"/>
              </a:rPr>
              <a:t>AI</a:t>
            </a:r>
            <a:endParaRPr sz="1100" dirty="0">
              <a:latin typeface="Cambria"/>
              <a:cs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6329076" y="581883"/>
            <a:ext cx="563775" cy="1128457"/>
          </a:xfrm>
          <a:prstGeom prst="rect">
            <a:avLst/>
          </a:prstGeom>
        </p:spPr>
      </p:pic>
      <p:sp>
        <p:nvSpPr>
          <p:cNvPr id="5" name="object 5"/>
          <p:cNvSpPr txBox="1"/>
          <p:nvPr/>
        </p:nvSpPr>
        <p:spPr>
          <a:xfrm>
            <a:off x="663649" y="387350"/>
            <a:ext cx="5934001" cy="3406830"/>
          </a:xfrm>
          <a:prstGeom prst="rect">
            <a:avLst/>
          </a:prstGeom>
        </p:spPr>
        <p:txBody>
          <a:bodyPr vert="horz" wrap="square" lIns="0" tIns="17145" rIns="0" bIns="0" rtlCol="0">
            <a:spAutoFit/>
          </a:bodyPr>
          <a:lstStyle/>
          <a:p>
            <a:pPr marL="160655">
              <a:spcBef>
                <a:spcPts val="135"/>
              </a:spcBef>
            </a:pPr>
            <a:r>
              <a:rPr sz="1900" b="1" dirty="0">
                <a:latin typeface="Cambria"/>
                <a:cs typeface="Cambria"/>
              </a:rPr>
              <a:t>Other</a:t>
            </a:r>
            <a:r>
              <a:rPr sz="1900" b="1" spc="-25" dirty="0">
                <a:latin typeface="Cambria"/>
                <a:cs typeface="Cambria"/>
              </a:rPr>
              <a:t> </a:t>
            </a:r>
            <a:r>
              <a:rPr sz="1900" b="1" spc="-10" dirty="0">
                <a:latin typeface="Cambria"/>
                <a:cs typeface="Cambria"/>
              </a:rPr>
              <a:t>Resources</a:t>
            </a:r>
            <a:endParaRPr sz="1900" dirty="0">
              <a:latin typeface="Cambria"/>
              <a:cs typeface="Cambria"/>
            </a:endParaRPr>
          </a:p>
          <a:p>
            <a:pPr marL="207010" indent="-194310">
              <a:lnSpc>
                <a:spcPts val="1140"/>
              </a:lnSpc>
              <a:spcBef>
                <a:spcPts val="1365"/>
              </a:spcBef>
              <a:buFont typeface="Arial"/>
              <a:buChar char="•"/>
              <a:tabLst>
                <a:tab pos="207010" algn="l"/>
              </a:tabLst>
            </a:pPr>
            <a:r>
              <a:rPr sz="1200" b="1" dirty="0">
                <a:latin typeface="Cambria" panose="02040503050406030204" pitchFamily="18" charset="0"/>
                <a:ea typeface="Cambria" panose="02040503050406030204" pitchFamily="18" charset="0"/>
                <a:cs typeface="Times New Roman"/>
              </a:rPr>
              <a:t>Google</a:t>
            </a:r>
            <a:r>
              <a:rPr sz="1200" b="1" spc="5" dirty="0">
                <a:latin typeface="Cambria" panose="02040503050406030204" pitchFamily="18" charset="0"/>
                <a:ea typeface="Cambria" panose="02040503050406030204" pitchFamily="18" charset="0"/>
                <a:cs typeface="Times New Roman"/>
              </a:rPr>
              <a:t> </a:t>
            </a:r>
            <a:r>
              <a:rPr sz="1200" b="1" spc="-10" dirty="0">
                <a:latin typeface="Cambria" panose="02040503050406030204" pitchFamily="18" charset="0"/>
                <a:ea typeface="Cambria" panose="02040503050406030204" pitchFamily="18" charset="0"/>
                <a:cs typeface="Times New Roman"/>
              </a:rPr>
              <a:t>OR-</a:t>
            </a:r>
            <a:r>
              <a:rPr sz="1200" b="1" spc="-20" dirty="0">
                <a:latin typeface="Cambria" panose="02040503050406030204" pitchFamily="18" charset="0"/>
                <a:ea typeface="Cambria" panose="02040503050406030204" pitchFamily="18" charset="0"/>
                <a:cs typeface="Times New Roman"/>
              </a:rPr>
              <a:t>Tools/Vehicle</a:t>
            </a:r>
            <a:r>
              <a:rPr sz="1200" b="1" spc="5" dirty="0">
                <a:latin typeface="Cambria" panose="02040503050406030204" pitchFamily="18" charset="0"/>
                <a:ea typeface="Cambria" panose="02040503050406030204" pitchFamily="18" charset="0"/>
                <a:cs typeface="Times New Roman"/>
              </a:rPr>
              <a:t> </a:t>
            </a:r>
            <a:r>
              <a:rPr sz="1200" b="1" dirty="0">
                <a:latin typeface="Cambria" panose="02040503050406030204" pitchFamily="18" charset="0"/>
                <a:ea typeface="Cambria" panose="02040503050406030204" pitchFamily="18" charset="0"/>
                <a:cs typeface="Times New Roman"/>
              </a:rPr>
              <a:t>Routing </a:t>
            </a:r>
            <a:r>
              <a:rPr sz="1200" b="1" spc="-10" dirty="0">
                <a:latin typeface="Cambria" panose="02040503050406030204" pitchFamily="18" charset="0"/>
                <a:ea typeface="Cambria" panose="02040503050406030204" pitchFamily="18" charset="0"/>
                <a:cs typeface="Times New Roman"/>
              </a:rPr>
              <a:t>Problem:</a:t>
            </a:r>
            <a:endParaRPr sz="1200" dirty="0">
              <a:latin typeface="Cambria" panose="02040503050406030204" pitchFamily="18" charset="0"/>
              <a:ea typeface="Cambria" panose="02040503050406030204" pitchFamily="18" charset="0"/>
              <a:cs typeface="Times New Roman"/>
            </a:endParaRPr>
          </a:p>
          <a:p>
            <a:pPr marL="207010">
              <a:lnSpc>
                <a:spcPts val="1320"/>
              </a:lnSpc>
            </a:pPr>
            <a:r>
              <a:rPr sz="1200" u="sng" spc="-10" dirty="0">
                <a:solidFill>
                  <a:srgbClr val="0563C1"/>
                </a:solidFill>
                <a:uFill>
                  <a:solidFill>
                    <a:srgbClr val="0563C1"/>
                  </a:solidFill>
                </a:uFill>
                <a:latin typeface="Cambria" panose="02040503050406030204" pitchFamily="18" charset="0"/>
                <a:ea typeface="Cambria" panose="02040503050406030204" pitchFamily="18" charset="0"/>
                <a:cs typeface="Times New Roman"/>
              </a:rPr>
              <a:t>https://developers.google.com/optimization/routing/vrp</a:t>
            </a:r>
            <a:endParaRPr sz="1200" dirty="0">
              <a:latin typeface="Cambria" panose="02040503050406030204" pitchFamily="18" charset="0"/>
              <a:ea typeface="Cambria" panose="02040503050406030204" pitchFamily="18" charset="0"/>
              <a:cs typeface="Times New Roman"/>
            </a:endParaRPr>
          </a:p>
          <a:p>
            <a:pPr marL="207010" indent="-194310">
              <a:lnSpc>
                <a:spcPts val="1305"/>
              </a:lnSpc>
              <a:spcBef>
                <a:spcPts val="430"/>
              </a:spcBef>
              <a:buFont typeface="Arial"/>
              <a:buChar char="•"/>
              <a:tabLst>
                <a:tab pos="207010" algn="l"/>
              </a:tabLst>
            </a:pPr>
            <a:r>
              <a:rPr sz="1200" b="1" spc="-10" dirty="0">
                <a:latin typeface="Cambria" panose="02040503050406030204" pitchFamily="18" charset="0"/>
                <a:ea typeface="Cambria" panose="02040503050406030204" pitchFamily="18" charset="0"/>
                <a:cs typeface="Cambria"/>
              </a:rPr>
              <a:t>Larry</a:t>
            </a:r>
            <a:r>
              <a:rPr sz="1200" spc="-10" dirty="0">
                <a:latin typeface="Cambria" panose="02040503050406030204" pitchFamily="18" charset="0"/>
                <a:ea typeface="Cambria" panose="02040503050406030204" pitchFamily="18" charset="0"/>
                <a:cs typeface="Cambria"/>
              </a:rPr>
              <a:t>’s</a:t>
            </a:r>
            <a:r>
              <a:rPr sz="1200" spc="-20" dirty="0">
                <a:latin typeface="Cambria" panose="02040503050406030204" pitchFamily="18" charset="0"/>
                <a:ea typeface="Cambria" panose="02040503050406030204" pitchFamily="18" charset="0"/>
                <a:cs typeface="Cambria"/>
              </a:rPr>
              <a:t> </a:t>
            </a:r>
            <a:r>
              <a:rPr sz="1200" dirty="0">
                <a:latin typeface="Cambria" panose="02040503050406030204" pitchFamily="18" charset="0"/>
                <a:ea typeface="Cambria" panose="02040503050406030204" pitchFamily="18" charset="0"/>
                <a:cs typeface="Cambria"/>
              </a:rPr>
              <a:t>page</a:t>
            </a:r>
            <a:r>
              <a:rPr sz="1200" spc="-25" dirty="0">
                <a:latin typeface="Cambria" panose="02040503050406030204" pitchFamily="18" charset="0"/>
                <a:ea typeface="Cambria" panose="02040503050406030204" pitchFamily="18" charset="0"/>
                <a:cs typeface="Cambria"/>
              </a:rPr>
              <a:t> </a:t>
            </a:r>
            <a:r>
              <a:rPr sz="1200" dirty="0">
                <a:latin typeface="Cambria" panose="02040503050406030204" pitchFamily="18" charset="0"/>
                <a:ea typeface="Cambria" panose="02040503050406030204" pitchFamily="18" charset="0"/>
                <a:cs typeface="Cambria"/>
              </a:rPr>
              <a:t>on</a:t>
            </a:r>
            <a:r>
              <a:rPr sz="1200" spc="-25" dirty="0">
                <a:latin typeface="Cambria" panose="02040503050406030204" pitchFamily="18" charset="0"/>
                <a:ea typeface="Cambria" panose="02040503050406030204" pitchFamily="18" charset="0"/>
                <a:cs typeface="Cambria"/>
              </a:rPr>
              <a:t> </a:t>
            </a:r>
            <a:r>
              <a:rPr sz="1200" spc="-10" dirty="0">
                <a:latin typeface="Cambria" panose="02040503050406030204" pitchFamily="18" charset="0"/>
                <a:ea typeface="Cambria" panose="02040503050406030204" pitchFamily="18" charset="0"/>
                <a:cs typeface="Cambria"/>
              </a:rPr>
              <a:t>Traffic</a:t>
            </a:r>
            <a:r>
              <a:rPr sz="1200" spc="-25" dirty="0">
                <a:latin typeface="Cambria" panose="02040503050406030204" pitchFamily="18" charset="0"/>
                <a:ea typeface="Cambria" panose="02040503050406030204" pitchFamily="18" charset="0"/>
                <a:cs typeface="Cambria"/>
              </a:rPr>
              <a:t> </a:t>
            </a:r>
            <a:r>
              <a:rPr sz="1200" dirty="0">
                <a:latin typeface="Cambria" panose="02040503050406030204" pitchFamily="18" charset="0"/>
                <a:ea typeface="Cambria" panose="02040503050406030204" pitchFamily="18" charset="0"/>
                <a:cs typeface="Cambria"/>
              </a:rPr>
              <a:t>Flow</a:t>
            </a:r>
            <a:r>
              <a:rPr sz="1200" spc="-25" dirty="0">
                <a:latin typeface="Cambria" panose="02040503050406030204" pitchFamily="18" charset="0"/>
                <a:ea typeface="Cambria" panose="02040503050406030204" pitchFamily="18" charset="0"/>
                <a:cs typeface="Cambria"/>
              </a:rPr>
              <a:t> </a:t>
            </a:r>
            <a:r>
              <a:rPr sz="1200" spc="-10" dirty="0">
                <a:latin typeface="Cambria" panose="02040503050406030204" pitchFamily="18" charset="0"/>
                <a:ea typeface="Cambria" panose="02040503050406030204" pitchFamily="18" charset="0"/>
                <a:cs typeface="Cambria"/>
              </a:rPr>
              <a:t>Prediction</a:t>
            </a:r>
            <a:r>
              <a:rPr sz="1200" spc="-25" dirty="0">
                <a:latin typeface="Cambria" panose="02040503050406030204" pitchFamily="18" charset="0"/>
                <a:ea typeface="Cambria" panose="02040503050406030204" pitchFamily="18" charset="0"/>
                <a:cs typeface="Cambria"/>
              </a:rPr>
              <a:t> </a:t>
            </a:r>
            <a:r>
              <a:rPr sz="1200" dirty="0">
                <a:latin typeface="Cambria" panose="02040503050406030204" pitchFamily="18" charset="0"/>
                <a:ea typeface="Cambria" panose="02040503050406030204" pitchFamily="18" charset="0"/>
                <a:cs typeface="Cambria"/>
              </a:rPr>
              <a:t>with</a:t>
            </a:r>
            <a:r>
              <a:rPr sz="1200" spc="-15" dirty="0">
                <a:latin typeface="Cambria" panose="02040503050406030204" pitchFamily="18" charset="0"/>
                <a:ea typeface="Cambria" panose="02040503050406030204" pitchFamily="18" charset="0"/>
                <a:cs typeface="Cambria"/>
              </a:rPr>
              <a:t> </a:t>
            </a:r>
            <a:r>
              <a:rPr sz="1200" spc="-10" dirty="0">
                <a:latin typeface="Cambria" panose="02040503050406030204" pitchFamily="18" charset="0"/>
                <a:ea typeface="Cambria" panose="02040503050406030204" pitchFamily="18" charset="0"/>
                <a:cs typeface="Cambria"/>
              </a:rPr>
              <a:t>Neural</a:t>
            </a:r>
            <a:r>
              <a:rPr sz="1200" spc="-15" dirty="0">
                <a:latin typeface="Cambria" panose="02040503050406030204" pitchFamily="18" charset="0"/>
                <a:ea typeface="Cambria" panose="02040503050406030204" pitchFamily="18" charset="0"/>
                <a:cs typeface="Cambria"/>
              </a:rPr>
              <a:t> </a:t>
            </a:r>
            <a:r>
              <a:rPr sz="1200" spc="-20" dirty="0">
                <a:latin typeface="Cambria" panose="02040503050406030204" pitchFamily="18" charset="0"/>
                <a:ea typeface="Cambria" panose="02040503050406030204" pitchFamily="18" charset="0"/>
                <a:cs typeface="Cambria"/>
              </a:rPr>
              <a:t>Networks(SAEs, </a:t>
            </a:r>
            <a:r>
              <a:rPr sz="1200" spc="-10" dirty="0">
                <a:latin typeface="Cambria" panose="02040503050406030204" pitchFamily="18" charset="0"/>
                <a:ea typeface="Cambria" panose="02040503050406030204" pitchFamily="18" charset="0"/>
                <a:cs typeface="Cambria"/>
              </a:rPr>
              <a:t>LSTM,</a:t>
            </a:r>
            <a:r>
              <a:rPr sz="1200" spc="-20" dirty="0">
                <a:latin typeface="Cambria" panose="02040503050406030204" pitchFamily="18" charset="0"/>
                <a:ea typeface="Cambria" panose="02040503050406030204" pitchFamily="18" charset="0"/>
                <a:cs typeface="Cambria"/>
              </a:rPr>
              <a:t> </a:t>
            </a:r>
            <a:r>
              <a:rPr sz="1200" spc="-10" dirty="0">
                <a:latin typeface="Cambria" panose="02040503050406030204" pitchFamily="18" charset="0"/>
                <a:ea typeface="Cambria" panose="02040503050406030204" pitchFamily="18" charset="0"/>
                <a:cs typeface="Cambria"/>
              </a:rPr>
              <a:t>GRU):</a:t>
            </a:r>
            <a:endParaRPr sz="1200" dirty="0">
              <a:latin typeface="Cambria" panose="02040503050406030204" pitchFamily="18" charset="0"/>
              <a:ea typeface="Cambria" panose="02040503050406030204" pitchFamily="18" charset="0"/>
              <a:cs typeface="Cambria"/>
            </a:endParaRPr>
          </a:p>
          <a:p>
            <a:pPr marL="207010">
              <a:lnSpc>
                <a:spcPts val="1305"/>
              </a:lnSpc>
            </a:pPr>
            <a:r>
              <a:rPr sz="1200" u="sng" spc="-10" dirty="0">
                <a:solidFill>
                  <a:srgbClr val="0563C1"/>
                </a:solidFill>
                <a:uFill>
                  <a:solidFill>
                    <a:srgbClr val="0563C1"/>
                  </a:solidFill>
                </a:uFill>
                <a:latin typeface="Cambria" panose="02040503050406030204" pitchFamily="18" charset="0"/>
                <a:ea typeface="Cambria" panose="02040503050406030204" pitchFamily="18" charset="0"/>
                <a:cs typeface="Arial"/>
              </a:rPr>
              <a:t>https://github.com/xiaochus/TrafficFlowPrediction</a:t>
            </a:r>
            <a:endParaRPr sz="1200" dirty="0">
              <a:latin typeface="Cambria" panose="02040503050406030204" pitchFamily="18" charset="0"/>
              <a:ea typeface="Cambria" panose="02040503050406030204" pitchFamily="18" charset="0"/>
              <a:cs typeface="Arial"/>
            </a:endParaRPr>
          </a:p>
          <a:p>
            <a:pPr marL="207010" marR="5080" indent="-194945">
              <a:lnSpc>
                <a:spcPct val="102099"/>
              </a:lnSpc>
              <a:spcBef>
                <a:spcPts val="345"/>
              </a:spcBef>
              <a:buFont typeface="Arial"/>
              <a:buChar char="•"/>
              <a:tabLst>
                <a:tab pos="207010" algn="l"/>
              </a:tabLst>
            </a:pPr>
            <a:r>
              <a:rPr sz="1200" b="1" spc="-10" dirty="0">
                <a:latin typeface="Cambria" panose="02040503050406030204" pitchFamily="18" charset="0"/>
                <a:ea typeface="Cambria" panose="02040503050406030204" pitchFamily="18" charset="0"/>
                <a:cs typeface="Cambria"/>
              </a:rPr>
              <a:t>Google</a:t>
            </a:r>
            <a:r>
              <a:rPr sz="1200" b="1" spc="40" dirty="0">
                <a:latin typeface="Cambria" panose="02040503050406030204" pitchFamily="18" charset="0"/>
                <a:ea typeface="Cambria" panose="02040503050406030204" pitchFamily="18" charset="0"/>
                <a:cs typeface="Cambria"/>
              </a:rPr>
              <a:t> </a:t>
            </a:r>
            <a:r>
              <a:rPr sz="1200" spc="65" dirty="0">
                <a:solidFill>
                  <a:srgbClr val="263238"/>
                </a:solidFill>
                <a:latin typeface="Cambria" panose="02040503050406030204" pitchFamily="18" charset="0"/>
                <a:ea typeface="Cambria" panose="02040503050406030204" pitchFamily="18" charset="0"/>
                <a:cs typeface="Gill Sans MT"/>
              </a:rPr>
              <a:t>Machine</a:t>
            </a:r>
            <a:r>
              <a:rPr sz="1200" spc="15" dirty="0">
                <a:solidFill>
                  <a:srgbClr val="263238"/>
                </a:solidFill>
                <a:latin typeface="Cambria" panose="02040503050406030204" pitchFamily="18" charset="0"/>
                <a:ea typeface="Cambria" panose="02040503050406030204" pitchFamily="18" charset="0"/>
                <a:cs typeface="Gill Sans MT"/>
              </a:rPr>
              <a:t> </a:t>
            </a:r>
            <a:r>
              <a:rPr sz="1200" spc="45" dirty="0">
                <a:solidFill>
                  <a:srgbClr val="263238"/>
                </a:solidFill>
                <a:latin typeface="Cambria" panose="02040503050406030204" pitchFamily="18" charset="0"/>
                <a:ea typeface="Cambria" panose="02040503050406030204" pitchFamily="18" charset="0"/>
                <a:cs typeface="Gill Sans MT"/>
              </a:rPr>
              <a:t>Learning</a:t>
            </a:r>
            <a:r>
              <a:rPr sz="1200" spc="20" dirty="0">
                <a:solidFill>
                  <a:srgbClr val="263238"/>
                </a:solidFill>
                <a:latin typeface="Cambria" panose="02040503050406030204" pitchFamily="18" charset="0"/>
                <a:ea typeface="Cambria" panose="02040503050406030204" pitchFamily="18" charset="0"/>
                <a:cs typeface="Gill Sans MT"/>
              </a:rPr>
              <a:t> </a:t>
            </a:r>
            <a:r>
              <a:rPr sz="1200" dirty="0">
                <a:solidFill>
                  <a:srgbClr val="263238"/>
                </a:solidFill>
                <a:latin typeface="Cambria" panose="02040503050406030204" pitchFamily="18" charset="0"/>
                <a:ea typeface="Cambria" panose="02040503050406030204" pitchFamily="18" charset="0"/>
                <a:cs typeface="Gill Sans MT"/>
              </a:rPr>
              <a:t>Crash</a:t>
            </a:r>
            <a:r>
              <a:rPr sz="1200" spc="25" dirty="0">
                <a:solidFill>
                  <a:srgbClr val="263238"/>
                </a:solidFill>
                <a:latin typeface="Cambria" panose="02040503050406030204" pitchFamily="18" charset="0"/>
                <a:ea typeface="Cambria" panose="02040503050406030204" pitchFamily="18" charset="0"/>
                <a:cs typeface="Gill Sans MT"/>
              </a:rPr>
              <a:t> </a:t>
            </a:r>
            <a:r>
              <a:rPr sz="1200" dirty="0">
                <a:solidFill>
                  <a:srgbClr val="263238"/>
                </a:solidFill>
                <a:latin typeface="Cambria" panose="02040503050406030204" pitchFamily="18" charset="0"/>
                <a:ea typeface="Cambria" panose="02040503050406030204" pitchFamily="18" charset="0"/>
                <a:cs typeface="Gill Sans MT"/>
              </a:rPr>
              <a:t>Course:</a:t>
            </a:r>
            <a:r>
              <a:rPr sz="1200" spc="20" dirty="0">
                <a:solidFill>
                  <a:srgbClr val="263238"/>
                </a:solidFill>
                <a:latin typeface="Cambria" panose="02040503050406030204" pitchFamily="18" charset="0"/>
                <a:ea typeface="Cambria" panose="02040503050406030204" pitchFamily="18" charset="0"/>
                <a:cs typeface="Gill Sans MT"/>
              </a:rPr>
              <a:t> </a:t>
            </a:r>
            <a:r>
              <a:rPr sz="1200" u="sng" spc="-10" dirty="0">
                <a:solidFill>
                  <a:srgbClr val="0563C1"/>
                </a:solidFill>
                <a:uFill>
                  <a:solidFill>
                    <a:srgbClr val="0563C1"/>
                  </a:solidFill>
                </a:uFill>
                <a:latin typeface="Cambria" panose="02040503050406030204" pitchFamily="18" charset="0"/>
                <a:ea typeface="Cambria" panose="02040503050406030204" pitchFamily="18" charset="0"/>
                <a:cs typeface="Arial"/>
              </a:rPr>
              <a:t>https://developers.google.com/machine-</a:t>
            </a:r>
            <a:r>
              <a:rPr sz="1200" spc="-10" dirty="0">
                <a:solidFill>
                  <a:srgbClr val="0563C1"/>
                </a:solidFill>
                <a:latin typeface="Cambria" panose="02040503050406030204" pitchFamily="18" charset="0"/>
                <a:ea typeface="Cambria" panose="02040503050406030204" pitchFamily="18" charset="0"/>
                <a:cs typeface="Arial"/>
              </a:rPr>
              <a:t> </a:t>
            </a:r>
            <a:r>
              <a:rPr sz="1200" u="sng" spc="-10" dirty="0">
                <a:solidFill>
                  <a:srgbClr val="0563C1"/>
                </a:solidFill>
                <a:uFill>
                  <a:solidFill>
                    <a:srgbClr val="0563C1"/>
                  </a:solidFill>
                </a:uFill>
                <a:latin typeface="Cambria" panose="02040503050406030204" pitchFamily="18" charset="0"/>
                <a:ea typeface="Cambria" panose="02040503050406030204" pitchFamily="18" charset="0"/>
                <a:cs typeface="Arial"/>
              </a:rPr>
              <a:t>learning/crash-course/</a:t>
            </a:r>
            <a:endParaRPr sz="1200" dirty="0">
              <a:latin typeface="Cambria" panose="02040503050406030204" pitchFamily="18" charset="0"/>
              <a:ea typeface="Cambria" panose="02040503050406030204" pitchFamily="18" charset="0"/>
              <a:cs typeface="Arial"/>
            </a:endParaRPr>
          </a:p>
          <a:p>
            <a:pPr marL="207010" indent="-194310">
              <a:spcBef>
                <a:spcPts val="365"/>
              </a:spcBef>
              <a:buFont typeface="Arial"/>
              <a:buChar char="•"/>
              <a:tabLst>
                <a:tab pos="207010" algn="l"/>
              </a:tabLst>
            </a:pPr>
            <a:r>
              <a:rPr sz="1200" b="1" spc="-30" dirty="0">
                <a:latin typeface="Cambria" panose="02040503050406030204" pitchFamily="18" charset="0"/>
                <a:ea typeface="Cambria" panose="02040503050406030204" pitchFamily="18" charset="0"/>
                <a:cs typeface="Cambria"/>
              </a:rPr>
              <a:t>AUTOMATED</a:t>
            </a:r>
            <a:r>
              <a:rPr sz="1200" b="1" spc="-5" dirty="0">
                <a:latin typeface="Cambria" panose="02040503050406030204" pitchFamily="18" charset="0"/>
                <a:ea typeface="Cambria" panose="02040503050406030204" pitchFamily="18" charset="0"/>
                <a:cs typeface="Cambria"/>
              </a:rPr>
              <a:t> </a:t>
            </a:r>
            <a:r>
              <a:rPr sz="1200" b="1" spc="-25" dirty="0">
                <a:latin typeface="Cambria" panose="02040503050406030204" pitchFamily="18" charset="0"/>
                <a:ea typeface="Cambria" panose="02040503050406030204" pitchFamily="18" charset="0"/>
                <a:cs typeface="Cambria"/>
              </a:rPr>
              <a:t>NEGOTIATING</a:t>
            </a:r>
            <a:r>
              <a:rPr sz="1200" b="1" dirty="0">
                <a:latin typeface="Cambria" panose="02040503050406030204" pitchFamily="18" charset="0"/>
                <a:ea typeface="Cambria" panose="02040503050406030204" pitchFamily="18" charset="0"/>
                <a:cs typeface="Cambria"/>
              </a:rPr>
              <a:t> </a:t>
            </a:r>
            <a:r>
              <a:rPr sz="1200" b="1" spc="-10" dirty="0">
                <a:latin typeface="Cambria" panose="02040503050406030204" pitchFamily="18" charset="0"/>
                <a:ea typeface="Cambria" panose="02040503050406030204" pitchFamily="18" charset="0"/>
                <a:cs typeface="Cambria"/>
              </a:rPr>
              <a:t>AGENT</a:t>
            </a:r>
            <a:r>
              <a:rPr sz="1200" b="1" dirty="0">
                <a:latin typeface="Cambria" panose="02040503050406030204" pitchFamily="18" charset="0"/>
                <a:ea typeface="Cambria" panose="02040503050406030204" pitchFamily="18" charset="0"/>
                <a:cs typeface="Cambria"/>
              </a:rPr>
              <a:t> </a:t>
            </a:r>
            <a:r>
              <a:rPr sz="1200" b="1" spc="-10" dirty="0">
                <a:latin typeface="Cambria" panose="02040503050406030204" pitchFamily="18" charset="0"/>
                <a:ea typeface="Cambria" panose="02040503050406030204" pitchFamily="18" charset="0"/>
                <a:cs typeface="Cambria"/>
              </a:rPr>
              <a:t>COMPETITION</a:t>
            </a:r>
            <a:r>
              <a:rPr sz="1200" b="1" dirty="0">
                <a:latin typeface="Cambria" panose="02040503050406030204" pitchFamily="18" charset="0"/>
                <a:ea typeface="Cambria" panose="02040503050406030204" pitchFamily="18" charset="0"/>
                <a:cs typeface="Cambria"/>
              </a:rPr>
              <a:t> </a:t>
            </a:r>
            <a:r>
              <a:rPr sz="1200" spc="-10" dirty="0">
                <a:latin typeface="Cambria" panose="02040503050406030204" pitchFamily="18" charset="0"/>
                <a:ea typeface="Cambria" panose="02040503050406030204" pitchFamily="18" charset="0"/>
                <a:cs typeface="Cambria"/>
              </a:rPr>
              <a:t>(ANAC):</a:t>
            </a:r>
            <a:endParaRPr sz="1200" dirty="0">
              <a:latin typeface="Cambria" panose="02040503050406030204" pitchFamily="18" charset="0"/>
              <a:ea typeface="Cambria" panose="02040503050406030204" pitchFamily="18" charset="0"/>
              <a:cs typeface="Cambria"/>
            </a:endParaRPr>
          </a:p>
          <a:p>
            <a:pPr marL="207010" marR="2507615">
              <a:lnSpc>
                <a:spcPct val="131400"/>
              </a:lnSpc>
              <a:spcBef>
                <a:spcPts val="15"/>
              </a:spcBef>
            </a:pPr>
            <a:r>
              <a:rPr sz="1200" u="sng" spc="-20" dirty="0">
                <a:solidFill>
                  <a:srgbClr val="0563C1"/>
                </a:solidFill>
                <a:uFill>
                  <a:solidFill>
                    <a:srgbClr val="0563C1"/>
                  </a:solidFill>
                </a:uFill>
                <a:latin typeface="Cambria" panose="02040503050406030204" pitchFamily="18" charset="0"/>
                <a:ea typeface="Cambria" panose="02040503050406030204" pitchFamily="18" charset="0"/>
                <a:cs typeface="Arial"/>
              </a:rPr>
              <a:t>https://</a:t>
            </a:r>
            <a:r>
              <a:rPr sz="1200" u="sng" spc="-20" dirty="0">
                <a:solidFill>
                  <a:srgbClr val="0563C1"/>
                </a:solidFill>
                <a:uFill>
                  <a:solidFill>
                    <a:srgbClr val="0563C1"/>
                  </a:solidFill>
                </a:uFill>
                <a:latin typeface="Cambria" panose="02040503050406030204" pitchFamily="18" charset="0"/>
                <a:ea typeface="Cambria" panose="02040503050406030204" pitchFamily="18" charset="0"/>
                <a:cs typeface="Arial"/>
                <a:hlinkClick r:id="rId3"/>
              </a:rPr>
              <a:t>www.ijcai</a:t>
            </a:r>
            <a:r>
              <a:rPr lang="en-US" sz="1200" u="sng" spc="-20" dirty="0">
                <a:solidFill>
                  <a:srgbClr val="0563C1"/>
                </a:solidFill>
                <a:uFill>
                  <a:solidFill>
                    <a:srgbClr val="0563C1"/>
                  </a:solidFill>
                </a:uFill>
                <a:latin typeface="Cambria" panose="02040503050406030204" pitchFamily="18" charset="0"/>
                <a:ea typeface="Cambria" panose="02040503050406030204" pitchFamily="18" charset="0"/>
                <a:cs typeface="Arial"/>
                <a:hlinkClick r:id="rId3"/>
              </a:rPr>
              <a:t>-</a:t>
            </a:r>
            <a:r>
              <a:rPr sz="1200" u="sng" spc="-10" dirty="0">
                <a:solidFill>
                  <a:srgbClr val="0563C1"/>
                </a:solidFill>
                <a:uFill>
                  <a:solidFill>
                    <a:srgbClr val="0563C1"/>
                  </a:solidFill>
                </a:uFill>
                <a:latin typeface="Cambria" panose="02040503050406030204" pitchFamily="18" charset="0"/>
                <a:ea typeface="Cambria" panose="02040503050406030204" pitchFamily="18" charset="0"/>
                <a:cs typeface="Arial"/>
                <a:hlinkClick r:id="rId3"/>
              </a:rPr>
              <a:t>18.org/anac/index.html</a:t>
            </a:r>
            <a:r>
              <a:rPr sz="1200" spc="-10" dirty="0">
                <a:solidFill>
                  <a:srgbClr val="0563C1"/>
                </a:solidFill>
                <a:latin typeface="Cambria" panose="02040503050406030204" pitchFamily="18" charset="0"/>
                <a:ea typeface="Cambria" panose="02040503050406030204" pitchFamily="18" charset="0"/>
                <a:cs typeface="Arial"/>
              </a:rPr>
              <a:t> </a:t>
            </a:r>
            <a:r>
              <a:rPr sz="1200" u="sng" spc="-10" dirty="0">
                <a:solidFill>
                  <a:srgbClr val="0563C1"/>
                </a:solidFill>
                <a:uFill>
                  <a:solidFill>
                    <a:srgbClr val="0563C1"/>
                  </a:solidFill>
                </a:uFill>
                <a:latin typeface="Cambria" panose="02040503050406030204" pitchFamily="18" charset="0"/>
                <a:ea typeface="Cambria" panose="02040503050406030204" pitchFamily="18" charset="0"/>
                <a:cs typeface="Arial"/>
                <a:hlinkClick r:id="rId4"/>
              </a:rPr>
              <a:t>http://web.tuat.ac.jp/~katfuji/ANAC2018/</a:t>
            </a:r>
            <a:endParaRPr sz="1200" dirty="0">
              <a:latin typeface="Cambria" panose="02040503050406030204" pitchFamily="18" charset="0"/>
              <a:ea typeface="Cambria" panose="02040503050406030204" pitchFamily="18" charset="0"/>
              <a:cs typeface="Arial"/>
            </a:endParaRPr>
          </a:p>
          <a:p>
            <a:pPr marL="207010" indent="-194310">
              <a:spcBef>
                <a:spcPts val="370"/>
              </a:spcBef>
              <a:buFont typeface="Arial"/>
              <a:buChar char="•"/>
              <a:tabLst>
                <a:tab pos="207010" algn="l"/>
              </a:tabLst>
            </a:pPr>
            <a:r>
              <a:rPr sz="1200" spc="-10" dirty="0">
                <a:solidFill>
                  <a:srgbClr val="C00000"/>
                </a:solidFill>
                <a:latin typeface="Cambria" panose="02040503050406030204" pitchFamily="18" charset="0"/>
                <a:ea typeface="Cambria" panose="02040503050406030204" pitchFamily="18" charset="0"/>
                <a:cs typeface="Cambria"/>
              </a:rPr>
              <a:t>JADE tutorials,</a:t>
            </a:r>
            <a:r>
              <a:rPr sz="1200" spc="-15" dirty="0">
                <a:solidFill>
                  <a:srgbClr val="C00000"/>
                </a:solidFill>
                <a:latin typeface="Cambria" panose="02040503050406030204" pitchFamily="18" charset="0"/>
                <a:ea typeface="Cambria" panose="02040503050406030204" pitchFamily="18" charset="0"/>
                <a:cs typeface="Cambria"/>
              </a:rPr>
              <a:t> </a:t>
            </a:r>
            <a:r>
              <a:rPr sz="1200" spc="-10" dirty="0">
                <a:solidFill>
                  <a:srgbClr val="C00000"/>
                </a:solidFill>
                <a:latin typeface="Cambria" panose="02040503050406030204" pitchFamily="18" charset="0"/>
                <a:ea typeface="Cambria" panose="02040503050406030204" pitchFamily="18" charset="0"/>
                <a:cs typeface="Cambria"/>
              </a:rPr>
              <a:t>documentation</a:t>
            </a:r>
            <a:r>
              <a:rPr sz="1200" spc="-15" dirty="0">
                <a:solidFill>
                  <a:srgbClr val="C00000"/>
                </a:solidFill>
                <a:latin typeface="Cambria" panose="02040503050406030204" pitchFamily="18" charset="0"/>
                <a:ea typeface="Cambria" panose="02040503050406030204" pitchFamily="18" charset="0"/>
                <a:cs typeface="Cambria"/>
              </a:rPr>
              <a:t> </a:t>
            </a:r>
            <a:r>
              <a:rPr sz="1200" dirty="0">
                <a:solidFill>
                  <a:srgbClr val="C00000"/>
                </a:solidFill>
                <a:latin typeface="Cambria" panose="02040503050406030204" pitchFamily="18" charset="0"/>
                <a:ea typeface="Cambria" panose="02040503050406030204" pitchFamily="18" charset="0"/>
                <a:cs typeface="Cambria"/>
              </a:rPr>
              <a:t>and</a:t>
            </a:r>
            <a:r>
              <a:rPr sz="1200" spc="-15" dirty="0">
                <a:solidFill>
                  <a:srgbClr val="C00000"/>
                </a:solidFill>
                <a:latin typeface="Cambria" panose="02040503050406030204" pitchFamily="18" charset="0"/>
                <a:ea typeface="Cambria" panose="02040503050406030204" pitchFamily="18" charset="0"/>
                <a:cs typeface="Cambria"/>
              </a:rPr>
              <a:t> </a:t>
            </a:r>
            <a:r>
              <a:rPr sz="1200" spc="-10" dirty="0">
                <a:solidFill>
                  <a:srgbClr val="C00000"/>
                </a:solidFill>
                <a:latin typeface="Cambria" panose="02040503050406030204" pitchFamily="18" charset="0"/>
                <a:ea typeface="Cambria" panose="02040503050406030204" pitchFamily="18" charset="0"/>
                <a:cs typeface="Cambria"/>
              </a:rPr>
              <a:t>guidelines </a:t>
            </a:r>
            <a:r>
              <a:rPr sz="1200" spc="-20" dirty="0">
                <a:latin typeface="Cambria" panose="02040503050406030204" pitchFamily="18" charset="0"/>
                <a:ea typeface="Cambria" panose="02040503050406030204" pitchFamily="18" charset="0"/>
                <a:cs typeface="Cambria"/>
              </a:rPr>
              <a:t>from</a:t>
            </a:r>
            <a:endParaRPr sz="1200" dirty="0">
              <a:latin typeface="Cambria" panose="02040503050406030204" pitchFamily="18" charset="0"/>
              <a:ea typeface="Cambria" panose="02040503050406030204" pitchFamily="18" charset="0"/>
              <a:cs typeface="Cambria"/>
            </a:endParaRPr>
          </a:p>
          <a:p>
            <a:pPr marL="713105">
              <a:spcBef>
                <a:spcPts val="415"/>
              </a:spcBef>
            </a:pPr>
            <a:r>
              <a:rPr sz="1200" u="sng" spc="-10" dirty="0">
                <a:solidFill>
                  <a:srgbClr val="0563C1"/>
                </a:solidFill>
                <a:uFill>
                  <a:solidFill>
                    <a:srgbClr val="0563C1"/>
                  </a:solidFill>
                </a:uFill>
                <a:latin typeface="Cambria" panose="02040503050406030204" pitchFamily="18" charset="0"/>
                <a:ea typeface="Cambria" panose="02040503050406030204" pitchFamily="18" charset="0"/>
                <a:cs typeface="Arial"/>
              </a:rPr>
              <a:t>https://jade.tilab.com/documentation/tutorials-guides/</a:t>
            </a:r>
            <a:endParaRPr sz="1200" dirty="0">
              <a:latin typeface="Cambria" panose="02040503050406030204" pitchFamily="18" charset="0"/>
              <a:ea typeface="Cambria" panose="02040503050406030204" pitchFamily="18" charset="0"/>
              <a:cs typeface="Arial"/>
            </a:endParaRPr>
          </a:p>
          <a:p>
            <a:pPr>
              <a:spcBef>
                <a:spcPts val="15"/>
              </a:spcBef>
            </a:pPr>
            <a:endParaRPr sz="1200" dirty="0">
              <a:latin typeface="Cambria" panose="02040503050406030204" pitchFamily="18" charset="0"/>
              <a:ea typeface="Cambria" panose="02040503050406030204" pitchFamily="18" charset="0"/>
              <a:cs typeface="Arial"/>
            </a:endParaRPr>
          </a:p>
          <a:p>
            <a:pPr marL="207010" indent="-194310">
              <a:buFont typeface="Arial"/>
              <a:buChar char="•"/>
              <a:tabLst>
                <a:tab pos="207010" algn="l"/>
              </a:tabLst>
            </a:pPr>
            <a:r>
              <a:rPr sz="1200" dirty="0">
                <a:latin typeface="Cambria" panose="02040503050406030204" pitchFamily="18" charset="0"/>
                <a:ea typeface="Cambria" panose="02040503050406030204" pitchFamily="18" charset="0"/>
                <a:cs typeface="Times New Roman"/>
              </a:rPr>
              <a:t>“Complete</a:t>
            </a:r>
            <a:r>
              <a:rPr sz="1200" spc="-5" dirty="0">
                <a:latin typeface="Cambria" panose="02040503050406030204" pitchFamily="18" charset="0"/>
                <a:ea typeface="Cambria" panose="02040503050406030204" pitchFamily="18" charset="0"/>
                <a:cs typeface="Times New Roman"/>
              </a:rPr>
              <a:t> </a:t>
            </a:r>
            <a:r>
              <a:rPr sz="1200" dirty="0">
                <a:latin typeface="Cambria" panose="02040503050406030204" pitchFamily="18" charset="0"/>
                <a:ea typeface="Cambria" panose="02040503050406030204" pitchFamily="18" charset="0"/>
                <a:cs typeface="Times New Roman"/>
              </a:rPr>
              <a:t>Guide</a:t>
            </a:r>
            <a:r>
              <a:rPr sz="1200" spc="5" dirty="0">
                <a:latin typeface="Cambria" panose="02040503050406030204" pitchFamily="18" charset="0"/>
                <a:ea typeface="Cambria" panose="02040503050406030204" pitchFamily="18" charset="0"/>
                <a:cs typeface="Times New Roman"/>
              </a:rPr>
              <a:t> </a:t>
            </a:r>
            <a:r>
              <a:rPr sz="1200" dirty="0">
                <a:latin typeface="Cambria" panose="02040503050406030204" pitchFamily="18" charset="0"/>
                <a:ea typeface="Cambria" panose="02040503050406030204" pitchFamily="18" charset="0"/>
                <a:cs typeface="Times New Roman"/>
              </a:rPr>
              <a:t>to</a:t>
            </a:r>
            <a:r>
              <a:rPr sz="1200" spc="5" dirty="0">
                <a:latin typeface="Cambria" panose="02040503050406030204" pitchFamily="18" charset="0"/>
                <a:ea typeface="Cambria" panose="02040503050406030204" pitchFamily="18" charset="0"/>
                <a:cs typeface="Times New Roman"/>
              </a:rPr>
              <a:t> </a:t>
            </a:r>
            <a:r>
              <a:rPr sz="1200" dirty="0">
                <a:latin typeface="Cambria" panose="02040503050406030204" pitchFamily="18" charset="0"/>
                <a:ea typeface="Cambria" panose="02040503050406030204" pitchFamily="18" charset="0"/>
                <a:cs typeface="Times New Roman"/>
              </a:rPr>
              <a:t>LLM</a:t>
            </a:r>
            <a:r>
              <a:rPr sz="1200" spc="-70" dirty="0">
                <a:latin typeface="Cambria" panose="02040503050406030204" pitchFamily="18" charset="0"/>
                <a:ea typeface="Cambria" panose="02040503050406030204" pitchFamily="18" charset="0"/>
                <a:cs typeface="Times New Roman"/>
              </a:rPr>
              <a:t> </a:t>
            </a:r>
            <a:r>
              <a:rPr sz="1200" dirty="0">
                <a:latin typeface="Cambria" panose="02040503050406030204" pitchFamily="18" charset="0"/>
                <a:ea typeface="Cambria" panose="02040503050406030204" pitchFamily="18" charset="0"/>
                <a:cs typeface="Times New Roman"/>
              </a:rPr>
              <a:t>Agents (2025)”</a:t>
            </a:r>
            <a:r>
              <a:rPr sz="1200" spc="5" dirty="0">
                <a:latin typeface="Cambria" panose="02040503050406030204" pitchFamily="18" charset="0"/>
                <a:ea typeface="Cambria" panose="02040503050406030204" pitchFamily="18" charset="0"/>
                <a:cs typeface="Times New Roman"/>
              </a:rPr>
              <a:t> </a:t>
            </a:r>
            <a:r>
              <a:rPr sz="1200" dirty="0">
                <a:latin typeface="Cambria" panose="02040503050406030204" pitchFamily="18" charset="0"/>
                <a:ea typeface="Cambria" panose="02040503050406030204" pitchFamily="18" charset="0"/>
                <a:cs typeface="Times New Roman"/>
              </a:rPr>
              <a:t>by</a:t>
            </a:r>
            <a:r>
              <a:rPr sz="1200" spc="5" dirty="0">
                <a:latin typeface="Cambria" panose="02040503050406030204" pitchFamily="18" charset="0"/>
                <a:ea typeface="Cambria" panose="02040503050406030204" pitchFamily="18" charset="0"/>
                <a:cs typeface="Times New Roman"/>
              </a:rPr>
              <a:t> </a:t>
            </a:r>
            <a:r>
              <a:rPr sz="1200" dirty="0">
                <a:latin typeface="Cambria" panose="02040503050406030204" pitchFamily="18" charset="0"/>
                <a:ea typeface="Cambria" panose="02040503050406030204" pitchFamily="18" charset="0"/>
                <a:cs typeface="Times New Roman"/>
              </a:rPr>
              <a:t>Sarah</a:t>
            </a:r>
            <a:r>
              <a:rPr sz="1200" spc="5" dirty="0">
                <a:latin typeface="Cambria" panose="02040503050406030204" pitchFamily="18" charset="0"/>
                <a:ea typeface="Cambria" panose="02040503050406030204" pitchFamily="18" charset="0"/>
                <a:cs typeface="Times New Roman"/>
              </a:rPr>
              <a:t> </a:t>
            </a:r>
            <a:r>
              <a:rPr sz="1200" spc="-10" dirty="0">
                <a:latin typeface="Cambria" panose="02040503050406030204" pitchFamily="18" charset="0"/>
                <a:ea typeface="Cambria" panose="02040503050406030204" pitchFamily="18" charset="0"/>
                <a:cs typeface="Times New Roman"/>
              </a:rPr>
              <a:t>Chudleigh</a:t>
            </a:r>
            <a:endParaRPr sz="1200" dirty="0">
              <a:latin typeface="Cambria" panose="02040503050406030204" pitchFamily="18" charset="0"/>
              <a:ea typeface="Cambria" panose="02040503050406030204" pitchFamily="18" charset="0"/>
              <a:cs typeface="Times New Roman"/>
            </a:endParaRPr>
          </a:p>
          <a:p>
            <a:pPr marL="713105">
              <a:spcBef>
                <a:spcPts val="465"/>
              </a:spcBef>
            </a:pPr>
            <a:r>
              <a:rPr sz="1200" u="sng" dirty="0">
                <a:solidFill>
                  <a:srgbClr val="0000FF"/>
                </a:solidFill>
                <a:uFill>
                  <a:solidFill>
                    <a:srgbClr val="0000FF"/>
                  </a:solidFill>
                </a:uFill>
                <a:latin typeface="Cambria" panose="02040503050406030204" pitchFamily="18" charset="0"/>
                <a:ea typeface="Cambria" panose="02040503050406030204" pitchFamily="18" charset="0"/>
                <a:cs typeface="Times New Roman"/>
              </a:rPr>
              <a:t>https://botpress.com/blog/llm-</a:t>
            </a:r>
            <a:r>
              <a:rPr sz="1200" u="sng" spc="-10" dirty="0">
                <a:solidFill>
                  <a:srgbClr val="0000FF"/>
                </a:solidFill>
                <a:uFill>
                  <a:solidFill>
                    <a:srgbClr val="0000FF"/>
                  </a:solidFill>
                </a:uFill>
                <a:latin typeface="Cambria" panose="02040503050406030204" pitchFamily="18" charset="0"/>
                <a:ea typeface="Cambria" panose="02040503050406030204" pitchFamily="18" charset="0"/>
                <a:cs typeface="Times New Roman"/>
              </a:rPr>
              <a:t>agents</a:t>
            </a:r>
            <a:endParaRPr sz="1200" dirty="0">
              <a:latin typeface="Cambria" panose="02040503050406030204" pitchFamily="18" charset="0"/>
              <a:ea typeface="Cambria" panose="02040503050406030204" pitchFamily="18" charset="0"/>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7850" y="234950"/>
            <a:ext cx="5334000" cy="4183709"/>
          </a:xfrm>
          <a:prstGeom prst="rect">
            <a:avLst/>
          </a:prstGeom>
        </p:spPr>
        <p:txBody>
          <a:bodyPr vert="horz" wrap="square" lIns="0" tIns="187325" rIns="0" bIns="0" rtlCol="0">
            <a:spAutoFit/>
          </a:bodyPr>
          <a:lstStyle/>
          <a:p>
            <a:pPr marL="209550">
              <a:spcBef>
                <a:spcPts val="1475"/>
              </a:spcBef>
            </a:pPr>
            <a:r>
              <a:rPr sz="1900" b="1" dirty="0">
                <a:latin typeface="Cambria" panose="02040503050406030204" pitchFamily="18" charset="0"/>
                <a:ea typeface="Cambria" panose="02040503050406030204" pitchFamily="18" charset="0"/>
                <a:cs typeface="Cambria"/>
              </a:rPr>
              <a:t>TODO</a:t>
            </a:r>
            <a:r>
              <a:rPr sz="1900" b="1" spc="-55" dirty="0">
                <a:latin typeface="Cambria" panose="02040503050406030204" pitchFamily="18" charset="0"/>
                <a:ea typeface="Cambria" panose="02040503050406030204" pitchFamily="18" charset="0"/>
                <a:cs typeface="Cambria"/>
              </a:rPr>
              <a:t> </a:t>
            </a:r>
            <a:r>
              <a:rPr sz="1900" b="1" dirty="0">
                <a:latin typeface="Cambria" panose="02040503050406030204" pitchFamily="18" charset="0"/>
                <a:ea typeface="Cambria" panose="02040503050406030204" pitchFamily="18" charset="0"/>
                <a:cs typeface="Cambria"/>
              </a:rPr>
              <a:t>this</a:t>
            </a:r>
            <a:r>
              <a:rPr sz="1900" b="1" spc="-45" dirty="0">
                <a:latin typeface="Cambria" panose="02040503050406030204" pitchFamily="18" charset="0"/>
                <a:ea typeface="Cambria" panose="02040503050406030204" pitchFamily="18" charset="0"/>
                <a:cs typeface="Cambria"/>
              </a:rPr>
              <a:t> </a:t>
            </a:r>
            <a:r>
              <a:rPr sz="1900" b="1" dirty="0">
                <a:latin typeface="Cambria" panose="02040503050406030204" pitchFamily="18" charset="0"/>
                <a:ea typeface="Cambria" panose="02040503050406030204" pitchFamily="18" charset="0"/>
                <a:cs typeface="Cambria"/>
              </a:rPr>
              <a:t>week</a:t>
            </a:r>
            <a:r>
              <a:rPr sz="1900" b="1" spc="-45" dirty="0">
                <a:latin typeface="Cambria" panose="02040503050406030204" pitchFamily="18" charset="0"/>
                <a:ea typeface="Cambria" panose="02040503050406030204" pitchFamily="18" charset="0"/>
                <a:cs typeface="Cambria"/>
              </a:rPr>
              <a:t> </a:t>
            </a:r>
            <a:r>
              <a:rPr sz="1900" b="1" dirty="0">
                <a:latin typeface="Cambria" panose="02040503050406030204" pitchFamily="18" charset="0"/>
                <a:ea typeface="Cambria" panose="02040503050406030204" pitchFamily="18" charset="0"/>
                <a:cs typeface="Cambria"/>
              </a:rPr>
              <a:t>(for</a:t>
            </a:r>
            <a:r>
              <a:rPr sz="1900" b="1" spc="-55" dirty="0">
                <a:latin typeface="Cambria" panose="02040503050406030204" pitchFamily="18" charset="0"/>
                <a:ea typeface="Cambria" panose="02040503050406030204" pitchFamily="18" charset="0"/>
                <a:cs typeface="Cambria"/>
              </a:rPr>
              <a:t> </a:t>
            </a:r>
            <a:r>
              <a:rPr sz="1900" b="1" spc="-20" dirty="0">
                <a:latin typeface="Cambria" panose="02040503050406030204" pitchFamily="18" charset="0"/>
                <a:ea typeface="Cambria" panose="02040503050406030204" pitchFamily="18" charset="0"/>
                <a:cs typeface="Cambria"/>
              </a:rPr>
              <a:t>you)</a:t>
            </a:r>
            <a:endParaRPr sz="1900" b="1" dirty="0">
              <a:latin typeface="Cambria" panose="02040503050406030204" pitchFamily="18" charset="0"/>
              <a:ea typeface="Cambria" panose="02040503050406030204" pitchFamily="18" charset="0"/>
              <a:cs typeface="Cambria"/>
            </a:endParaRPr>
          </a:p>
          <a:p>
            <a:pPr marL="207010" indent="-194310">
              <a:spcBef>
                <a:spcPts val="944"/>
              </a:spcBef>
              <a:buFont typeface="Arial"/>
              <a:buChar char="•"/>
              <a:tabLst>
                <a:tab pos="207010" algn="l"/>
              </a:tabLst>
            </a:pPr>
            <a:r>
              <a:rPr sz="1350" b="1" dirty="0">
                <a:solidFill>
                  <a:srgbClr val="00B050"/>
                </a:solidFill>
                <a:latin typeface="Cambria" panose="02040503050406030204" pitchFamily="18" charset="0"/>
                <a:ea typeface="Cambria" panose="02040503050406030204" pitchFamily="18" charset="0"/>
                <a:cs typeface="Times New Roman"/>
              </a:rPr>
              <a:t>Form a</a:t>
            </a:r>
            <a:r>
              <a:rPr sz="1350" b="1" spc="5" dirty="0">
                <a:solidFill>
                  <a:srgbClr val="00B050"/>
                </a:solidFill>
                <a:latin typeface="Cambria" panose="02040503050406030204" pitchFamily="18" charset="0"/>
                <a:ea typeface="Cambria" panose="02040503050406030204" pitchFamily="18" charset="0"/>
                <a:cs typeface="Times New Roman"/>
              </a:rPr>
              <a:t> </a:t>
            </a:r>
            <a:r>
              <a:rPr sz="1350" b="1" dirty="0">
                <a:solidFill>
                  <a:srgbClr val="00B050"/>
                </a:solidFill>
                <a:latin typeface="Cambria" panose="02040503050406030204" pitchFamily="18" charset="0"/>
                <a:ea typeface="Cambria" panose="02040503050406030204" pitchFamily="18" charset="0"/>
                <a:cs typeface="Times New Roman"/>
              </a:rPr>
              <a:t>team</a:t>
            </a:r>
            <a:r>
              <a:rPr sz="1350" b="1" spc="5" dirty="0">
                <a:solidFill>
                  <a:srgbClr val="00B050"/>
                </a:solidFill>
                <a:latin typeface="Cambria" panose="02040503050406030204" pitchFamily="18" charset="0"/>
                <a:ea typeface="Cambria" panose="02040503050406030204" pitchFamily="18" charset="0"/>
                <a:cs typeface="Times New Roman"/>
              </a:rPr>
              <a:t> </a:t>
            </a:r>
            <a:r>
              <a:rPr sz="1350" b="1" dirty="0">
                <a:solidFill>
                  <a:srgbClr val="00B050"/>
                </a:solidFill>
                <a:latin typeface="Cambria" panose="02040503050406030204" pitchFamily="18" charset="0"/>
                <a:ea typeface="Cambria" panose="02040503050406030204" pitchFamily="18" charset="0"/>
                <a:cs typeface="Times New Roman"/>
              </a:rPr>
              <a:t>(if you</a:t>
            </a:r>
            <a:r>
              <a:rPr sz="1350" b="1" spc="5" dirty="0">
                <a:solidFill>
                  <a:srgbClr val="00B050"/>
                </a:solidFill>
                <a:latin typeface="Cambria" panose="02040503050406030204" pitchFamily="18" charset="0"/>
                <a:ea typeface="Cambria" panose="02040503050406030204" pitchFamily="18" charset="0"/>
                <a:cs typeface="Times New Roman"/>
              </a:rPr>
              <a:t> </a:t>
            </a:r>
            <a:r>
              <a:rPr sz="1350" b="1" dirty="0">
                <a:solidFill>
                  <a:srgbClr val="00B050"/>
                </a:solidFill>
                <a:latin typeface="Cambria" panose="02040503050406030204" pitchFamily="18" charset="0"/>
                <a:ea typeface="Cambria" panose="02040503050406030204" pitchFamily="18" charset="0"/>
                <a:cs typeface="Times New Roman"/>
              </a:rPr>
              <a:t>choose</a:t>
            </a:r>
            <a:r>
              <a:rPr sz="1350" b="1" spc="5" dirty="0">
                <a:solidFill>
                  <a:srgbClr val="00B050"/>
                </a:solidFill>
                <a:latin typeface="Cambria" panose="02040503050406030204" pitchFamily="18" charset="0"/>
                <a:ea typeface="Cambria" panose="02040503050406030204" pitchFamily="18" charset="0"/>
                <a:cs typeface="Times New Roman"/>
              </a:rPr>
              <a:t> </a:t>
            </a:r>
            <a:r>
              <a:rPr sz="1350" b="1" dirty="0">
                <a:solidFill>
                  <a:srgbClr val="00B050"/>
                </a:solidFill>
                <a:latin typeface="Cambria" panose="02040503050406030204" pitchFamily="18" charset="0"/>
                <a:ea typeface="Cambria" panose="02040503050406030204" pitchFamily="18" charset="0"/>
                <a:cs typeface="Times New Roman"/>
              </a:rPr>
              <a:t>Option</a:t>
            </a:r>
            <a:r>
              <a:rPr sz="1350" b="1" spc="-70" dirty="0">
                <a:solidFill>
                  <a:srgbClr val="00B050"/>
                </a:solidFill>
                <a:latin typeface="Cambria" panose="02040503050406030204" pitchFamily="18" charset="0"/>
                <a:ea typeface="Cambria" panose="02040503050406030204" pitchFamily="18" charset="0"/>
                <a:cs typeface="Times New Roman"/>
              </a:rPr>
              <a:t> </a:t>
            </a:r>
            <a:r>
              <a:rPr sz="1350" b="1" dirty="0">
                <a:solidFill>
                  <a:srgbClr val="00B050"/>
                </a:solidFill>
                <a:latin typeface="Cambria" panose="02040503050406030204" pitchFamily="18" charset="0"/>
                <a:ea typeface="Cambria" panose="02040503050406030204" pitchFamily="18" charset="0"/>
                <a:cs typeface="Times New Roman"/>
              </a:rPr>
              <a:t>A</a:t>
            </a:r>
            <a:r>
              <a:rPr lang="en-US" sz="1350" b="1" spc="-65" dirty="0">
                <a:solidFill>
                  <a:srgbClr val="00B050"/>
                </a:solidFill>
                <a:latin typeface="Cambria" panose="02040503050406030204" pitchFamily="18" charset="0"/>
                <a:ea typeface="Cambria" panose="02040503050406030204" pitchFamily="18" charset="0"/>
                <a:cs typeface="Times New Roman"/>
              </a:rPr>
              <a:t>, B or D</a:t>
            </a:r>
            <a:r>
              <a:rPr sz="1350" b="1" spc="-25" dirty="0">
                <a:solidFill>
                  <a:srgbClr val="00B050"/>
                </a:solidFill>
                <a:latin typeface="Cambria" panose="02040503050406030204" pitchFamily="18" charset="0"/>
                <a:ea typeface="Cambria" panose="02040503050406030204" pitchFamily="18" charset="0"/>
                <a:cs typeface="Times New Roman"/>
              </a:rPr>
              <a:t>)</a:t>
            </a:r>
            <a:endParaRPr sz="1350" b="1" dirty="0">
              <a:latin typeface="Cambria" panose="02040503050406030204" pitchFamily="18" charset="0"/>
              <a:ea typeface="Cambria" panose="02040503050406030204" pitchFamily="18" charset="0"/>
              <a:cs typeface="Times New Roman"/>
            </a:endParaRPr>
          </a:p>
          <a:p>
            <a:pPr marL="438784" marR="161925" lvl="1" indent="-119380">
              <a:spcBef>
                <a:spcPts val="459"/>
              </a:spcBef>
              <a:buFont typeface="Arial"/>
              <a:buChar char="•"/>
              <a:tabLst>
                <a:tab pos="440055" algn="l"/>
              </a:tabLst>
            </a:pPr>
            <a:r>
              <a:rPr sz="1350" spc="-35" dirty="0">
                <a:latin typeface="Cambria" panose="02040503050406030204" pitchFamily="18" charset="0"/>
                <a:ea typeface="Cambria" panose="02040503050406030204" pitchFamily="18" charset="0"/>
                <a:cs typeface="Times New Roman"/>
              </a:rPr>
              <a:t>To</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help</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your</a:t>
            </a:r>
            <a:r>
              <a:rPr sz="1350" spc="-3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tutor</a:t>
            </a:r>
            <a:r>
              <a:rPr sz="1350" spc="-3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easily</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recognise</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the</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members</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of</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the</a:t>
            </a:r>
            <a:r>
              <a:rPr sz="1350" spc="-5" dirty="0">
                <a:latin typeface="Cambria" panose="02040503050406030204" pitchFamily="18" charset="0"/>
                <a:ea typeface="Cambria" panose="02040503050406030204" pitchFamily="18" charset="0"/>
                <a:cs typeface="Times New Roman"/>
              </a:rPr>
              <a:t> </a:t>
            </a:r>
            <a:r>
              <a:rPr sz="1350" spc="-10" dirty="0">
                <a:latin typeface="Cambria" panose="02040503050406030204" pitchFamily="18" charset="0"/>
                <a:ea typeface="Cambria" panose="02040503050406030204" pitchFamily="18" charset="0"/>
                <a:cs typeface="Times New Roman"/>
              </a:rPr>
              <a:t>team, 	</a:t>
            </a:r>
            <a:r>
              <a:rPr sz="1350" dirty="0">
                <a:latin typeface="Cambria" panose="02040503050406030204" pitchFamily="18" charset="0"/>
                <a:ea typeface="Cambria" panose="02040503050406030204" pitchFamily="18" charset="0"/>
                <a:cs typeface="Times New Roman"/>
              </a:rPr>
              <a:t>please</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fill</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in</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the</a:t>
            </a:r>
            <a:r>
              <a:rPr sz="1350" spc="-25" dirty="0">
                <a:latin typeface="Cambria" panose="02040503050406030204" pitchFamily="18" charset="0"/>
                <a:ea typeface="Cambria" panose="02040503050406030204" pitchFamily="18" charset="0"/>
                <a:cs typeface="Times New Roman"/>
              </a:rPr>
              <a:t> </a:t>
            </a:r>
            <a:r>
              <a:rPr lang="en-US" sz="1350" spc="-20" dirty="0">
                <a:solidFill>
                  <a:srgbClr val="FF0000"/>
                </a:solidFill>
                <a:latin typeface="Cambria" panose="02040503050406030204" pitchFamily="18" charset="0"/>
                <a:ea typeface="Cambria" panose="02040503050406030204" pitchFamily="18" charset="0"/>
                <a:cs typeface="Times New Roman"/>
              </a:rPr>
              <a:t>Google Form</a:t>
            </a:r>
            <a:r>
              <a:rPr sz="1350" spc="-10" dirty="0">
                <a:latin typeface="Cambria" panose="02040503050406030204" pitchFamily="18" charset="0"/>
                <a:ea typeface="Cambria" panose="02040503050406030204" pitchFamily="18" charset="0"/>
                <a:cs typeface="Times New Roman"/>
              </a:rPr>
              <a:t>.</a:t>
            </a:r>
            <a:endParaRPr sz="1350" dirty="0">
              <a:latin typeface="Cambria" panose="02040503050406030204" pitchFamily="18" charset="0"/>
              <a:ea typeface="Cambria" panose="02040503050406030204" pitchFamily="18" charset="0"/>
              <a:cs typeface="Times New Roman"/>
            </a:endParaRPr>
          </a:p>
          <a:p>
            <a:pPr marL="438784" lvl="1" indent="-119380">
              <a:spcBef>
                <a:spcPts val="445"/>
              </a:spcBef>
              <a:buFont typeface="Arial"/>
              <a:buChar char="•"/>
              <a:tabLst>
                <a:tab pos="438784" algn="l"/>
              </a:tabLst>
            </a:pPr>
            <a:r>
              <a:rPr sz="1350" dirty="0">
                <a:latin typeface="Cambria" panose="02040503050406030204" pitchFamily="18" charset="0"/>
                <a:ea typeface="Cambria" panose="02040503050406030204" pitchFamily="18" charset="0"/>
                <a:cs typeface="Times New Roman"/>
              </a:rPr>
              <a:t>If</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you</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can’t</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find</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team for</a:t>
            </a:r>
            <a:r>
              <a:rPr sz="1350" spc="-2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yourself, please talk</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to</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us</a:t>
            </a:r>
            <a:r>
              <a:rPr sz="1350" spc="-75" dirty="0">
                <a:latin typeface="Cambria" panose="02040503050406030204" pitchFamily="18" charset="0"/>
                <a:ea typeface="Cambria" panose="02040503050406030204" pitchFamily="18" charset="0"/>
                <a:cs typeface="Times New Roman"/>
              </a:rPr>
              <a:t> </a:t>
            </a:r>
            <a:r>
              <a:rPr sz="1350" spc="-20" dirty="0">
                <a:latin typeface="Cambria" panose="02040503050406030204" pitchFamily="18" charset="0"/>
                <a:ea typeface="Cambria" panose="02040503050406030204" pitchFamily="18" charset="0"/>
                <a:cs typeface="Times New Roman"/>
              </a:rPr>
              <a:t>ASAP</a:t>
            </a:r>
            <a:r>
              <a:rPr lang="en-US" sz="1350" spc="-20" dirty="0">
                <a:latin typeface="Cambria" panose="02040503050406030204" pitchFamily="18" charset="0"/>
                <a:ea typeface="Cambria" panose="02040503050406030204" pitchFamily="18" charset="0"/>
                <a:cs typeface="Times New Roman"/>
              </a:rPr>
              <a:t>.</a:t>
            </a:r>
            <a:endParaRPr sz="1350" dirty="0">
              <a:latin typeface="Cambria" panose="02040503050406030204" pitchFamily="18" charset="0"/>
              <a:ea typeface="Cambria" panose="02040503050406030204" pitchFamily="18" charset="0"/>
              <a:cs typeface="Times New Roman"/>
            </a:endParaRPr>
          </a:p>
          <a:p>
            <a:pPr marL="438784" lvl="1" indent="-119380">
              <a:spcBef>
                <a:spcPts val="375"/>
              </a:spcBef>
              <a:buFont typeface="Arial"/>
              <a:buChar char="•"/>
              <a:tabLst>
                <a:tab pos="438784" algn="l"/>
              </a:tabLst>
            </a:pPr>
            <a:r>
              <a:rPr sz="1350" dirty="0">
                <a:latin typeface="Cambria" panose="02040503050406030204" pitchFamily="18" charset="0"/>
                <a:ea typeface="Cambria" panose="02040503050406030204" pitchFamily="18" charset="0"/>
                <a:cs typeface="Times New Roman"/>
              </a:rPr>
              <a:t>Feel</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free to</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use the </a:t>
            </a:r>
            <a:r>
              <a:rPr sz="1350" dirty="0">
                <a:solidFill>
                  <a:srgbClr val="FF0000"/>
                </a:solidFill>
                <a:latin typeface="Cambria" panose="02040503050406030204" pitchFamily="18" charset="0"/>
                <a:ea typeface="Cambria" panose="02040503050406030204" pitchFamily="18" charset="0"/>
                <a:cs typeface="Times New Roman"/>
              </a:rPr>
              <a:t>Discussion</a:t>
            </a:r>
            <a:r>
              <a:rPr sz="1350" spc="5" dirty="0">
                <a:solidFill>
                  <a:srgbClr val="FF0000"/>
                </a:solidFill>
                <a:latin typeface="Cambria" panose="02040503050406030204" pitchFamily="18" charset="0"/>
                <a:ea typeface="Cambria" panose="02040503050406030204" pitchFamily="18" charset="0"/>
                <a:cs typeface="Times New Roman"/>
              </a:rPr>
              <a:t> </a:t>
            </a:r>
            <a:r>
              <a:rPr sz="1350" dirty="0">
                <a:solidFill>
                  <a:srgbClr val="FF0000"/>
                </a:solidFill>
                <a:latin typeface="Cambria" panose="02040503050406030204" pitchFamily="18" charset="0"/>
                <a:ea typeface="Cambria" panose="02040503050406030204" pitchFamily="18" charset="0"/>
                <a:cs typeface="Times New Roman"/>
              </a:rPr>
              <a:t>Board </a:t>
            </a:r>
            <a:r>
              <a:rPr sz="1350" dirty="0">
                <a:latin typeface="Cambria" panose="02040503050406030204" pitchFamily="18" charset="0"/>
                <a:ea typeface="Cambria" panose="02040503050406030204" pitchFamily="18" charset="0"/>
                <a:cs typeface="Times New Roman"/>
              </a:rPr>
              <a:t>on</a:t>
            </a:r>
            <a:r>
              <a:rPr sz="1350" spc="5" dirty="0">
                <a:latin typeface="Cambria" panose="02040503050406030204" pitchFamily="18" charset="0"/>
                <a:ea typeface="Cambria" panose="02040503050406030204" pitchFamily="18" charset="0"/>
                <a:cs typeface="Times New Roman"/>
              </a:rPr>
              <a:t> </a:t>
            </a:r>
            <a:r>
              <a:rPr sz="1350" spc="-10" dirty="0">
                <a:solidFill>
                  <a:srgbClr val="FF0000"/>
                </a:solidFill>
                <a:latin typeface="Cambria" panose="02040503050406030204" pitchFamily="18" charset="0"/>
                <a:ea typeface="Cambria" panose="02040503050406030204" pitchFamily="18" charset="0"/>
                <a:cs typeface="Times New Roman"/>
              </a:rPr>
              <a:t>Canvas</a:t>
            </a:r>
            <a:endParaRPr sz="1350" dirty="0">
              <a:latin typeface="Cambria" panose="02040503050406030204" pitchFamily="18" charset="0"/>
              <a:ea typeface="Cambria" panose="02040503050406030204" pitchFamily="18" charset="0"/>
              <a:cs typeface="Times New Roman"/>
            </a:endParaRPr>
          </a:p>
          <a:p>
            <a:pPr marL="438784" lvl="1" indent="-119380">
              <a:spcBef>
                <a:spcPts val="440"/>
              </a:spcBef>
              <a:buFont typeface="Arial"/>
              <a:buChar char="•"/>
              <a:tabLst>
                <a:tab pos="438784" algn="l"/>
              </a:tabLst>
            </a:pPr>
            <a:r>
              <a:rPr sz="1350" dirty="0">
                <a:latin typeface="Cambria" panose="02040503050406030204" pitchFamily="18" charset="0"/>
                <a:ea typeface="Cambria" panose="02040503050406030204" pitchFamily="18" charset="0"/>
                <a:cs typeface="Times New Roman"/>
              </a:rPr>
              <a:t>Discuss</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within</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your</a:t>
            </a:r>
            <a:r>
              <a:rPr sz="1350" spc="-2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team to</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choose</a:t>
            </a:r>
            <a:r>
              <a:rPr sz="1350" spc="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a:t>
            </a:r>
            <a:r>
              <a:rPr sz="1350" spc="5" dirty="0">
                <a:latin typeface="Cambria" panose="02040503050406030204" pitchFamily="18" charset="0"/>
                <a:ea typeface="Cambria" panose="02040503050406030204" pitchFamily="18" charset="0"/>
                <a:cs typeface="Times New Roman"/>
              </a:rPr>
              <a:t> </a:t>
            </a:r>
            <a:r>
              <a:rPr sz="1350" spc="-20" dirty="0">
                <a:latin typeface="Cambria" panose="02040503050406030204" pitchFamily="18" charset="0"/>
                <a:ea typeface="Cambria" panose="02040503050406030204" pitchFamily="18" charset="0"/>
                <a:cs typeface="Times New Roman"/>
              </a:rPr>
              <a:t>topic</a:t>
            </a:r>
            <a:endParaRPr sz="1350" dirty="0">
              <a:latin typeface="Cambria" panose="02040503050406030204" pitchFamily="18" charset="0"/>
              <a:ea typeface="Cambria" panose="02040503050406030204" pitchFamily="18" charset="0"/>
              <a:cs typeface="Times New Roman"/>
            </a:endParaRPr>
          </a:p>
          <a:p>
            <a:pPr marL="438784" lvl="1" indent="-119380">
              <a:spcBef>
                <a:spcPts val="459"/>
              </a:spcBef>
              <a:buFont typeface="Arial"/>
              <a:buChar char="•"/>
              <a:tabLst>
                <a:tab pos="438784" algn="l"/>
              </a:tabLst>
            </a:pPr>
            <a:r>
              <a:rPr sz="1350" spc="-10" dirty="0">
                <a:latin typeface="Cambria" panose="02040503050406030204" pitchFamily="18" charset="0"/>
                <a:ea typeface="Cambria" panose="02040503050406030204" pitchFamily="18" charset="0"/>
                <a:cs typeface="Times New Roman"/>
              </a:rPr>
              <a:t>Teams</a:t>
            </a:r>
            <a:r>
              <a:rPr sz="1350" spc="-2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are</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to</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be</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finali</a:t>
            </a:r>
            <a:r>
              <a:rPr lang="en-US" sz="1350" dirty="0">
                <a:latin typeface="Cambria" panose="02040503050406030204" pitchFamily="18" charset="0"/>
                <a:ea typeface="Cambria" panose="02040503050406030204" pitchFamily="18" charset="0"/>
                <a:cs typeface="Times New Roman"/>
              </a:rPr>
              <a:t>z</a:t>
            </a:r>
            <a:r>
              <a:rPr sz="1350" dirty="0">
                <a:latin typeface="Cambria" panose="02040503050406030204" pitchFamily="18" charset="0"/>
                <a:ea typeface="Cambria" panose="02040503050406030204" pitchFamily="18" charset="0"/>
                <a:cs typeface="Times New Roman"/>
              </a:rPr>
              <a:t>ed</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next</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week</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(or</a:t>
            </a:r>
            <a:r>
              <a:rPr sz="1350" spc="-6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Week</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3</a:t>
            </a:r>
            <a:r>
              <a:rPr sz="1350" spc="-1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the</a:t>
            </a:r>
            <a:r>
              <a:rPr sz="1350" spc="-10" dirty="0">
                <a:latin typeface="Cambria" panose="02040503050406030204" pitchFamily="18" charset="0"/>
                <a:ea typeface="Cambria" panose="02040503050406030204" pitchFamily="18" charset="0"/>
                <a:cs typeface="Times New Roman"/>
              </a:rPr>
              <a:t> latest)</a:t>
            </a:r>
            <a:endParaRPr sz="1350" dirty="0">
              <a:latin typeface="Cambria" panose="02040503050406030204" pitchFamily="18" charset="0"/>
              <a:ea typeface="Cambria" panose="02040503050406030204" pitchFamily="18" charset="0"/>
              <a:cs typeface="Times New Roman"/>
            </a:endParaRPr>
          </a:p>
          <a:p>
            <a:pPr marL="438784" lvl="1" indent="-119380">
              <a:spcBef>
                <a:spcPts val="375"/>
              </a:spcBef>
              <a:buFont typeface="Arial"/>
              <a:buChar char="•"/>
              <a:tabLst>
                <a:tab pos="438784" algn="l"/>
              </a:tabLst>
            </a:pPr>
            <a:r>
              <a:rPr sz="1350" spc="-10" dirty="0">
                <a:latin typeface="Cambria" panose="02040503050406030204" pitchFamily="18" charset="0"/>
                <a:ea typeface="Cambria" panose="02040503050406030204" pitchFamily="18" charset="0"/>
                <a:cs typeface="Times New Roman"/>
              </a:rPr>
              <a:t>Topic</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is</a:t>
            </a:r>
            <a:r>
              <a:rPr sz="1350" spc="-2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to</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be</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finali</a:t>
            </a:r>
            <a:r>
              <a:rPr lang="en-US" sz="1350" dirty="0">
                <a:latin typeface="Cambria" panose="02040503050406030204" pitchFamily="18" charset="0"/>
                <a:ea typeface="Cambria" panose="02040503050406030204" pitchFamily="18" charset="0"/>
                <a:cs typeface="Times New Roman"/>
              </a:rPr>
              <a:t>z</a:t>
            </a:r>
            <a:r>
              <a:rPr sz="1350" dirty="0">
                <a:latin typeface="Cambria" panose="02040503050406030204" pitchFamily="18" charset="0"/>
                <a:ea typeface="Cambria" panose="02040503050406030204" pitchFamily="18" charset="0"/>
                <a:cs typeface="Times New Roman"/>
              </a:rPr>
              <a:t>ed</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in</a:t>
            </a:r>
            <a:r>
              <a:rPr sz="1350" spc="-4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Week</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3</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(with</a:t>
            </a:r>
            <a:r>
              <a:rPr sz="1350" spc="-15"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your</a:t>
            </a:r>
            <a:r>
              <a:rPr sz="1350" spc="-40" dirty="0">
                <a:latin typeface="Cambria" panose="02040503050406030204" pitchFamily="18" charset="0"/>
                <a:ea typeface="Cambria" panose="02040503050406030204" pitchFamily="18" charset="0"/>
                <a:cs typeface="Times New Roman"/>
              </a:rPr>
              <a:t> </a:t>
            </a:r>
            <a:r>
              <a:rPr sz="1350" dirty="0">
                <a:latin typeface="Cambria" panose="02040503050406030204" pitchFamily="18" charset="0"/>
                <a:ea typeface="Cambria" panose="02040503050406030204" pitchFamily="18" charset="0"/>
                <a:cs typeface="Times New Roman"/>
              </a:rPr>
              <a:t>tutor’s</a:t>
            </a:r>
            <a:r>
              <a:rPr sz="1350" spc="-15" dirty="0">
                <a:latin typeface="Cambria" panose="02040503050406030204" pitchFamily="18" charset="0"/>
                <a:ea typeface="Cambria" panose="02040503050406030204" pitchFamily="18" charset="0"/>
                <a:cs typeface="Times New Roman"/>
              </a:rPr>
              <a:t> </a:t>
            </a:r>
            <a:r>
              <a:rPr sz="1350" spc="-10" dirty="0">
                <a:latin typeface="Cambria" panose="02040503050406030204" pitchFamily="18" charset="0"/>
                <a:ea typeface="Cambria" panose="02040503050406030204" pitchFamily="18" charset="0"/>
                <a:cs typeface="Times New Roman"/>
              </a:rPr>
              <a:t>approval)!</a:t>
            </a:r>
            <a:endParaRPr sz="1350" dirty="0">
              <a:latin typeface="Cambria" panose="02040503050406030204" pitchFamily="18" charset="0"/>
              <a:ea typeface="Cambria" panose="02040503050406030204" pitchFamily="18" charset="0"/>
              <a:cs typeface="Times New Roman"/>
            </a:endParaRPr>
          </a:p>
          <a:p>
            <a:pPr marL="205740" marR="5080" indent="-193675" algn="just">
              <a:lnSpc>
                <a:spcPct val="101800"/>
              </a:lnSpc>
              <a:spcBef>
                <a:spcPts val="1265"/>
              </a:spcBef>
              <a:buFont typeface="Arial"/>
              <a:buChar char="•"/>
              <a:tabLst>
                <a:tab pos="207010" algn="l"/>
              </a:tabLst>
            </a:pPr>
            <a:r>
              <a:rPr sz="1350" dirty="0">
                <a:solidFill>
                  <a:srgbClr val="002060"/>
                </a:solidFill>
                <a:latin typeface="Cambria" panose="02040503050406030204" pitchFamily="18" charset="0"/>
                <a:ea typeface="Cambria" panose="02040503050406030204" pitchFamily="18" charset="0"/>
                <a:cs typeface="Cambria"/>
              </a:rPr>
              <a:t>You</a:t>
            </a:r>
            <a:r>
              <a:rPr sz="1350" spc="13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can</a:t>
            </a:r>
            <a:r>
              <a:rPr sz="1350" spc="14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also</a:t>
            </a:r>
            <a:r>
              <a:rPr sz="1350" spc="13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choose</a:t>
            </a:r>
            <a:r>
              <a:rPr sz="1350" spc="140" dirty="0">
                <a:solidFill>
                  <a:srgbClr val="002060"/>
                </a:solidFill>
                <a:latin typeface="Cambria" panose="02040503050406030204" pitchFamily="18" charset="0"/>
                <a:ea typeface="Cambria" panose="02040503050406030204" pitchFamily="18" charset="0"/>
                <a:cs typeface="Cambria"/>
              </a:rPr>
              <a:t> </a:t>
            </a:r>
            <a:r>
              <a:rPr sz="1350" b="1" dirty="0">
                <a:solidFill>
                  <a:srgbClr val="002060"/>
                </a:solidFill>
                <a:latin typeface="Cambria" panose="02040503050406030204" pitchFamily="18" charset="0"/>
                <a:ea typeface="Cambria" panose="02040503050406030204" pitchFamily="18" charset="0"/>
                <a:cs typeface="Cambria"/>
              </a:rPr>
              <a:t>Option</a:t>
            </a:r>
            <a:r>
              <a:rPr sz="1350" b="1" spc="140" dirty="0">
                <a:solidFill>
                  <a:srgbClr val="002060"/>
                </a:solidFill>
                <a:latin typeface="Cambria" panose="02040503050406030204" pitchFamily="18" charset="0"/>
                <a:ea typeface="Cambria" panose="02040503050406030204" pitchFamily="18" charset="0"/>
                <a:cs typeface="Cambria"/>
              </a:rPr>
              <a:t> </a:t>
            </a:r>
            <a:r>
              <a:rPr sz="1350" b="1" dirty="0">
                <a:solidFill>
                  <a:srgbClr val="002060"/>
                </a:solidFill>
                <a:latin typeface="Cambria" panose="02040503050406030204" pitchFamily="18" charset="0"/>
                <a:ea typeface="Cambria" panose="02040503050406030204" pitchFamily="18" charset="0"/>
                <a:cs typeface="Cambria"/>
              </a:rPr>
              <a:t>C</a:t>
            </a:r>
            <a:r>
              <a:rPr sz="1350" dirty="0">
                <a:solidFill>
                  <a:srgbClr val="002060"/>
                </a:solidFill>
                <a:latin typeface="Cambria" panose="02040503050406030204" pitchFamily="18" charset="0"/>
                <a:ea typeface="Cambria" panose="02040503050406030204" pitchFamily="18" charset="0"/>
                <a:cs typeface="Cambria"/>
              </a:rPr>
              <a:t>:</a:t>
            </a:r>
            <a:r>
              <a:rPr sz="1350" spc="13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You</a:t>
            </a:r>
            <a:r>
              <a:rPr sz="1350" spc="14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will</a:t>
            </a:r>
            <a:r>
              <a:rPr sz="1350" spc="13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work</a:t>
            </a:r>
            <a:r>
              <a:rPr sz="1350" spc="140"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in</a:t>
            </a:r>
            <a:r>
              <a:rPr sz="1350" spc="140"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a</a:t>
            </a:r>
            <a:r>
              <a:rPr sz="1350" spc="13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team</a:t>
            </a:r>
            <a:r>
              <a:rPr sz="1350" spc="135" dirty="0">
                <a:solidFill>
                  <a:srgbClr val="002060"/>
                </a:solidFill>
                <a:latin typeface="Cambria" panose="02040503050406030204" pitchFamily="18" charset="0"/>
                <a:ea typeface="Cambria" panose="02040503050406030204" pitchFamily="18" charset="0"/>
                <a:cs typeface="Cambria"/>
              </a:rPr>
              <a:t> </a:t>
            </a:r>
            <a:r>
              <a:rPr sz="1350" spc="-20" dirty="0">
                <a:solidFill>
                  <a:srgbClr val="002060"/>
                </a:solidFill>
                <a:latin typeface="Cambria" panose="02040503050406030204" pitchFamily="18" charset="0"/>
                <a:ea typeface="Cambria" panose="02040503050406030204" pitchFamily="18" charset="0"/>
                <a:cs typeface="Cambria"/>
              </a:rPr>
              <a:t>with 	</a:t>
            </a:r>
            <a:r>
              <a:rPr sz="1350" dirty="0">
                <a:solidFill>
                  <a:srgbClr val="002060"/>
                </a:solidFill>
                <a:latin typeface="Cambria" panose="02040503050406030204" pitchFamily="18" charset="0"/>
                <a:ea typeface="Cambria" panose="02040503050406030204" pitchFamily="18" charset="0"/>
                <a:cs typeface="Cambria"/>
              </a:rPr>
              <a:t>your</a:t>
            </a:r>
            <a:r>
              <a:rPr sz="1350" spc="190"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tutor</a:t>
            </a:r>
            <a:r>
              <a:rPr sz="1350" spc="190"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and</a:t>
            </a:r>
            <a:r>
              <a:rPr sz="1350" spc="19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complete</a:t>
            </a:r>
            <a:r>
              <a:rPr sz="1350" spc="19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weekly</a:t>
            </a:r>
            <a:r>
              <a:rPr sz="1350" spc="190"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Tasks</a:t>
            </a:r>
            <a:r>
              <a:rPr sz="1350" spc="18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(first</a:t>
            </a:r>
            <a:r>
              <a:rPr sz="1350" spc="18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Task</a:t>
            </a:r>
            <a:r>
              <a:rPr sz="1350" spc="19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is</a:t>
            </a:r>
            <a:r>
              <a:rPr sz="1350" spc="185" dirty="0">
                <a:solidFill>
                  <a:srgbClr val="002060"/>
                </a:solidFill>
                <a:latin typeface="Cambria" panose="02040503050406030204" pitchFamily="18" charset="0"/>
                <a:ea typeface="Cambria" panose="02040503050406030204" pitchFamily="18" charset="0"/>
                <a:cs typeface="Cambria"/>
              </a:rPr>
              <a:t> </a:t>
            </a:r>
            <a:r>
              <a:rPr sz="1350" dirty="0">
                <a:solidFill>
                  <a:srgbClr val="002060"/>
                </a:solidFill>
                <a:latin typeface="Cambria" panose="02040503050406030204" pitchFamily="18" charset="0"/>
                <a:ea typeface="Cambria" panose="02040503050406030204" pitchFamily="18" charset="0"/>
                <a:cs typeface="Cambria"/>
              </a:rPr>
              <a:t>due</a:t>
            </a:r>
            <a:r>
              <a:rPr sz="1350" spc="190" dirty="0">
                <a:solidFill>
                  <a:srgbClr val="002060"/>
                </a:solidFill>
                <a:latin typeface="Cambria" panose="02040503050406030204" pitchFamily="18" charset="0"/>
                <a:ea typeface="Cambria" panose="02040503050406030204" pitchFamily="18" charset="0"/>
                <a:cs typeface="Cambria"/>
              </a:rPr>
              <a:t> </a:t>
            </a:r>
            <a:r>
              <a:rPr sz="1350" spc="-25" dirty="0">
                <a:solidFill>
                  <a:srgbClr val="002060"/>
                </a:solidFill>
                <a:latin typeface="Cambria" panose="02040503050406030204" pitchFamily="18" charset="0"/>
                <a:ea typeface="Cambria" panose="02040503050406030204" pitchFamily="18" charset="0"/>
                <a:cs typeface="Cambria"/>
              </a:rPr>
              <a:t>in 	</a:t>
            </a:r>
            <a:r>
              <a:rPr sz="1350" dirty="0">
                <a:solidFill>
                  <a:srgbClr val="002060"/>
                </a:solidFill>
                <a:latin typeface="Cambria" panose="02040503050406030204" pitchFamily="18" charset="0"/>
                <a:ea typeface="Cambria" panose="02040503050406030204" pitchFamily="18" charset="0"/>
                <a:cs typeface="Cambria"/>
              </a:rPr>
              <a:t>Week</a:t>
            </a:r>
            <a:r>
              <a:rPr sz="1350" spc="-75" dirty="0">
                <a:solidFill>
                  <a:srgbClr val="002060"/>
                </a:solidFill>
                <a:latin typeface="Cambria" panose="02040503050406030204" pitchFamily="18" charset="0"/>
                <a:ea typeface="Cambria" panose="02040503050406030204" pitchFamily="18" charset="0"/>
                <a:cs typeface="Cambria"/>
              </a:rPr>
              <a:t> </a:t>
            </a:r>
            <a:r>
              <a:rPr sz="1350" spc="-25" dirty="0">
                <a:solidFill>
                  <a:srgbClr val="002060"/>
                </a:solidFill>
                <a:latin typeface="Cambria" panose="02040503050406030204" pitchFamily="18" charset="0"/>
                <a:ea typeface="Cambria" panose="02040503050406030204" pitchFamily="18" charset="0"/>
                <a:cs typeface="Cambria"/>
              </a:rPr>
              <a:t>3).</a:t>
            </a:r>
            <a:endParaRPr lang="en-US" sz="1350" spc="-25" dirty="0">
              <a:solidFill>
                <a:srgbClr val="002060"/>
              </a:solidFill>
              <a:latin typeface="Cambria" panose="02040503050406030204" pitchFamily="18" charset="0"/>
              <a:ea typeface="Cambria" panose="02040503050406030204" pitchFamily="18" charset="0"/>
              <a:cs typeface="Cambria"/>
            </a:endParaRPr>
          </a:p>
          <a:p>
            <a:pPr marL="205740" marR="5080" indent="-193675" algn="just">
              <a:lnSpc>
                <a:spcPct val="101800"/>
              </a:lnSpc>
              <a:spcBef>
                <a:spcPts val="1265"/>
              </a:spcBef>
              <a:buFont typeface="Arial"/>
              <a:buChar char="•"/>
              <a:tabLst>
                <a:tab pos="207010" algn="l"/>
              </a:tabLst>
            </a:pPr>
            <a:r>
              <a:rPr lang="en-US" sz="1350" b="1" spc="-25" dirty="0">
                <a:solidFill>
                  <a:srgbClr val="002060"/>
                </a:solidFill>
                <a:latin typeface="Cambria" panose="02040503050406030204" pitchFamily="18" charset="0"/>
                <a:ea typeface="Cambria" panose="02040503050406030204" pitchFamily="18" charset="0"/>
                <a:cs typeface="Cambria"/>
              </a:rPr>
              <a:t>NOTE:</a:t>
            </a:r>
            <a:r>
              <a:rPr lang="en-US" sz="1350" spc="-25" dirty="0">
                <a:solidFill>
                  <a:srgbClr val="002060"/>
                </a:solidFill>
                <a:latin typeface="Cambria" panose="02040503050406030204" pitchFamily="18" charset="0"/>
                <a:ea typeface="Cambria" panose="02040503050406030204" pitchFamily="18" charset="0"/>
                <a:cs typeface="Cambria"/>
              </a:rPr>
              <a:t> For Option D, please fill the form with your intention and explain why you will be able to do it. We will have at most 3 groups doing Option D. Those not selected will be notified to choose other options.</a:t>
            </a:r>
            <a:endParaRPr sz="1350" dirty="0">
              <a:latin typeface="Cambria" panose="02040503050406030204" pitchFamily="18" charset="0"/>
              <a:ea typeface="Cambria" panose="02040503050406030204" pitchFamily="18" charset="0"/>
              <a:cs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59325" y="956513"/>
            <a:ext cx="6233795" cy="3508375"/>
            <a:chOff x="659325" y="956513"/>
            <a:chExt cx="6233795" cy="3508375"/>
          </a:xfrm>
        </p:grpSpPr>
        <p:pic>
          <p:nvPicPr>
            <p:cNvPr id="3" name="object 3"/>
            <p:cNvPicPr/>
            <p:nvPr/>
          </p:nvPicPr>
          <p:blipFill>
            <a:blip r:embed="rId2" cstate="print"/>
            <a:stretch>
              <a:fillRect/>
            </a:stretch>
          </p:blipFill>
          <p:spPr>
            <a:xfrm>
              <a:off x="663655" y="956513"/>
              <a:ext cx="6229184" cy="3508019"/>
            </a:xfrm>
            <a:prstGeom prst="rect">
              <a:avLst/>
            </a:prstGeom>
          </p:spPr>
        </p:pic>
        <p:sp>
          <p:nvSpPr>
            <p:cNvPr id="4" name="object 4"/>
            <p:cNvSpPr/>
            <p:nvPr/>
          </p:nvSpPr>
          <p:spPr>
            <a:xfrm>
              <a:off x="661490" y="2418317"/>
              <a:ext cx="6229350" cy="830580"/>
            </a:xfrm>
            <a:custGeom>
              <a:avLst/>
              <a:gdLst/>
              <a:ahLst/>
              <a:cxnLst/>
              <a:rect l="l" t="t" r="r" b="b"/>
              <a:pathLst>
                <a:path w="6229350" h="830580">
                  <a:moveTo>
                    <a:pt x="6229184" y="0"/>
                  </a:moveTo>
                  <a:lnTo>
                    <a:pt x="0" y="0"/>
                  </a:lnTo>
                  <a:lnTo>
                    <a:pt x="0" y="829974"/>
                  </a:lnTo>
                  <a:lnTo>
                    <a:pt x="6229184" y="829974"/>
                  </a:lnTo>
                  <a:lnTo>
                    <a:pt x="6229184" y="0"/>
                  </a:lnTo>
                  <a:close/>
                </a:path>
              </a:pathLst>
            </a:custGeom>
            <a:solidFill>
              <a:srgbClr val="0D0D0D"/>
            </a:solidFill>
          </p:spPr>
          <p:txBody>
            <a:bodyPr wrap="square" lIns="0" tIns="0" rIns="0" bIns="0" rtlCol="0"/>
            <a:lstStyle/>
            <a:p>
              <a:endParaRPr dirty="0"/>
            </a:p>
          </p:txBody>
        </p:sp>
        <p:sp>
          <p:nvSpPr>
            <p:cNvPr id="5" name="object 5"/>
            <p:cNvSpPr/>
            <p:nvPr/>
          </p:nvSpPr>
          <p:spPr>
            <a:xfrm>
              <a:off x="661490" y="2418321"/>
              <a:ext cx="6229350" cy="830580"/>
            </a:xfrm>
            <a:custGeom>
              <a:avLst/>
              <a:gdLst/>
              <a:ahLst/>
              <a:cxnLst/>
              <a:rect l="l" t="t" r="r" b="b"/>
              <a:pathLst>
                <a:path w="6229350" h="830580">
                  <a:moveTo>
                    <a:pt x="0" y="0"/>
                  </a:moveTo>
                  <a:lnTo>
                    <a:pt x="6229183" y="0"/>
                  </a:lnTo>
                  <a:lnTo>
                    <a:pt x="6229183" y="829975"/>
                  </a:lnTo>
                  <a:lnTo>
                    <a:pt x="0" y="829975"/>
                  </a:lnTo>
                  <a:lnTo>
                    <a:pt x="0" y="0"/>
                  </a:lnTo>
                  <a:close/>
                </a:path>
              </a:pathLst>
            </a:custGeom>
            <a:ln w="4330">
              <a:solidFill>
                <a:srgbClr val="000000"/>
              </a:solidFill>
            </a:ln>
          </p:spPr>
          <p:txBody>
            <a:bodyPr wrap="square" lIns="0" tIns="0" rIns="0" bIns="0" rtlCol="0"/>
            <a:lstStyle/>
            <a:p>
              <a:endParaRPr dirty="0"/>
            </a:p>
          </p:txBody>
        </p:sp>
        <p:pic>
          <p:nvPicPr>
            <p:cNvPr id="6" name="object 6"/>
            <p:cNvPicPr/>
            <p:nvPr/>
          </p:nvPicPr>
          <p:blipFill>
            <a:blip r:embed="rId3" cstate="print"/>
            <a:stretch>
              <a:fillRect/>
            </a:stretch>
          </p:blipFill>
          <p:spPr>
            <a:xfrm>
              <a:off x="663655" y="2418317"/>
              <a:ext cx="1597990" cy="829974"/>
            </a:xfrm>
            <a:prstGeom prst="rect">
              <a:avLst/>
            </a:prstGeom>
          </p:spPr>
        </p:pic>
      </p:grpSp>
      <p:sp>
        <p:nvSpPr>
          <p:cNvPr id="7" name="object 7"/>
          <p:cNvSpPr txBox="1"/>
          <p:nvPr/>
        </p:nvSpPr>
        <p:spPr>
          <a:xfrm>
            <a:off x="661490" y="2458223"/>
            <a:ext cx="6227445" cy="615950"/>
          </a:xfrm>
          <a:prstGeom prst="rect">
            <a:avLst/>
          </a:prstGeom>
        </p:spPr>
        <p:txBody>
          <a:bodyPr vert="horz" wrap="square" lIns="0" tIns="12065" rIns="0" bIns="0" rtlCol="0">
            <a:spAutoFit/>
          </a:bodyPr>
          <a:lstStyle/>
          <a:p>
            <a:pPr marL="1661160" marR="1155700">
              <a:lnSpc>
                <a:spcPct val="121000"/>
              </a:lnSpc>
              <a:spcBef>
                <a:spcPts val="95"/>
              </a:spcBef>
            </a:pPr>
            <a:r>
              <a:rPr sz="1600" b="1" spc="-60" dirty="0">
                <a:solidFill>
                  <a:srgbClr val="FFFFFF"/>
                </a:solidFill>
                <a:latin typeface="Cambria"/>
                <a:cs typeface="Cambria"/>
              </a:rPr>
              <a:t>COS30018</a:t>
            </a:r>
            <a:r>
              <a:rPr sz="1600" b="1" spc="-90" dirty="0">
                <a:solidFill>
                  <a:srgbClr val="FFFFFF"/>
                </a:solidFill>
                <a:latin typeface="Cambria"/>
                <a:cs typeface="Cambria"/>
              </a:rPr>
              <a:t> </a:t>
            </a:r>
            <a:r>
              <a:rPr sz="1600" b="1" dirty="0">
                <a:solidFill>
                  <a:srgbClr val="FFFFFF"/>
                </a:solidFill>
                <a:latin typeface="Cambria"/>
                <a:cs typeface="Cambria"/>
              </a:rPr>
              <a:t>-</a:t>
            </a:r>
            <a:r>
              <a:rPr sz="1600" b="1" spc="-85" dirty="0">
                <a:solidFill>
                  <a:srgbClr val="FFFFFF"/>
                </a:solidFill>
                <a:latin typeface="Cambria"/>
                <a:cs typeface="Cambria"/>
              </a:rPr>
              <a:t> </a:t>
            </a:r>
            <a:r>
              <a:rPr sz="1600" b="1" spc="-70" dirty="0">
                <a:solidFill>
                  <a:srgbClr val="FFFFFF"/>
                </a:solidFill>
                <a:latin typeface="Cambria"/>
                <a:cs typeface="Cambria"/>
              </a:rPr>
              <a:t>Intelligent</a:t>
            </a:r>
            <a:r>
              <a:rPr sz="1600" b="1" spc="-90" dirty="0">
                <a:solidFill>
                  <a:srgbClr val="FFFFFF"/>
                </a:solidFill>
                <a:latin typeface="Cambria"/>
                <a:cs typeface="Cambria"/>
              </a:rPr>
              <a:t> </a:t>
            </a:r>
            <a:r>
              <a:rPr sz="1600" b="1" spc="-75" dirty="0">
                <a:solidFill>
                  <a:srgbClr val="FFFFFF"/>
                </a:solidFill>
                <a:latin typeface="Cambria"/>
                <a:cs typeface="Cambria"/>
              </a:rPr>
              <a:t>Systems:</a:t>
            </a:r>
            <a:r>
              <a:rPr sz="1600" b="1" spc="-100" dirty="0">
                <a:solidFill>
                  <a:srgbClr val="FFFFFF"/>
                </a:solidFill>
                <a:latin typeface="Cambria"/>
                <a:cs typeface="Cambria"/>
              </a:rPr>
              <a:t> </a:t>
            </a:r>
            <a:r>
              <a:rPr sz="1600" b="1" spc="-80" dirty="0">
                <a:solidFill>
                  <a:srgbClr val="FF0000"/>
                </a:solidFill>
                <a:latin typeface="Cambria"/>
                <a:cs typeface="Cambria"/>
              </a:rPr>
              <a:t>Week</a:t>
            </a:r>
            <a:r>
              <a:rPr sz="1600" b="1" spc="-75" dirty="0">
                <a:solidFill>
                  <a:srgbClr val="FF0000"/>
                </a:solidFill>
                <a:latin typeface="Cambria"/>
                <a:cs typeface="Cambria"/>
              </a:rPr>
              <a:t> </a:t>
            </a:r>
            <a:r>
              <a:rPr sz="1600" b="1" spc="-50" dirty="0">
                <a:solidFill>
                  <a:srgbClr val="FF0000"/>
                </a:solidFill>
                <a:latin typeface="Cambria"/>
                <a:cs typeface="Cambria"/>
              </a:rPr>
              <a:t>1 </a:t>
            </a:r>
            <a:r>
              <a:rPr sz="1600" b="1" spc="-70" dirty="0">
                <a:solidFill>
                  <a:srgbClr val="FFFFFF"/>
                </a:solidFill>
                <a:latin typeface="Cambria"/>
                <a:cs typeface="Cambria"/>
              </a:rPr>
              <a:t>Introduction</a:t>
            </a:r>
            <a:r>
              <a:rPr sz="1600" b="1" spc="-60" dirty="0">
                <a:solidFill>
                  <a:srgbClr val="FFFFFF"/>
                </a:solidFill>
                <a:latin typeface="Cambria"/>
                <a:cs typeface="Cambria"/>
              </a:rPr>
              <a:t> </a:t>
            </a:r>
            <a:r>
              <a:rPr sz="1600" b="1" spc="-55" dirty="0">
                <a:solidFill>
                  <a:srgbClr val="FFFFFF"/>
                </a:solidFill>
                <a:latin typeface="Cambria"/>
                <a:cs typeface="Cambria"/>
              </a:rPr>
              <a:t>to </a:t>
            </a:r>
            <a:r>
              <a:rPr sz="1600" b="1" spc="-70" dirty="0">
                <a:solidFill>
                  <a:srgbClr val="FFFFFF"/>
                </a:solidFill>
                <a:latin typeface="Cambria"/>
                <a:cs typeface="Cambria"/>
              </a:rPr>
              <a:t>Intelligent </a:t>
            </a:r>
            <a:r>
              <a:rPr sz="1600" b="1" spc="-10" dirty="0">
                <a:solidFill>
                  <a:srgbClr val="FFFFFF"/>
                </a:solidFill>
                <a:latin typeface="Cambria"/>
                <a:cs typeface="Cambria"/>
              </a:rPr>
              <a:t>Systems</a:t>
            </a:r>
            <a:endParaRPr sz="1600" dirty="0">
              <a:latin typeface="Cambria"/>
              <a:cs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p:nvPr/>
        </p:nvSpPr>
        <p:spPr>
          <a:xfrm>
            <a:off x="349250" y="302946"/>
            <a:ext cx="4798060" cy="384078"/>
          </a:xfrm>
          <a:prstGeom prst="rect">
            <a:avLst/>
          </a:prstGeom>
        </p:spPr>
        <p:txBody>
          <a:bodyPr vert="horz" wrap="square" lIns="0" tIns="14604" rIns="0" bIns="0" rtlCol="0">
            <a:spAutoFit/>
          </a:bodyPr>
          <a:lstStyle/>
          <a:p>
            <a:r>
              <a:rPr lang="en-US" sz="2400" b="1" dirty="0">
                <a:effectLst/>
                <a:latin typeface="Cambria" panose="02040503050406030204" pitchFamily="18" charset="0"/>
                <a:ea typeface="Cambria" panose="02040503050406030204" pitchFamily="18" charset="0"/>
              </a:rPr>
              <a:t>AI in Everyday Life</a:t>
            </a:r>
          </a:p>
        </p:txBody>
      </p:sp>
      <p:sp>
        <p:nvSpPr>
          <p:cNvPr id="4" name="TextBox 3">
            <a:extLst>
              <a:ext uri="{FF2B5EF4-FFF2-40B4-BE49-F238E27FC236}">
                <a16:creationId xmlns:a16="http://schemas.microsoft.com/office/drawing/2014/main" id="{633A33A4-0233-9178-E1A1-27DE622A57DD}"/>
              </a:ext>
            </a:extLst>
          </p:cNvPr>
          <p:cNvSpPr txBox="1"/>
          <p:nvPr/>
        </p:nvSpPr>
        <p:spPr>
          <a:xfrm>
            <a:off x="349250" y="826668"/>
            <a:ext cx="6172200"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Voice assistants that understand context and plan </a:t>
            </a:r>
            <a:r>
              <a:rPr kumimoji="0" lang="en-US"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(Siri)</a:t>
            </a:r>
            <a:endPar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Personalized recommendations (Netflix, TikTok, Spotify)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Self-driving </a:t>
            </a:r>
            <a:r>
              <a:rPr kumimoji="0" lang="en-US"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car features</a:t>
            </a:r>
            <a:r>
              <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(Tesla FSD, Waymo)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AI agents handling multi-step tasks autonomously</a:t>
            </a:r>
            <a:r>
              <a:rPr kumimoji="0" lang="en-US"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code, </a:t>
            </a:r>
            <a:r>
              <a:rPr kumimoji="0" lang="en-001" altLang="en-001"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analyze</a:t>
            </a:r>
            <a:r>
              <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images, summarize meetings</a:t>
            </a:r>
            <a:r>
              <a:rPr kumimoji="0" lang="en-US"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(ChatGPT, Gemini, Claude, Copilot, Grok, DeepSeek</a:t>
            </a:r>
            <a:r>
              <a:rPr lang="en-US" altLang="en-001" dirty="0">
                <a:solidFill>
                  <a:schemeClr val="tx1"/>
                </a:solidFill>
                <a:latin typeface="Cambria" panose="02040503050406030204" pitchFamily="18" charset="0"/>
                <a:ea typeface="Cambria" panose="02040503050406030204" pitchFamily="18" charset="0"/>
              </a:rPr>
              <a:t>, Perplexity, Cursor...)</a:t>
            </a:r>
            <a:endParaRPr kumimoji="0" lang="en-001" altLang="en-001"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1027" name="Picture 3" descr="San Francisco Serves As Testing Grounds For Autonomous Vehicles">
            <a:extLst>
              <a:ext uri="{FF2B5EF4-FFF2-40B4-BE49-F238E27FC236}">
                <a16:creationId xmlns:a16="http://schemas.microsoft.com/office/drawing/2014/main" id="{2E1D5B5D-6D9E-6F79-B6F6-E9A437D359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650" y="2715419"/>
            <a:ext cx="3227884" cy="211168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Tesla Is Urging Drowsy Drivers to Use ‘Full SelfDriving. That Could Go Very Wrong">
            <a:extLst>
              <a:ext uri="{FF2B5EF4-FFF2-40B4-BE49-F238E27FC236}">
                <a16:creationId xmlns:a16="http://schemas.microsoft.com/office/drawing/2014/main" id="{2BE6B424-E662-2035-1041-EA65FEAAFA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29534" y="2715419"/>
            <a:ext cx="3172916" cy="21150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332108" y="234950"/>
            <a:ext cx="5579742" cy="1891928"/>
          </a:xfrm>
          <a:prstGeom prst="rect">
            <a:avLst/>
          </a:prstGeom>
        </p:spPr>
        <p:txBody>
          <a:bodyPr vert="horz" wrap="square" lIns="0" tIns="127000" rIns="0" bIns="0" rtlCol="0">
            <a:spAutoFit/>
          </a:bodyPr>
          <a:lstStyle/>
          <a:p>
            <a:pPr marL="100330">
              <a:lnSpc>
                <a:spcPct val="100000"/>
              </a:lnSpc>
              <a:spcBef>
                <a:spcPts val="910"/>
              </a:spcBef>
              <a:tabLst>
                <a:tab pos="215900" algn="l"/>
              </a:tabLst>
            </a:pPr>
            <a:r>
              <a:rPr sz="1900" b="1" dirty="0">
                <a:solidFill>
                  <a:srgbClr val="FF0000"/>
                </a:solidFill>
                <a:latin typeface="Cambria" panose="02040503050406030204" pitchFamily="18" charset="0"/>
                <a:ea typeface="Cambria" panose="02040503050406030204" pitchFamily="18" charset="0"/>
                <a:cs typeface="Arial"/>
              </a:rPr>
              <a:t>What</a:t>
            </a:r>
            <a:r>
              <a:rPr sz="1900" b="1" spc="-5" dirty="0">
                <a:solidFill>
                  <a:srgbClr val="FF0000"/>
                </a:solidFill>
                <a:latin typeface="Cambria" panose="02040503050406030204" pitchFamily="18" charset="0"/>
                <a:ea typeface="Cambria" panose="02040503050406030204" pitchFamily="18" charset="0"/>
                <a:cs typeface="Arial"/>
              </a:rPr>
              <a:t> </a:t>
            </a:r>
            <a:r>
              <a:rPr sz="1900" b="1" dirty="0">
                <a:solidFill>
                  <a:srgbClr val="FF0000"/>
                </a:solidFill>
                <a:latin typeface="Cambria" panose="02040503050406030204" pitchFamily="18" charset="0"/>
                <a:ea typeface="Cambria" panose="02040503050406030204" pitchFamily="18" charset="0"/>
                <a:cs typeface="Arial"/>
              </a:rPr>
              <a:t>is</a:t>
            </a:r>
            <a:r>
              <a:rPr sz="1900" b="1" spc="-5" dirty="0">
                <a:solidFill>
                  <a:srgbClr val="FF0000"/>
                </a:solidFill>
                <a:latin typeface="Cambria" panose="02040503050406030204" pitchFamily="18" charset="0"/>
                <a:ea typeface="Cambria" panose="02040503050406030204" pitchFamily="18" charset="0"/>
                <a:cs typeface="Arial"/>
              </a:rPr>
              <a:t> </a:t>
            </a:r>
            <a:r>
              <a:rPr sz="1900" b="1" spc="-10" dirty="0">
                <a:solidFill>
                  <a:srgbClr val="FF0000"/>
                </a:solidFill>
                <a:latin typeface="Cambria" panose="02040503050406030204" pitchFamily="18" charset="0"/>
                <a:ea typeface="Cambria" panose="02040503050406030204" pitchFamily="18" charset="0"/>
                <a:cs typeface="Arial"/>
              </a:rPr>
              <a:t>intelligence?</a:t>
            </a:r>
            <a:endParaRPr lang="en-US" sz="1900" spc="-10" dirty="0">
              <a:solidFill>
                <a:srgbClr val="FF0000"/>
              </a:solidFill>
              <a:latin typeface="Cambria" panose="02040503050406030204" pitchFamily="18" charset="0"/>
              <a:ea typeface="Cambria" panose="02040503050406030204" pitchFamily="18" charset="0"/>
              <a:cs typeface="Arial"/>
            </a:endParaRPr>
          </a:p>
          <a:p>
            <a:pPr marL="100330">
              <a:lnSpc>
                <a:spcPct val="100000"/>
              </a:lnSpc>
              <a:spcBef>
                <a:spcPts val="910"/>
              </a:spcBef>
              <a:tabLst>
                <a:tab pos="215900" algn="l"/>
              </a:tabLst>
            </a:pPr>
            <a:r>
              <a:rPr sz="1600" b="1" dirty="0">
                <a:latin typeface="Cambria" panose="02040503050406030204" pitchFamily="18" charset="0"/>
                <a:ea typeface="Cambria" panose="02040503050406030204" pitchFamily="18" charset="0"/>
                <a:cs typeface="Arial"/>
              </a:rPr>
              <a:t>Intelligence</a:t>
            </a:r>
            <a:r>
              <a:rPr sz="1600" b="1" spc="95"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can</a:t>
            </a:r>
            <a:r>
              <a:rPr sz="1600" b="1" spc="90"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be</a:t>
            </a:r>
            <a:r>
              <a:rPr sz="1600" b="1" spc="95"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characterized</a:t>
            </a:r>
            <a:r>
              <a:rPr sz="1600" b="1" spc="95"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by</a:t>
            </a:r>
            <a:r>
              <a:rPr sz="1600" b="1" spc="95" dirty="0">
                <a:latin typeface="Cambria" panose="02040503050406030204" pitchFamily="18" charset="0"/>
                <a:ea typeface="Cambria" panose="02040503050406030204" pitchFamily="18" charset="0"/>
                <a:cs typeface="Arial"/>
              </a:rPr>
              <a:t> </a:t>
            </a:r>
            <a:r>
              <a:rPr sz="1600" b="1" spc="-25" dirty="0">
                <a:latin typeface="Cambria" panose="02040503050406030204" pitchFamily="18" charset="0"/>
                <a:ea typeface="Cambria" panose="02040503050406030204" pitchFamily="18" charset="0"/>
                <a:cs typeface="Arial"/>
              </a:rPr>
              <a:t>the </a:t>
            </a:r>
            <a:r>
              <a:rPr sz="1600" b="1" dirty="0">
                <a:latin typeface="Cambria" panose="02040503050406030204" pitchFamily="18" charset="0"/>
                <a:ea typeface="Cambria" panose="02040503050406030204" pitchFamily="18" charset="0"/>
                <a:cs typeface="Arial"/>
              </a:rPr>
              <a:t>capability</a:t>
            </a:r>
            <a:r>
              <a:rPr sz="1600" b="1" spc="110" dirty="0">
                <a:latin typeface="Cambria" panose="02040503050406030204" pitchFamily="18" charset="0"/>
                <a:ea typeface="Cambria" panose="02040503050406030204" pitchFamily="18" charset="0"/>
                <a:cs typeface="Arial"/>
              </a:rPr>
              <a:t> </a:t>
            </a:r>
            <a:r>
              <a:rPr sz="1600" b="1" spc="-25" dirty="0">
                <a:latin typeface="Cambria" panose="02040503050406030204" pitchFamily="18" charset="0"/>
                <a:ea typeface="Cambria" panose="02040503050406030204" pitchFamily="18" charset="0"/>
                <a:cs typeface="Arial"/>
              </a:rPr>
              <a:t>of</a:t>
            </a:r>
            <a:r>
              <a:rPr lang="en-US" sz="1600" b="1" spc="-25" dirty="0">
                <a:latin typeface="Cambria" panose="02040503050406030204" pitchFamily="18" charset="0"/>
                <a:ea typeface="Cambria" panose="02040503050406030204" pitchFamily="18" charset="0"/>
                <a:cs typeface="Arial"/>
              </a:rPr>
              <a:t>:</a:t>
            </a:r>
          </a:p>
          <a:p>
            <a:pPr marL="450850" marR="5080" lvl="5" indent="-116839">
              <a:lnSpc>
                <a:spcPct val="104099"/>
              </a:lnSpc>
              <a:spcBef>
                <a:spcPts val="204"/>
              </a:spcBef>
              <a:buFont typeface="Arial"/>
              <a:buChar char="•"/>
              <a:tabLst>
                <a:tab pos="450850" algn="l"/>
              </a:tabLst>
            </a:pPr>
            <a:r>
              <a:rPr lang="en-US" sz="1600" dirty="0">
                <a:latin typeface="Cambria" panose="02040503050406030204" pitchFamily="18" charset="0"/>
                <a:ea typeface="Cambria" panose="02040503050406030204" pitchFamily="18" charset="0"/>
                <a:cs typeface="Arial"/>
              </a:rPr>
              <a:t>Reason and solve complex problems</a:t>
            </a:r>
          </a:p>
          <a:p>
            <a:pPr marL="450850" marR="5080" lvl="5" indent="-116839">
              <a:lnSpc>
                <a:spcPct val="104099"/>
              </a:lnSpc>
              <a:spcBef>
                <a:spcPts val="204"/>
              </a:spcBef>
              <a:buFont typeface="Arial"/>
              <a:buChar char="•"/>
              <a:tabLst>
                <a:tab pos="450850" algn="l"/>
              </a:tabLst>
            </a:pPr>
            <a:r>
              <a:rPr lang="en-US" sz="1600" dirty="0">
                <a:latin typeface="Cambria" panose="02040503050406030204" pitchFamily="18" charset="0"/>
                <a:ea typeface="Cambria" panose="02040503050406030204" pitchFamily="18" charset="0"/>
                <a:cs typeface="Arial"/>
              </a:rPr>
              <a:t>Learn and adapt from experience</a:t>
            </a:r>
          </a:p>
          <a:p>
            <a:pPr marL="450850" marR="5080" lvl="5" indent="-116839">
              <a:lnSpc>
                <a:spcPct val="104099"/>
              </a:lnSpc>
              <a:spcBef>
                <a:spcPts val="204"/>
              </a:spcBef>
              <a:buFont typeface="Arial"/>
              <a:buChar char="•"/>
              <a:tabLst>
                <a:tab pos="450850" algn="l"/>
              </a:tabLst>
            </a:pPr>
            <a:r>
              <a:rPr lang="en-US" sz="1600" dirty="0">
                <a:latin typeface="Cambria" panose="02040503050406030204" pitchFamily="18" charset="0"/>
                <a:ea typeface="Cambria" panose="02040503050406030204" pitchFamily="18" charset="0"/>
                <a:cs typeface="Arial"/>
              </a:rPr>
              <a:t>Perform perceptual and creative tasks</a:t>
            </a:r>
          </a:p>
          <a:p>
            <a:pPr marL="450850" marR="5080" lvl="5" indent="-116839">
              <a:lnSpc>
                <a:spcPct val="104099"/>
              </a:lnSpc>
              <a:spcBef>
                <a:spcPts val="204"/>
              </a:spcBef>
              <a:buFont typeface="Arial"/>
              <a:buChar char="•"/>
              <a:tabLst>
                <a:tab pos="450850" algn="l"/>
              </a:tabLst>
            </a:pPr>
            <a:r>
              <a:rPr lang="en-US" sz="1600" dirty="0">
                <a:latin typeface="Cambria" panose="02040503050406030204" pitchFamily="18" charset="0"/>
                <a:ea typeface="Cambria" panose="02040503050406030204" pitchFamily="18" charset="0"/>
                <a:cs typeface="Arial"/>
              </a:rPr>
              <a:t>Interact naturally with humans and the environment</a:t>
            </a:r>
            <a:endParaRPr sz="1600" dirty="0">
              <a:latin typeface="Cambria" panose="02040503050406030204" pitchFamily="18" charset="0"/>
              <a:ea typeface="Cambria" panose="02040503050406030204" pitchFamily="18" charset="0"/>
              <a:cs typeface="Arial"/>
            </a:endParaRPr>
          </a:p>
        </p:txBody>
      </p:sp>
      <p:pic>
        <p:nvPicPr>
          <p:cNvPr id="2" name="object 8">
            <a:extLst>
              <a:ext uri="{FF2B5EF4-FFF2-40B4-BE49-F238E27FC236}">
                <a16:creationId xmlns:a16="http://schemas.microsoft.com/office/drawing/2014/main" id="{EEFD1570-2DDC-E7C9-AD7A-A9BBFBA7B4F3}"/>
              </a:ext>
            </a:extLst>
          </p:cNvPr>
          <p:cNvPicPr/>
          <p:nvPr/>
        </p:nvPicPr>
        <p:blipFill>
          <a:blip r:embed="rId2" cstate="print"/>
          <a:stretch>
            <a:fillRect/>
          </a:stretch>
        </p:blipFill>
        <p:spPr>
          <a:xfrm>
            <a:off x="4006850" y="2359170"/>
            <a:ext cx="2215248" cy="1390053"/>
          </a:xfrm>
          <a:prstGeom prst="rect">
            <a:avLst/>
          </a:prstGeom>
        </p:spPr>
      </p:pic>
      <p:pic>
        <p:nvPicPr>
          <p:cNvPr id="3" name="object 9">
            <a:extLst>
              <a:ext uri="{FF2B5EF4-FFF2-40B4-BE49-F238E27FC236}">
                <a16:creationId xmlns:a16="http://schemas.microsoft.com/office/drawing/2014/main" id="{C54B8FD4-C703-391C-C470-4AD6A4DF5D7F}"/>
              </a:ext>
            </a:extLst>
          </p:cNvPr>
          <p:cNvPicPr/>
          <p:nvPr/>
        </p:nvPicPr>
        <p:blipFill>
          <a:blip r:embed="rId3" cstate="print"/>
          <a:stretch>
            <a:fillRect/>
          </a:stretch>
        </p:blipFill>
        <p:spPr>
          <a:xfrm>
            <a:off x="911507" y="3054197"/>
            <a:ext cx="3033814" cy="1163067"/>
          </a:xfrm>
          <a:prstGeom prst="rect">
            <a:avLst/>
          </a:prstGeom>
        </p:spPr>
      </p:pic>
      <p:pic>
        <p:nvPicPr>
          <p:cNvPr id="4" name="object 10">
            <a:extLst>
              <a:ext uri="{FF2B5EF4-FFF2-40B4-BE49-F238E27FC236}">
                <a16:creationId xmlns:a16="http://schemas.microsoft.com/office/drawing/2014/main" id="{AE6AFFED-0C22-454E-3258-07A1B9869F3F}"/>
              </a:ext>
            </a:extLst>
          </p:cNvPr>
          <p:cNvPicPr/>
          <p:nvPr/>
        </p:nvPicPr>
        <p:blipFill>
          <a:blip r:embed="rId4" cstate="print"/>
          <a:stretch>
            <a:fillRect/>
          </a:stretch>
        </p:blipFill>
        <p:spPr>
          <a:xfrm>
            <a:off x="4006850" y="3821775"/>
            <a:ext cx="1784400" cy="11885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329070" y="956527"/>
            <a:ext cx="563775" cy="1128457"/>
          </a:xfrm>
          <a:prstGeom prst="rect">
            <a:avLst/>
          </a:prstGeom>
        </p:spPr>
      </p:pic>
      <p:sp>
        <p:nvSpPr>
          <p:cNvPr id="3" name="object 3"/>
          <p:cNvSpPr txBox="1"/>
          <p:nvPr/>
        </p:nvSpPr>
        <p:spPr>
          <a:xfrm>
            <a:off x="501650" y="434557"/>
            <a:ext cx="5638800" cy="1920398"/>
          </a:xfrm>
          <a:prstGeom prst="rect">
            <a:avLst/>
          </a:prstGeom>
        </p:spPr>
        <p:txBody>
          <a:bodyPr vert="horz" wrap="square" lIns="0" tIns="17145" rIns="0" bIns="0" rtlCol="0">
            <a:spAutoFit/>
          </a:bodyPr>
          <a:lstStyle/>
          <a:p>
            <a:pPr marL="12700">
              <a:lnSpc>
                <a:spcPct val="100000"/>
              </a:lnSpc>
              <a:spcBef>
                <a:spcPts val="135"/>
              </a:spcBef>
            </a:pPr>
            <a:r>
              <a:rPr sz="1900" b="1" dirty="0">
                <a:solidFill>
                  <a:srgbClr val="FF0000"/>
                </a:solidFill>
                <a:latin typeface="Cambria"/>
                <a:cs typeface="Cambria"/>
              </a:rPr>
              <a:t>What</a:t>
            </a:r>
            <a:r>
              <a:rPr sz="1900" b="1" spc="-15" dirty="0">
                <a:solidFill>
                  <a:srgbClr val="FF0000"/>
                </a:solidFill>
                <a:latin typeface="Cambria"/>
                <a:cs typeface="Cambria"/>
              </a:rPr>
              <a:t> </a:t>
            </a:r>
            <a:r>
              <a:rPr sz="1900" b="1" dirty="0">
                <a:solidFill>
                  <a:srgbClr val="FF0000"/>
                </a:solidFill>
                <a:latin typeface="Cambria"/>
                <a:cs typeface="Cambria"/>
              </a:rPr>
              <a:t>is</a:t>
            </a:r>
            <a:r>
              <a:rPr sz="1900" b="1" spc="-10" dirty="0">
                <a:solidFill>
                  <a:srgbClr val="FF0000"/>
                </a:solidFill>
                <a:latin typeface="Cambria"/>
                <a:cs typeface="Cambria"/>
              </a:rPr>
              <a:t> </a:t>
            </a:r>
            <a:r>
              <a:rPr sz="1900" b="1" dirty="0">
                <a:solidFill>
                  <a:srgbClr val="FF0000"/>
                </a:solidFill>
                <a:latin typeface="Cambria"/>
                <a:cs typeface="Cambria"/>
              </a:rPr>
              <a:t>an</a:t>
            </a:r>
            <a:r>
              <a:rPr sz="1900" b="1" spc="-20" dirty="0">
                <a:solidFill>
                  <a:srgbClr val="FF0000"/>
                </a:solidFill>
                <a:latin typeface="Cambria"/>
                <a:cs typeface="Cambria"/>
              </a:rPr>
              <a:t> </a:t>
            </a:r>
            <a:r>
              <a:rPr sz="1900" b="1" spc="-10" dirty="0">
                <a:solidFill>
                  <a:srgbClr val="FF0000"/>
                </a:solidFill>
                <a:latin typeface="Cambria"/>
                <a:cs typeface="Cambria"/>
              </a:rPr>
              <a:t>intelligent</a:t>
            </a:r>
            <a:r>
              <a:rPr sz="1900" b="1" spc="-15" dirty="0">
                <a:solidFill>
                  <a:srgbClr val="FF0000"/>
                </a:solidFill>
                <a:latin typeface="Cambria"/>
                <a:cs typeface="Cambria"/>
              </a:rPr>
              <a:t> </a:t>
            </a:r>
            <a:r>
              <a:rPr sz="1900" b="1" spc="-10" dirty="0">
                <a:solidFill>
                  <a:srgbClr val="FF0000"/>
                </a:solidFill>
                <a:latin typeface="Cambria"/>
                <a:cs typeface="Cambria"/>
              </a:rPr>
              <a:t>system?</a:t>
            </a:r>
            <a:endParaRPr sz="1900" dirty="0">
              <a:latin typeface="Cambria"/>
              <a:cs typeface="Cambria"/>
            </a:endParaRPr>
          </a:p>
          <a:p>
            <a:pPr>
              <a:lnSpc>
                <a:spcPct val="100000"/>
              </a:lnSpc>
              <a:spcBef>
                <a:spcPts val="240"/>
              </a:spcBef>
            </a:pPr>
            <a:endParaRPr sz="1900" dirty="0">
              <a:latin typeface="Cambria"/>
              <a:cs typeface="Cambria"/>
            </a:endParaRPr>
          </a:p>
          <a:p>
            <a:r>
              <a:rPr lang="en-US" sz="1400" dirty="0">
                <a:effectLst/>
                <a:latin typeface="Cambria" panose="02040503050406030204" pitchFamily="18" charset="0"/>
                <a:ea typeface="Cambria" panose="02040503050406030204" pitchFamily="18" charset="0"/>
              </a:rPr>
              <a:t>Systems that perform tasks requiring human intelligence: perceiving, reasoning, learning, and acting autonomously.</a:t>
            </a:r>
          </a:p>
          <a:p>
            <a:pPr marL="285750" indent="-285750">
              <a:buFont typeface="Arial" panose="020B0604020202020204" pitchFamily="34" charset="0"/>
              <a:buChar char="•"/>
            </a:pPr>
            <a:r>
              <a:rPr lang="en-US" sz="1400" b="1" dirty="0">
                <a:latin typeface="Cambria" panose="02040503050406030204" pitchFamily="18" charset="0"/>
                <a:ea typeface="Cambria" panose="02040503050406030204" pitchFamily="18" charset="0"/>
              </a:rPr>
              <a:t>Classic (</a:t>
            </a:r>
            <a:r>
              <a:rPr lang="en-US" sz="1400" b="1" dirty="0">
                <a:solidFill>
                  <a:schemeClr val="accent1"/>
                </a:solidFill>
                <a:latin typeface="Cambria" panose="02040503050406030204" pitchFamily="18" charset="0"/>
                <a:ea typeface="Cambria" panose="02040503050406030204" pitchFamily="18" charset="0"/>
              </a:rPr>
              <a:t>Minsky</a:t>
            </a:r>
            <a:r>
              <a:rPr lang="en-US" sz="1400" b="1" dirty="0">
                <a:latin typeface="Cambria" panose="02040503050406030204" pitchFamily="18" charset="0"/>
                <a:ea typeface="Cambria" panose="02040503050406030204" pitchFamily="18" charset="0"/>
              </a:rPr>
              <a:t>)</a:t>
            </a:r>
            <a:r>
              <a:rPr lang="en-US" sz="1400" dirty="0">
                <a:latin typeface="Cambria" panose="02040503050406030204" pitchFamily="18" charset="0"/>
                <a:ea typeface="Cambria" panose="02040503050406030204" pitchFamily="18" charset="0"/>
              </a:rPr>
              <a:t>: “Programming computers to solve tasks that would require intelligence for people.  (Rule-Based System)”</a:t>
            </a:r>
          </a:p>
          <a:p>
            <a:pPr marL="285750" indent="-285750">
              <a:buFont typeface="Arial" panose="020B0604020202020204" pitchFamily="34" charset="0"/>
              <a:buChar char="•"/>
            </a:pPr>
            <a:r>
              <a:rPr lang="en-US" sz="1400" b="1" dirty="0">
                <a:latin typeface="Cambria" panose="02040503050406030204" pitchFamily="18" charset="0"/>
                <a:ea typeface="Cambria" panose="02040503050406030204" pitchFamily="18" charset="0"/>
              </a:rPr>
              <a:t>Today: </a:t>
            </a:r>
            <a:r>
              <a:rPr lang="en-US" sz="1400" dirty="0">
                <a:latin typeface="Cambria" panose="02040503050406030204" pitchFamily="18" charset="0"/>
                <a:ea typeface="Cambria" panose="02040503050406030204" pitchFamily="18" charset="0"/>
              </a:rPr>
              <a:t>Often powered by large foundation models + agents that </a:t>
            </a:r>
            <a:r>
              <a:rPr lang="en-US" sz="1400" b="1" dirty="0">
                <a:latin typeface="Cambria" panose="02040503050406030204" pitchFamily="18" charset="0"/>
                <a:ea typeface="Cambria" panose="02040503050406030204" pitchFamily="18" charset="0"/>
              </a:rPr>
              <a:t>learn and adapt</a:t>
            </a:r>
            <a:r>
              <a:rPr lang="en-US" sz="1400" dirty="0">
                <a:latin typeface="Cambria" panose="02040503050406030204" pitchFamily="18" charset="0"/>
                <a:ea typeface="Cambria" panose="02040503050406030204" pitchFamily="18" charset="0"/>
              </a:rPr>
              <a:t> automatically. (ML/DL/LLM-Based System)</a:t>
            </a:r>
          </a:p>
        </p:txBody>
      </p:sp>
      <p:pic>
        <p:nvPicPr>
          <p:cNvPr id="3074" name="Picture 2" descr="My framework for choosing between rule-based and ML-based systems | by  Khayyam H. | Medium">
            <a:extLst>
              <a:ext uri="{FF2B5EF4-FFF2-40B4-BE49-F238E27FC236}">
                <a16:creationId xmlns:a16="http://schemas.microsoft.com/office/drawing/2014/main" id="{EA25F5DA-E9D6-F0F9-5B27-DC8D3DADEF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98625" y="2520950"/>
            <a:ext cx="4159250" cy="25305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94FA9-8438-7A29-B082-14684C482B92}"/>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F0CF16B-7E99-1329-4C0E-964834B6B415}"/>
              </a:ext>
            </a:extLst>
          </p:cNvPr>
          <p:cNvPicPr/>
          <p:nvPr/>
        </p:nvPicPr>
        <p:blipFill>
          <a:blip r:embed="rId2" cstate="print"/>
          <a:stretch>
            <a:fillRect/>
          </a:stretch>
        </p:blipFill>
        <p:spPr>
          <a:xfrm>
            <a:off x="6329070" y="956527"/>
            <a:ext cx="563775" cy="1128457"/>
          </a:xfrm>
          <a:prstGeom prst="rect">
            <a:avLst/>
          </a:prstGeom>
        </p:spPr>
      </p:pic>
      <p:sp>
        <p:nvSpPr>
          <p:cNvPr id="3" name="object 3">
            <a:extLst>
              <a:ext uri="{FF2B5EF4-FFF2-40B4-BE49-F238E27FC236}">
                <a16:creationId xmlns:a16="http://schemas.microsoft.com/office/drawing/2014/main" id="{B08F0186-BDB3-2E6E-E9E2-59CF04CBF5B2}"/>
              </a:ext>
            </a:extLst>
          </p:cNvPr>
          <p:cNvSpPr txBox="1"/>
          <p:nvPr/>
        </p:nvSpPr>
        <p:spPr>
          <a:xfrm>
            <a:off x="501650" y="434557"/>
            <a:ext cx="5638800" cy="309700"/>
          </a:xfrm>
          <a:prstGeom prst="rect">
            <a:avLst/>
          </a:prstGeom>
        </p:spPr>
        <p:txBody>
          <a:bodyPr vert="horz" wrap="square" lIns="0" tIns="17145" rIns="0" bIns="0" rtlCol="0">
            <a:spAutoFit/>
          </a:bodyPr>
          <a:lstStyle/>
          <a:p>
            <a:pPr marL="12700">
              <a:lnSpc>
                <a:spcPct val="100000"/>
              </a:lnSpc>
              <a:spcBef>
                <a:spcPts val="135"/>
              </a:spcBef>
            </a:pPr>
            <a:r>
              <a:rPr sz="1900" b="1" dirty="0">
                <a:solidFill>
                  <a:srgbClr val="FF0000"/>
                </a:solidFill>
                <a:latin typeface="Cambria"/>
                <a:cs typeface="Cambria"/>
              </a:rPr>
              <a:t>What</a:t>
            </a:r>
            <a:r>
              <a:rPr sz="1900" b="1" spc="-15" dirty="0">
                <a:solidFill>
                  <a:srgbClr val="FF0000"/>
                </a:solidFill>
                <a:latin typeface="Cambria"/>
                <a:cs typeface="Cambria"/>
              </a:rPr>
              <a:t> </a:t>
            </a:r>
            <a:r>
              <a:rPr sz="1900" b="1" dirty="0">
                <a:solidFill>
                  <a:srgbClr val="FF0000"/>
                </a:solidFill>
                <a:latin typeface="Cambria"/>
                <a:cs typeface="Cambria"/>
              </a:rPr>
              <a:t>is</a:t>
            </a:r>
            <a:r>
              <a:rPr sz="1900" b="1" spc="-10" dirty="0">
                <a:solidFill>
                  <a:srgbClr val="FF0000"/>
                </a:solidFill>
                <a:latin typeface="Cambria"/>
                <a:cs typeface="Cambria"/>
              </a:rPr>
              <a:t> </a:t>
            </a:r>
            <a:r>
              <a:rPr sz="1900" b="1" dirty="0">
                <a:solidFill>
                  <a:srgbClr val="FF0000"/>
                </a:solidFill>
                <a:latin typeface="Cambria"/>
                <a:cs typeface="Cambria"/>
              </a:rPr>
              <a:t>an</a:t>
            </a:r>
            <a:r>
              <a:rPr sz="1900" b="1" spc="-20" dirty="0">
                <a:solidFill>
                  <a:srgbClr val="FF0000"/>
                </a:solidFill>
                <a:latin typeface="Cambria"/>
                <a:cs typeface="Cambria"/>
              </a:rPr>
              <a:t> </a:t>
            </a:r>
            <a:r>
              <a:rPr sz="1900" b="1" spc="-10" dirty="0">
                <a:solidFill>
                  <a:srgbClr val="FF0000"/>
                </a:solidFill>
                <a:latin typeface="Cambria"/>
                <a:cs typeface="Cambria"/>
              </a:rPr>
              <a:t>intelligent</a:t>
            </a:r>
            <a:r>
              <a:rPr sz="1900" b="1" spc="-15" dirty="0">
                <a:solidFill>
                  <a:srgbClr val="FF0000"/>
                </a:solidFill>
                <a:latin typeface="Cambria"/>
                <a:cs typeface="Cambria"/>
              </a:rPr>
              <a:t> </a:t>
            </a:r>
            <a:r>
              <a:rPr sz="1900" b="1" spc="-10" dirty="0">
                <a:solidFill>
                  <a:srgbClr val="FF0000"/>
                </a:solidFill>
                <a:latin typeface="Cambria"/>
                <a:cs typeface="Cambria"/>
              </a:rPr>
              <a:t>system?</a:t>
            </a:r>
            <a:endParaRPr sz="1900" dirty="0">
              <a:latin typeface="Cambria"/>
              <a:cs typeface="Cambria"/>
            </a:endParaRPr>
          </a:p>
        </p:txBody>
      </p:sp>
      <p:pic>
        <p:nvPicPr>
          <p:cNvPr id="4098" name="Picture 2" descr="Intelligent Systems PowerPoint and Google Slides Template - PPT Slides">
            <a:extLst>
              <a:ext uri="{FF2B5EF4-FFF2-40B4-BE49-F238E27FC236}">
                <a16:creationId xmlns:a16="http://schemas.microsoft.com/office/drawing/2014/main" id="{196020D9-AECD-A790-CC32-B09A8B0D59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150" y="844550"/>
            <a:ext cx="5257800" cy="394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870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329070" y="956527"/>
            <a:ext cx="563775" cy="1128457"/>
          </a:xfrm>
          <a:prstGeom prst="rect">
            <a:avLst/>
          </a:prstGeom>
        </p:spPr>
      </p:pic>
      <p:sp>
        <p:nvSpPr>
          <p:cNvPr id="3" name="object 3"/>
          <p:cNvSpPr txBox="1"/>
          <p:nvPr/>
        </p:nvSpPr>
        <p:spPr>
          <a:xfrm>
            <a:off x="501650" y="458730"/>
            <a:ext cx="3262629" cy="321310"/>
          </a:xfrm>
          <a:prstGeom prst="rect">
            <a:avLst/>
          </a:prstGeom>
        </p:spPr>
        <p:txBody>
          <a:bodyPr vert="horz" wrap="square" lIns="0" tIns="17145" rIns="0" bIns="0" rtlCol="0">
            <a:spAutoFit/>
          </a:bodyPr>
          <a:lstStyle/>
          <a:p>
            <a:pPr marL="12700">
              <a:lnSpc>
                <a:spcPct val="100000"/>
              </a:lnSpc>
              <a:spcBef>
                <a:spcPts val="135"/>
              </a:spcBef>
            </a:pPr>
            <a:r>
              <a:rPr lang="en-US" sz="1900" b="1" dirty="0">
                <a:solidFill>
                  <a:srgbClr val="FF0000"/>
                </a:solidFill>
                <a:latin typeface="Cambria"/>
                <a:cs typeface="Cambria"/>
              </a:rPr>
              <a:t>AI Hierarchy</a:t>
            </a:r>
            <a:endParaRPr sz="1900" dirty="0">
              <a:latin typeface="Cambria"/>
              <a:cs typeface="Cambria"/>
            </a:endParaRPr>
          </a:p>
        </p:txBody>
      </p:sp>
      <p:pic>
        <p:nvPicPr>
          <p:cNvPr id="22" name="Picture 21">
            <a:extLst>
              <a:ext uri="{FF2B5EF4-FFF2-40B4-BE49-F238E27FC236}">
                <a16:creationId xmlns:a16="http://schemas.microsoft.com/office/drawing/2014/main" id="{7D93B51B-C114-C49B-0C54-62FE7545D845}"/>
              </a:ext>
            </a:extLst>
          </p:cNvPr>
          <p:cNvPicPr>
            <a:picLocks noChangeAspect="1"/>
          </p:cNvPicPr>
          <p:nvPr/>
        </p:nvPicPr>
        <p:blipFill>
          <a:blip r:embed="rId4"/>
          <a:stretch>
            <a:fillRect/>
          </a:stretch>
        </p:blipFill>
        <p:spPr>
          <a:xfrm>
            <a:off x="0" y="905855"/>
            <a:ext cx="7556500" cy="35349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p:nvPr/>
        </p:nvSpPr>
        <p:spPr>
          <a:xfrm>
            <a:off x="1002708" y="1402387"/>
            <a:ext cx="1482090" cy="1172845"/>
          </a:xfrm>
          <a:prstGeom prst="rect">
            <a:avLst/>
          </a:prstGeom>
        </p:spPr>
        <p:txBody>
          <a:bodyPr vert="horz" wrap="square" lIns="0" tIns="46355" rIns="0" bIns="0" rtlCol="0">
            <a:spAutoFit/>
          </a:bodyPr>
          <a:lstStyle/>
          <a:p>
            <a:pPr marL="12700" marR="5080" indent="359410" algn="r">
              <a:lnSpc>
                <a:spcPts val="2200"/>
              </a:lnSpc>
              <a:spcBef>
                <a:spcPts val="365"/>
              </a:spcBef>
            </a:pPr>
            <a:r>
              <a:rPr sz="2000" spc="-10" dirty="0">
                <a:solidFill>
                  <a:srgbClr val="FFFFFF"/>
                </a:solidFill>
                <a:latin typeface="Calibri Light"/>
                <a:cs typeface="Calibri Light"/>
              </a:rPr>
              <a:t>Intelligent </a:t>
            </a:r>
            <a:r>
              <a:rPr sz="2000" dirty="0">
                <a:solidFill>
                  <a:srgbClr val="FFFFFF"/>
                </a:solidFill>
                <a:latin typeface="Calibri Light"/>
                <a:cs typeface="Calibri Light"/>
              </a:rPr>
              <a:t>systems</a:t>
            </a:r>
            <a:r>
              <a:rPr sz="2000" spc="185" dirty="0">
                <a:solidFill>
                  <a:srgbClr val="FFFFFF"/>
                </a:solidFill>
                <a:latin typeface="Calibri Light"/>
                <a:cs typeface="Calibri Light"/>
              </a:rPr>
              <a:t> </a:t>
            </a:r>
            <a:r>
              <a:rPr sz="2000" dirty="0">
                <a:solidFill>
                  <a:srgbClr val="FFFFFF"/>
                </a:solidFill>
                <a:latin typeface="Calibri Light"/>
                <a:cs typeface="Calibri Light"/>
              </a:rPr>
              <a:t>vs</a:t>
            </a:r>
            <a:r>
              <a:rPr sz="2000" spc="190" dirty="0">
                <a:solidFill>
                  <a:srgbClr val="FFFFFF"/>
                </a:solidFill>
                <a:latin typeface="Calibri Light"/>
                <a:cs typeface="Calibri Light"/>
              </a:rPr>
              <a:t> </a:t>
            </a:r>
            <a:r>
              <a:rPr sz="2000" spc="-25" dirty="0">
                <a:solidFill>
                  <a:srgbClr val="FFFFFF"/>
                </a:solidFill>
                <a:latin typeface="Calibri Light"/>
                <a:cs typeface="Calibri Light"/>
              </a:rPr>
              <a:t>AI </a:t>
            </a:r>
            <a:r>
              <a:rPr sz="2000" dirty="0">
                <a:solidFill>
                  <a:srgbClr val="FFFFFF"/>
                </a:solidFill>
                <a:latin typeface="Calibri Light"/>
                <a:cs typeface="Calibri Light"/>
              </a:rPr>
              <a:t>vs</a:t>
            </a:r>
            <a:r>
              <a:rPr sz="2000" spc="100" dirty="0">
                <a:solidFill>
                  <a:srgbClr val="FFFFFF"/>
                </a:solidFill>
                <a:latin typeface="Calibri Light"/>
                <a:cs typeface="Calibri Light"/>
              </a:rPr>
              <a:t> </a:t>
            </a:r>
            <a:r>
              <a:rPr sz="2000" spc="40" dirty="0">
                <a:solidFill>
                  <a:srgbClr val="FFFFFF"/>
                </a:solidFill>
                <a:latin typeface="Calibri Light"/>
                <a:cs typeface="Calibri Light"/>
              </a:rPr>
              <a:t>Machine </a:t>
            </a:r>
            <a:r>
              <a:rPr sz="2000" spc="50" dirty="0">
                <a:solidFill>
                  <a:srgbClr val="FFFFFF"/>
                </a:solidFill>
                <a:latin typeface="Calibri Light"/>
                <a:cs typeface="Calibri Light"/>
              </a:rPr>
              <a:t>Learning</a:t>
            </a:r>
            <a:r>
              <a:rPr sz="2000" spc="70" dirty="0">
                <a:solidFill>
                  <a:srgbClr val="FFFFFF"/>
                </a:solidFill>
                <a:latin typeface="Calibri Light"/>
                <a:cs typeface="Calibri Light"/>
              </a:rPr>
              <a:t> </a:t>
            </a:r>
            <a:r>
              <a:rPr sz="2000" dirty="0">
                <a:solidFill>
                  <a:srgbClr val="FFFFFF"/>
                </a:solidFill>
                <a:latin typeface="Calibri Light"/>
                <a:cs typeface="Calibri Light"/>
              </a:rPr>
              <a:t>vs</a:t>
            </a:r>
            <a:r>
              <a:rPr sz="2000" spc="80" dirty="0">
                <a:solidFill>
                  <a:srgbClr val="FFFFFF"/>
                </a:solidFill>
                <a:latin typeface="Calibri Light"/>
                <a:cs typeface="Calibri Light"/>
              </a:rPr>
              <a:t> </a:t>
            </a:r>
            <a:r>
              <a:rPr sz="2000" spc="-50" dirty="0">
                <a:solidFill>
                  <a:srgbClr val="FFFFFF"/>
                </a:solidFill>
                <a:latin typeface="Calibri Light"/>
                <a:cs typeface="Calibri Light"/>
              </a:rPr>
              <a:t>…</a:t>
            </a:r>
            <a:endParaRPr sz="2000" dirty="0">
              <a:latin typeface="Calibri Light"/>
              <a:cs typeface="Calibri Light"/>
            </a:endParaRPr>
          </a:p>
        </p:txBody>
      </p:sp>
      <p:sp>
        <p:nvSpPr>
          <p:cNvPr id="12" name="object 12"/>
          <p:cNvSpPr txBox="1"/>
          <p:nvPr/>
        </p:nvSpPr>
        <p:spPr>
          <a:xfrm>
            <a:off x="273050" y="463550"/>
            <a:ext cx="5943600" cy="3805401"/>
          </a:xfrm>
          <a:prstGeom prst="rect">
            <a:avLst/>
          </a:prstGeom>
        </p:spPr>
        <p:txBody>
          <a:bodyPr vert="horz" wrap="square" lIns="0" tIns="131445" rIns="0" bIns="0" rtlCol="0">
            <a:spAutoFit/>
          </a:bodyPr>
          <a:lstStyle/>
          <a:p>
            <a:pPr marL="12700">
              <a:lnSpc>
                <a:spcPct val="100000"/>
              </a:lnSpc>
              <a:spcBef>
                <a:spcPts val="1035"/>
              </a:spcBef>
              <a:tabLst>
                <a:tab pos="167640" algn="l"/>
              </a:tabLst>
            </a:pPr>
            <a:r>
              <a:rPr lang="en-US" sz="1900" b="1" spc="-10" dirty="0">
                <a:solidFill>
                  <a:srgbClr val="FF0000"/>
                </a:solidFill>
                <a:latin typeface="Cambria" panose="02040503050406030204" pitchFamily="18" charset="0"/>
                <a:ea typeface="Cambria" panose="02040503050406030204" pitchFamily="18" charset="0"/>
                <a:cs typeface="Calibri"/>
              </a:rPr>
              <a:t>Terminologies</a:t>
            </a:r>
            <a:endParaRPr lang="en-US" sz="1900" dirty="0">
              <a:solidFill>
                <a:srgbClr val="FF0000"/>
              </a:solidFill>
              <a:latin typeface="Cambria" panose="02040503050406030204" pitchFamily="18" charset="0"/>
              <a:ea typeface="Cambria" panose="02040503050406030204" pitchFamily="18" charset="0"/>
              <a:cs typeface="Calibri"/>
            </a:endParaRPr>
          </a:p>
          <a:p>
            <a:pPr marL="361950" lvl="1" indent="-154940">
              <a:spcBef>
                <a:spcPts val="940"/>
              </a:spcBef>
              <a:buFont typeface="Arial"/>
              <a:buChar char="•"/>
              <a:tabLst>
                <a:tab pos="361950" algn="l"/>
              </a:tabLst>
            </a:pPr>
            <a:r>
              <a:rPr lang="en-US" sz="1600" b="1" spc="-10" dirty="0">
                <a:latin typeface="Cambria" panose="02040503050406030204" pitchFamily="18" charset="0"/>
                <a:ea typeface="Cambria" panose="02040503050406030204" pitchFamily="18" charset="0"/>
                <a:cs typeface="Calibri"/>
              </a:rPr>
              <a:t>Intelligent</a:t>
            </a:r>
            <a:r>
              <a:rPr lang="en-US" sz="1600" b="1" spc="-40" dirty="0">
                <a:latin typeface="Cambria" panose="02040503050406030204" pitchFamily="18" charset="0"/>
                <a:ea typeface="Cambria" panose="02040503050406030204" pitchFamily="18" charset="0"/>
                <a:cs typeface="Calibri"/>
              </a:rPr>
              <a:t> </a:t>
            </a:r>
            <a:r>
              <a:rPr lang="en-US" sz="1600" b="1" spc="-10" dirty="0">
                <a:latin typeface="Cambria" panose="02040503050406030204" pitchFamily="18" charset="0"/>
                <a:ea typeface="Cambria" panose="02040503050406030204" pitchFamily="18" charset="0"/>
                <a:cs typeface="Calibri"/>
              </a:rPr>
              <a:t>systems</a:t>
            </a:r>
            <a:r>
              <a:rPr lang="en-US" sz="1600" b="1" spc="-45" dirty="0">
                <a:latin typeface="Cambria" panose="02040503050406030204" pitchFamily="18" charset="0"/>
                <a:ea typeface="Cambria" panose="02040503050406030204" pitchFamily="18" charset="0"/>
                <a:cs typeface="Calibri"/>
              </a:rPr>
              <a:t> </a:t>
            </a:r>
            <a:r>
              <a:rPr lang="en-US" sz="1600" b="1" spc="-20" dirty="0">
                <a:latin typeface="Cambria" panose="02040503050406030204" pitchFamily="18" charset="0"/>
                <a:ea typeface="Cambria" panose="02040503050406030204" pitchFamily="18" charset="0"/>
                <a:cs typeface="Calibri"/>
              </a:rPr>
              <a:t>(</a:t>
            </a:r>
            <a:r>
              <a:rPr lang="en-US" sz="1600" b="1" spc="-20" dirty="0">
                <a:solidFill>
                  <a:srgbClr val="FF0000"/>
                </a:solidFill>
                <a:latin typeface="Cambria" panose="02040503050406030204" pitchFamily="18" charset="0"/>
                <a:ea typeface="Cambria" panose="02040503050406030204" pitchFamily="18" charset="0"/>
                <a:cs typeface="Calibri"/>
              </a:rPr>
              <a:t>IS</a:t>
            </a:r>
            <a:r>
              <a:rPr lang="en-US" sz="1600" b="1" spc="-20" dirty="0">
                <a:latin typeface="Cambria" panose="02040503050406030204" pitchFamily="18" charset="0"/>
                <a:ea typeface="Cambria" panose="02040503050406030204" pitchFamily="18" charset="0"/>
                <a:cs typeface="Calibri"/>
              </a:rPr>
              <a:t>):</a:t>
            </a:r>
            <a:r>
              <a:rPr lang="en-US" sz="1600" dirty="0">
                <a:effectLst/>
                <a:latin typeface="Cambria" panose="02040503050406030204" pitchFamily="18" charset="0"/>
                <a:ea typeface="Cambria" panose="02040503050406030204" pitchFamily="18" charset="0"/>
              </a:rPr>
              <a:t> Broad umbrella for smart applications</a:t>
            </a:r>
            <a:endParaRPr lang="en-US" sz="1600" dirty="0">
              <a:latin typeface="Cambria" panose="02040503050406030204" pitchFamily="18" charset="0"/>
              <a:ea typeface="Cambria" panose="02040503050406030204" pitchFamily="18" charset="0"/>
              <a:cs typeface="Calibri"/>
            </a:endParaRPr>
          </a:p>
          <a:p>
            <a:pPr marL="361950" lvl="1" indent="-154940">
              <a:spcBef>
                <a:spcPts val="45"/>
              </a:spcBef>
              <a:buFont typeface="Arial"/>
              <a:buChar char="•"/>
              <a:tabLst>
                <a:tab pos="361950" algn="l"/>
              </a:tabLst>
            </a:pPr>
            <a:r>
              <a:rPr sz="1600" b="1" dirty="0">
                <a:latin typeface="Cambria" panose="02040503050406030204" pitchFamily="18" charset="0"/>
                <a:ea typeface="Cambria" panose="02040503050406030204" pitchFamily="18" charset="0"/>
                <a:cs typeface="Calibri"/>
              </a:rPr>
              <a:t>Artificial</a:t>
            </a:r>
            <a:r>
              <a:rPr sz="1600" b="1" spc="-10" dirty="0">
                <a:latin typeface="Cambria" panose="02040503050406030204" pitchFamily="18" charset="0"/>
                <a:ea typeface="Cambria" panose="02040503050406030204" pitchFamily="18" charset="0"/>
                <a:cs typeface="Calibri"/>
              </a:rPr>
              <a:t> Intelligence </a:t>
            </a:r>
            <a:r>
              <a:rPr sz="1600" b="1" spc="-20" dirty="0">
                <a:latin typeface="Cambria" panose="02040503050406030204" pitchFamily="18" charset="0"/>
                <a:ea typeface="Cambria" panose="02040503050406030204" pitchFamily="18" charset="0"/>
                <a:cs typeface="Calibri"/>
              </a:rPr>
              <a:t>(</a:t>
            </a:r>
            <a:r>
              <a:rPr sz="1600" b="1" spc="-20" dirty="0">
                <a:solidFill>
                  <a:srgbClr val="FF0000"/>
                </a:solidFill>
                <a:latin typeface="Cambria" panose="02040503050406030204" pitchFamily="18" charset="0"/>
                <a:ea typeface="Cambria" panose="02040503050406030204" pitchFamily="18" charset="0"/>
                <a:cs typeface="Calibri"/>
              </a:rPr>
              <a:t>AI</a:t>
            </a:r>
            <a:r>
              <a:rPr sz="1600" b="1" spc="-20" dirty="0">
                <a:latin typeface="Cambria" panose="02040503050406030204" pitchFamily="18" charset="0"/>
                <a:ea typeface="Cambria" panose="02040503050406030204" pitchFamily="18" charset="0"/>
                <a:cs typeface="Calibri"/>
              </a:rPr>
              <a:t>)</a:t>
            </a:r>
            <a:r>
              <a:rPr lang="en-US" sz="1600" b="1" spc="-20" dirty="0">
                <a:latin typeface="Cambria" panose="02040503050406030204" pitchFamily="18" charset="0"/>
                <a:ea typeface="Cambria" panose="02040503050406030204" pitchFamily="18" charset="0"/>
                <a:cs typeface="Calibri"/>
              </a:rPr>
              <a:t>: </a:t>
            </a:r>
            <a:r>
              <a:rPr lang="en-US" sz="1600" dirty="0">
                <a:effectLst/>
                <a:latin typeface="Cambria" panose="02040503050406030204" pitchFamily="18" charset="0"/>
                <a:ea typeface="Cambria" panose="02040503050406030204" pitchFamily="18" charset="0"/>
              </a:rPr>
              <a:t>The science and engineering of intelligent systems</a:t>
            </a:r>
            <a:endParaRPr sz="1600" dirty="0">
              <a:latin typeface="Cambria" panose="02040503050406030204" pitchFamily="18" charset="0"/>
              <a:ea typeface="Cambria" panose="02040503050406030204" pitchFamily="18" charset="0"/>
              <a:cs typeface="Calibri"/>
            </a:endParaRPr>
          </a:p>
          <a:p>
            <a:pPr marL="361950" lvl="1" indent="-154940">
              <a:spcBef>
                <a:spcPts val="45"/>
              </a:spcBef>
              <a:buFont typeface="Arial"/>
              <a:buChar char="•"/>
              <a:tabLst>
                <a:tab pos="361950" algn="l"/>
              </a:tabLst>
            </a:pPr>
            <a:r>
              <a:rPr sz="1600" b="1" dirty="0">
                <a:latin typeface="Cambria" panose="02040503050406030204" pitchFamily="18" charset="0"/>
                <a:ea typeface="Cambria" panose="02040503050406030204" pitchFamily="18" charset="0"/>
                <a:cs typeface="Calibri"/>
              </a:rPr>
              <a:t>Machine</a:t>
            </a:r>
            <a:r>
              <a:rPr sz="1600" b="1" spc="-40" dirty="0">
                <a:latin typeface="Cambria" panose="02040503050406030204" pitchFamily="18" charset="0"/>
                <a:ea typeface="Cambria" panose="02040503050406030204" pitchFamily="18" charset="0"/>
                <a:cs typeface="Calibri"/>
              </a:rPr>
              <a:t> </a:t>
            </a:r>
            <a:r>
              <a:rPr sz="1600" b="1" dirty="0">
                <a:latin typeface="Cambria" panose="02040503050406030204" pitchFamily="18" charset="0"/>
                <a:ea typeface="Cambria" panose="02040503050406030204" pitchFamily="18" charset="0"/>
                <a:cs typeface="Calibri"/>
              </a:rPr>
              <a:t>learning</a:t>
            </a:r>
            <a:r>
              <a:rPr sz="1600" b="1" spc="-45" dirty="0">
                <a:latin typeface="Cambria" panose="02040503050406030204" pitchFamily="18" charset="0"/>
                <a:ea typeface="Cambria" panose="02040503050406030204" pitchFamily="18" charset="0"/>
                <a:cs typeface="Calibri"/>
              </a:rPr>
              <a:t> </a:t>
            </a:r>
            <a:r>
              <a:rPr sz="1600" b="1" spc="-20" dirty="0">
                <a:latin typeface="Cambria" panose="02040503050406030204" pitchFamily="18" charset="0"/>
                <a:ea typeface="Cambria" panose="02040503050406030204" pitchFamily="18" charset="0"/>
                <a:cs typeface="Calibri"/>
              </a:rPr>
              <a:t>(</a:t>
            </a:r>
            <a:r>
              <a:rPr sz="1600" b="1" spc="-20" dirty="0">
                <a:solidFill>
                  <a:srgbClr val="FF0000"/>
                </a:solidFill>
                <a:latin typeface="Cambria" panose="02040503050406030204" pitchFamily="18" charset="0"/>
                <a:ea typeface="Cambria" panose="02040503050406030204" pitchFamily="18" charset="0"/>
                <a:cs typeface="Calibri"/>
              </a:rPr>
              <a:t>ML</a:t>
            </a:r>
            <a:r>
              <a:rPr sz="1600" b="1" spc="-20" dirty="0">
                <a:latin typeface="Cambria" panose="02040503050406030204" pitchFamily="18" charset="0"/>
                <a:ea typeface="Cambria" panose="02040503050406030204" pitchFamily="18" charset="0"/>
                <a:cs typeface="Calibri"/>
              </a:rPr>
              <a:t>)</a:t>
            </a:r>
            <a:r>
              <a:rPr lang="en-US" sz="1600" b="1" spc="-20" dirty="0">
                <a:latin typeface="Cambria" panose="02040503050406030204" pitchFamily="18" charset="0"/>
                <a:ea typeface="Cambria" panose="02040503050406030204" pitchFamily="18" charset="0"/>
                <a:cs typeface="Calibri"/>
              </a:rPr>
              <a:t>/ Deep Learning (</a:t>
            </a:r>
            <a:r>
              <a:rPr lang="en-US" sz="1600" b="1" spc="-20" dirty="0">
                <a:solidFill>
                  <a:srgbClr val="FF0000"/>
                </a:solidFill>
                <a:latin typeface="Cambria" panose="02040503050406030204" pitchFamily="18" charset="0"/>
                <a:ea typeface="Cambria" panose="02040503050406030204" pitchFamily="18" charset="0"/>
                <a:cs typeface="Calibri"/>
              </a:rPr>
              <a:t>DL</a:t>
            </a:r>
            <a:r>
              <a:rPr lang="en-US" sz="1600" b="1" spc="-20" dirty="0">
                <a:latin typeface="Cambria" panose="02040503050406030204" pitchFamily="18" charset="0"/>
                <a:ea typeface="Cambria" panose="02040503050406030204" pitchFamily="18" charset="0"/>
                <a:cs typeface="Calibri"/>
              </a:rPr>
              <a:t>): </a:t>
            </a:r>
            <a:r>
              <a:rPr lang="en-US" sz="1600" dirty="0">
                <a:effectLst/>
                <a:latin typeface="Cambria" panose="02040503050406030204" pitchFamily="18" charset="0"/>
                <a:ea typeface="Cambria" panose="02040503050406030204" pitchFamily="18" charset="0"/>
              </a:rPr>
              <a:t>Learning from data (dominant approach)</a:t>
            </a:r>
          </a:p>
          <a:p>
            <a:pPr marL="361950" lvl="1" indent="-154940">
              <a:spcBef>
                <a:spcPts val="45"/>
              </a:spcBef>
              <a:buFont typeface="Arial"/>
              <a:buChar char="•"/>
              <a:tabLst>
                <a:tab pos="361950" algn="l"/>
              </a:tabLst>
            </a:pPr>
            <a:r>
              <a:rPr lang="en-US" sz="1600" b="1" dirty="0">
                <a:effectLst/>
                <a:latin typeface="Cambria" panose="02040503050406030204" pitchFamily="18" charset="0"/>
                <a:ea typeface="Cambria" panose="02040503050406030204" pitchFamily="18" charset="0"/>
              </a:rPr>
              <a:t>Foundation Models / LLMs / Multimodal</a:t>
            </a:r>
            <a:r>
              <a:rPr lang="en-US" sz="1600" dirty="0">
                <a:effectLst/>
                <a:latin typeface="Cambria" panose="02040503050406030204" pitchFamily="18" charset="0"/>
                <a:ea typeface="Cambria" panose="02040503050406030204" pitchFamily="18" charset="0"/>
              </a:rPr>
              <a:t>: Large general-purpose models (GPT, Claude, Gemini, Grok, Llama,…)</a:t>
            </a:r>
          </a:p>
          <a:p>
            <a:pPr marL="361950" lvl="1" indent="-154940">
              <a:spcBef>
                <a:spcPts val="45"/>
              </a:spcBef>
              <a:buFont typeface="Arial"/>
              <a:buChar char="•"/>
              <a:tabLst>
                <a:tab pos="361950" algn="l"/>
              </a:tabLst>
            </a:pPr>
            <a:r>
              <a:rPr lang="en-US" sz="1600" b="1" spc="-10" dirty="0">
                <a:latin typeface="Cambria" panose="02040503050406030204" pitchFamily="18" charset="0"/>
                <a:ea typeface="Cambria" panose="02040503050406030204" pitchFamily="18" charset="0"/>
                <a:cs typeface="Calibri"/>
              </a:rPr>
              <a:t>Intelligent</a:t>
            </a:r>
            <a:r>
              <a:rPr lang="en-US" sz="1600" b="1" spc="-45" dirty="0">
                <a:latin typeface="Cambria" panose="02040503050406030204" pitchFamily="18" charset="0"/>
                <a:ea typeface="Cambria" panose="02040503050406030204" pitchFamily="18" charset="0"/>
                <a:cs typeface="Calibri"/>
              </a:rPr>
              <a:t> </a:t>
            </a:r>
            <a:r>
              <a:rPr lang="en-US" sz="1600" b="1" dirty="0">
                <a:latin typeface="Cambria" panose="02040503050406030204" pitchFamily="18" charset="0"/>
                <a:ea typeface="Cambria" panose="02040503050406030204" pitchFamily="18" charset="0"/>
                <a:cs typeface="Calibri"/>
              </a:rPr>
              <a:t>agents</a:t>
            </a:r>
            <a:r>
              <a:rPr lang="en-US" sz="1600" b="1" spc="-50" dirty="0">
                <a:latin typeface="Cambria" panose="02040503050406030204" pitchFamily="18" charset="0"/>
                <a:ea typeface="Cambria" panose="02040503050406030204" pitchFamily="18" charset="0"/>
                <a:cs typeface="Calibri"/>
              </a:rPr>
              <a:t> </a:t>
            </a:r>
            <a:r>
              <a:rPr lang="en-US" sz="1600" b="1" spc="-20" dirty="0">
                <a:latin typeface="Cambria" panose="02040503050406030204" pitchFamily="18" charset="0"/>
                <a:ea typeface="Cambria" panose="02040503050406030204" pitchFamily="18" charset="0"/>
                <a:cs typeface="Calibri"/>
              </a:rPr>
              <a:t>(</a:t>
            </a:r>
            <a:r>
              <a:rPr lang="en-US" sz="1600" b="1" spc="-20" dirty="0">
                <a:solidFill>
                  <a:srgbClr val="FF0000"/>
                </a:solidFill>
                <a:latin typeface="Cambria" panose="02040503050406030204" pitchFamily="18" charset="0"/>
                <a:ea typeface="Cambria" panose="02040503050406030204" pitchFamily="18" charset="0"/>
                <a:cs typeface="Calibri"/>
              </a:rPr>
              <a:t>IA</a:t>
            </a:r>
            <a:r>
              <a:rPr lang="en-US" sz="1600" b="1" spc="-20" dirty="0">
                <a:latin typeface="Cambria" panose="02040503050406030204" pitchFamily="18" charset="0"/>
                <a:ea typeface="Cambria" panose="02040503050406030204" pitchFamily="18" charset="0"/>
                <a:cs typeface="Calibri"/>
              </a:rPr>
              <a:t>) / Agentic AI: </a:t>
            </a:r>
            <a:r>
              <a:rPr lang="en-US" sz="1600" dirty="0">
                <a:effectLst/>
                <a:latin typeface="Cambria" panose="02040503050406030204" pitchFamily="18" charset="0"/>
                <a:ea typeface="Cambria" panose="02040503050406030204" pitchFamily="18" charset="0"/>
              </a:rPr>
              <a:t>Autonomous systems that plan and act</a:t>
            </a:r>
            <a:endParaRPr sz="1600" dirty="0">
              <a:latin typeface="Cambria" panose="02040503050406030204" pitchFamily="18" charset="0"/>
              <a:ea typeface="Cambria" panose="02040503050406030204" pitchFamily="18" charset="0"/>
              <a:cs typeface="Calibri"/>
            </a:endParaRPr>
          </a:p>
          <a:p>
            <a:pPr marL="361950" lvl="1" indent="-154940">
              <a:lnSpc>
                <a:spcPct val="100000"/>
              </a:lnSpc>
              <a:spcBef>
                <a:spcPts val="45"/>
              </a:spcBef>
              <a:buFont typeface="Arial"/>
              <a:buChar char="•"/>
              <a:tabLst>
                <a:tab pos="361950" algn="l"/>
              </a:tabLst>
            </a:pPr>
            <a:r>
              <a:rPr sz="1600" b="1" dirty="0">
                <a:latin typeface="Cambria" panose="02040503050406030204" pitchFamily="18" charset="0"/>
                <a:ea typeface="Cambria" panose="02040503050406030204" pitchFamily="18" charset="0"/>
                <a:cs typeface="Calibri"/>
              </a:rPr>
              <a:t>Cognitive</a:t>
            </a:r>
            <a:r>
              <a:rPr sz="1600" b="1" spc="-45" dirty="0">
                <a:latin typeface="Cambria" panose="02040503050406030204" pitchFamily="18" charset="0"/>
                <a:ea typeface="Cambria" panose="02040503050406030204" pitchFamily="18" charset="0"/>
                <a:cs typeface="Calibri"/>
              </a:rPr>
              <a:t> </a:t>
            </a:r>
            <a:r>
              <a:rPr sz="1600" b="1" spc="-10" dirty="0">
                <a:latin typeface="Cambria" panose="02040503050406030204" pitchFamily="18" charset="0"/>
                <a:ea typeface="Cambria" panose="02040503050406030204" pitchFamily="18" charset="0"/>
                <a:cs typeface="Calibri"/>
              </a:rPr>
              <a:t>computing</a:t>
            </a:r>
            <a:r>
              <a:rPr lang="en-US" sz="1600" b="1" spc="-10" dirty="0">
                <a:latin typeface="Cambria" panose="02040503050406030204" pitchFamily="18" charset="0"/>
                <a:ea typeface="Cambria" panose="02040503050406030204" pitchFamily="18" charset="0"/>
                <a:cs typeface="Calibri"/>
              </a:rPr>
              <a:t>/modeling: </a:t>
            </a:r>
            <a:r>
              <a:rPr lang="en-US" sz="1600" dirty="0">
                <a:latin typeface="Cambria" panose="02040503050406030204" pitchFamily="18" charset="0"/>
                <a:ea typeface="Cambria" panose="02040503050406030204" pitchFamily="18" charset="0"/>
              </a:rPr>
              <a:t>Matching machines to human thought processes (psychology &amp; cognitive science)</a:t>
            </a:r>
            <a:endParaRPr sz="1600" dirty="0">
              <a:latin typeface="Cambria" panose="02040503050406030204" pitchFamily="18" charset="0"/>
              <a:ea typeface="Cambria" panose="02040503050406030204" pitchFamily="18" charset="0"/>
              <a:cs typeface="Calibri"/>
            </a:endParaRPr>
          </a:p>
          <a:p>
            <a:pPr marL="361315" marR="5080" lvl="1" indent="-154940">
              <a:lnSpc>
                <a:spcPts val="2080"/>
              </a:lnSpc>
              <a:spcBef>
                <a:spcPts val="280"/>
              </a:spcBef>
              <a:buFont typeface="Arial"/>
              <a:buChar char="•"/>
              <a:tabLst>
                <a:tab pos="362585" algn="l"/>
              </a:tabLst>
            </a:pPr>
            <a:r>
              <a:rPr sz="1600" b="1" dirty="0">
                <a:latin typeface="Cambria" panose="02040503050406030204" pitchFamily="18" charset="0"/>
                <a:ea typeface="Cambria" panose="02040503050406030204" pitchFamily="18" charset="0"/>
                <a:cs typeface="Calibri"/>
              </a:rPr>
              <a:t>Computational</a:t>
            </a:r>
            <a:r>
              <a:rPr sz="1600" b="1" spc="-90" dirty="0">
                <a:latin typeface="Cambria" panose="02040503050406030204" pitchFamily="18" charset="0"/>
                <a:ea typeface="Cambria" panose="02040503050406030204" pitchFamily="18" charset="0"/>
                <a:cs typeface="Calibri"/>
              </a:rPr>
              <a:t> </a:t>
            </a:r>
            <a:r>
              <a:rPr sz="1600" b="1" spc="-10" dirty="0">
                <a:latin typeface="Cambria" panose="02040503050406030204" pitchFamily="18" charset="0"/>
                <a:ea typeface="Cambria" panose="02040503050406030204" pitchFamily="18" charset="0"/>
                <a:cs typeface="Calibri"/>
              </a:rPr>
              <a:t>intelligence, </a:t>
            </a:r>
            <a:r>
              <a:rPr lang="en-US" sz="1600" b="1" spc="-10" dirty="0">
                <a:latin typeface="Cambria" panose="02040503050406030204" pitchFamily="18" charset="0"/>
                <a:ea typeface="Cambria" panose="02040503050406030204" pitchFamily="18" charset="0"/>
                <a:cs typeface="Calibri"/>
              </a:rPr>
              <a:t> </a:t>
            </a:r>
            <a:r>
              <a:rPr sz="1600" b="1" dirty="0">
                <a:latin typeface="Cambria" panose="02040503050406030204" pitchFamily="18" charset="0"/>
                <a:ea typeface="Cambria" panose="02040503050406030204" pitchFamily="18" charset="0"/>
                <a:cs typeface="Calibri"/>
              </a:rPr>
              <a:t>machine</a:t>
            </a:r>
            <a:r>
              <a:rPr sz="1600" b="1" spc="-35" dirty="0">
                <a:latin typeface="Cambria" panose="02040503050406030204" pitchFamily="18" charset="0"/>
                <a:ea typeface="Cambria" panose="02040503050406030204" pitchFamily="18" charset="0"/>
                <a:cs typeface="Calibri"/>
              </a:rPr>
              <a:t> </a:t>
            </a:r>
            <a:r>
              <a:rPr sz="1600" b="1" spc="-10" dirty="0">
                <a:latin typeface="Cambria" panose="02040503050406030204" pitchFamily="18" charset="0"/>
                <a:ea typeface="Cambria" panose="02040503050406030204" pitchFamily="18" charset="0"/>
                <a:cs typeface="Calibri"/>
              </a:rPr>
              <a:t>intelligence,</a:t>
            </a:r>
            <a:r>
              <a:rPr lang="en-US" sz="1600" spc="-10" dirty="0">
                <a:latin typeface="Cambria" panose="02040503050406030204" pitchFamily="18" charset="0"/>
                <a:ea typeface="Cambria" panose="02040503050406030204" pitchFamily="18" charset="0"/>
                <a:cs typeface="Calibri"/>
              </a:rPr>
              <a:t> </a:t>
            </a:r>
            <a:r>
              <a:rPr sz="1600" b="1" dirty="0">
                <a:latin typeface="Cambria" panose="02040503050406030204" pitchFamily="18" charset="0"/>
                <a:ea typeface="Cambria" panose="02040503050406030204" pitchFamily="18" charset="0"/>
                <a:cs typeface="Calibri"/>
              </a:rPr>
              <a:t>soft</a:t>
            </a:r>
            <a:r>
              <a:rPr sz="1600" b="1" spc="-30" dirty="0">
                <a:latin typeface="Cambria" panose="02040503050406030204" pitchFamily="18" charset="0"/>
                <a:ea typeface="Cambria" panose="02040503050406030204" pitchFamily="18" charset="0"/>
                <a:cs typeface="Calibri"/>
              </a:rPr>
              <a:t> </a:t>
            </a:r>
            <a:r>
              <a:rPr sz="1600" b="1" dirty="0">
                <a:latin typeface="Cambria" panose="02040503050406030204" pitchFamily="18" charset="0"/>
                <a:ea typeface="Cambria" panose="02040503050406030204" pitchFamily="18" charset="0"/>
                <a:cs typeface="Calibri"/>
              </a:rPr>
              <a:t>computing,</a:t>
            </a:r>
            <a:r>
              <a:rPr sz="1600" b="1" spc="-25" dirty="0">
                <a:latin typeface="Cambria" panose="02040503050406030204" pitchFamily="18" charset="0"/>
                <a:ea typeface="Cambria" panose="02040503050406030204" pitchFamily="18" charset="0"/>
                <a:cs typeface="Calibri"/>
              </a:rPr>
              <a:t> </a:t>
            </a:r>
            <a:r>
              <a:rPr sz="1600" b="1" spc="-20" dirty="0">
                <a:latin typeface="Cambria" panose="02040503050406030204" pitchFamily="18" charset="0"/>
                <a:ea typeface="Cambria" panose="02040503050406030204" pitchFamily="18" charset="0"/>
                <a:cs typeface="Calibri"/>
              </a:rPr>
              <a:t>etc.</a:t>
            </a:r>
            <a:endParaRPr sz="1600" dirty="0">
              <a:latin typeface="Cambria" panose="02040503050406030204" pitchFamily="18" charset="0"/>
              <a:ea typeface="Cambria" panose="02040503050406030204" pitchFamily="18" charset="0"/>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B0078-323F-9F53-1DB5-49B76854C02F}"/>
            </a:ext>
          </a:extLst>
        </p:cNvPr>
        <p:cNvGrpSpPr/>
        <p:nvPr/>
      </p:nvGrpSpPr>
      <p:grpSpPr>
        <a:xfrm>
          <a:off x="0" y="0"/>
          <a:ext cx="0" cy="0"/>
          <a:chOff x="0" y="0"/>
          <a:chExt cx="0" cy="0"/>
        </a:xfrm>
      </p:grpSpPr>
      <p:sp>
        <p:nvSpPr>
          <p:cNvPr id="11" name="object 11">
            <a:extLst>
              <a:ext uri="{FF2B5EF4-FFF2-40B4-BE49-F238E27FC236}">
                <a16:creationId xmlns:a16="http://schemas.microsoft.com/office/drawing/2014/main" id="{32574A63-B9A8-B772-83D5-AD9796D1D582}"/>
              </a:ext>
            </a:extLst>
          </p:cNvPr>
          <p:cNvSpPr txBox="1"/>
          <p:nvPr/>
        </p:nvSpPr>
        <p:spPr>
          <a:xfrm>
            <a:off x="1002708" y="1402387"/>
            <a:ext cx="1482090" cy="1172845"/>
          </a:xfrm>
          <a:prstGeom prst="rect">
            <a:avLst/>
          </a:prstGeom>
        </p:spPr>
        <p:txBody>
          <a:bodyPr vert="horz" wrap="square" lIns="0" tIns="46355" rIns="0" bIns="0" rtlCol="0">
            <a:spAutoFit/>
          </a:bodyPr>
          <a:lstStyle/>
          <a:p>
            <a:pPr marL="12700" marR="5080" indent="359410" algn="r">
              <a:lnSpc>
                <a:spcPts val="2200"/>
              </a:lnSpc>
              <a:spcBef>
                <a:spcPts val="365"/>
              </a:spcBef>
            </a:pPr>
            <a:r>
              <a:rPr sz="2000" spc="-10" dirty="0">
                <a:solidFill>
                  <a:srgbClr val="FFFFFF"/>
                </a:solidFill>
                <a:latin typeface="Calibri Light"/>
                <a:cs typeface="Calibri Light"/>
              </a:rPr>
              <a:t>Intelligent </a:t>
            </a:r>
            <a:r>
              <a:rPr sz="2000" dirty="0">
                <a:solidFill>
                  <a:srgbClr val="FFFFFF"/>
                </a:solidFill>
                <a:latin typeface="Calibri Light"/>
                <a:cs typeface="Calibri Light"/>
              </a:rPr>
              <a:t>systems</a:t>
            </a:r>
            <a:r>
              <a:rPr sz="2000" spc="185" dirty="0">
                <a:solidFill>
                  <a:srgbClr val="FFFFFF"/>
                </a:solidFill>
                <a:latin typeface="Calibri Light"/>
                <a:cs typeface="Calibri Light"/>
              </a:rPr>
              <a:t> </a:t>
            </a:r>
            <a:r>
              <a:rPr sz="2000" dirty="0">
                <a:solidFill>
                  <a:srgbClr val="FFFFFF"/>
                </a:solidFill>
                <a:latin typeface="Calibri Light"/>
                <a:cs typeface="Calibri Light"/>
              </a:rPr>
              <a:t>vs</a:t>
            </a:r>
            <a:r>
              <a:rPr sz="2000" spc="190" dirty="0">
                <a:solidFill>
                  <a:srgbClr val="FFFFFF"/>
                </a:solidFill>
                <a:latin typeface="Calibri Light"/>
                <a:cs typeface="Calibri Light"/>
              </a:rPr>
              <a:t> </a:t>
            </a:r>
            <a:r>
              <a:rPr sz="2000" spc="-25" dirty="0">
                <a:solidFill>
                  <a:srgbClr val="FFFFFF"/>
                </a:solidFill>
                <a:latin typeface="Calibri Light"/>
                <a:cs typeface="Calibri Light"/>
              </a:rPr>
              <a:t>AI </a:t>
            </a:r>
            <a:r>
              <a:rPr sz="2000" dirty="0">
                <a:solidFill>
                  <a:srgbClr val="FFFFFF"/>
                </a:solidFill>
                <a:latin typeface="Calibri Light"/>
                <a:cs typeface="Calibri Light"/>
              </a:rPr>
              <a:t>vs</a:t>
            </a:r>
            <a:r>
              <a:rPr sz="2000" spc="100" dirty="0">
                <a:solidFill>
                  <a:srgbClr val="FFFFFF"/>
                </a:solidFill>
                <a:latin typeface="Calibri Light"/>
                <a:cs typeface="Calibri Light"/>
              </a:rPr>
              <a:t> </a:t>
            </a:r>
            <a:r>
              <a:rPr sz="2000" spc="40" dirty="0">
                <a:solidFill>
                  <a:srgbClr val="FFFFFF"/>
                </a:solidFill>
                <a:latin typeface="Calibri Light"/>
                <a:cs typeface="Calibri Light"/>
              </a:rPr>
              <a:t>Machine </a:t>
            </a:r>
            <a:r>
              <a:rPr sz="2000" spc="50" dirty="0">
                <a:solidFill>
                  <a:srgbClr val="FFFFFF"/>
                </a:solidFill>
                <a:latin typeface="Calibri Light"/>
                <a:cs typeface="Calibri Light"/>
              </a:rPr>
              <a:t>Learning</a:t>
            </a:r>
            <a:r>
              <a:rPr sz="2000" spc="70" dirty="0">
                <a:solidFill>
                  <a:srgbClr val="FFFFFF"/>
                </a:solidFill>
                <a:latin typeface="Calibri Light"/>
                <a:cs typeface="Calibri Light"/>
              </a:rPr>
              <a:t> </a:t>
            </a:r>
            <a:r>
              <a:rPr sz="2000" dirty="0">
                <a:solidFill>
                  <a:srgbClr val="FFFFFF"/>
                </a:solidFill>
                <a:latin typeface="Calibri Light"/>
                <a:cs typeface="Calibri Light"/>
              </a:rPr>
              <a:t>vs</a:t>
            </a:r>
            <a:r>
              <a:rPr sz="2000" spc="80" dirty="0">
                <a:solidFill>
                  <a:srgbClr val="FFFFFF"/>
                </a:solidFill>
                <a:latin typeface="Calibri Light"/>
                <a:cs typeface="Calibri Light"/>
              </a:rPr>
              <a:t> </a:t>
            </a:r>
            <a:r>
              <a:rPr sz="2000" spc="-50" dirty="0">
                <a:solidFill>
                  <a:srgbClr val="FFFFFF"/>
                </a:solidFill>
                <a:latin typeface="Calibri Light"/>
                <a:cs typeface="Calibri Light"/>
              </a:rPr>
              <a:t>…</a:t>
            </a:r>
            <a:endParaRPr sz="2000" dirty="0">
              <a:latin typeface="Calibri Light"/>
              <a:cs typeface="Calibri Light"/>
            </a:endParaRPr>
          </a:p>
        </p:txBody>
      </p:sp>
      <p:sp>
        <p:nvSpPr>
          <p:cNvPr id="12" name="object 12">
            <a:extLst>
              <a:ext uri="{FF2B5EF4-FFF2-40B4-BE49-F238E27FC236}">
                <a16:creationId xmlns:a16="http://schemas.microsoft.com/office/drawing/2014/main" id="{5F783590-F813-0703-486D-AA2C5BB84D38}"/>
              </a:ext>
            </a:extLst>
          </p:cNvPr>
          <p:cNvSpPr txBox="1"/>
          <p:nvPr/>
        </p:nvSpPr>
        <p:spPr>
          <a:xfrm>
            <a:off x="273050" y="463550"/>
            <a:ext cx="5943600" cy="425116"/>
          </a:xfrm>
          <a:prstGeom prst="rect">
            <a:avLst/>
          </a:prstGeom>
        </p:spPr>
        <p:txBody>
          <a:bodyPr vert="horz" wrap="square" lIns="0" tIns="131445" rIns="0" bIns="0" rtlCol="0">
            <a:spAutoFit/>
          </a:bodyPr>
          <a:lstStyle/>
          <a:p>
            <a:pPr marL="12700">
              <a:lnSpc>
                <a:spcPct val="100000"/>
              </a:lnSpc>
              <a:spcBef>
                <a:spcPts val="1035"/>
              </a:spcBef>
              <a:tabLst>
                <a:tab pos="167640" algn="l"/>
              </a:tabLst>
            </a:pPr>
            <a:r>
              <a:rPr lang="en-US" sz="1900" b="1" spc="-10" dirty="0">
                <a:solidFill>
                  <a:srgbClr val="FF0000"/>
                </a:solidFill>
                <a:latin typeface="Cambria" panose="02040503050406030204" pitchFamily="18" charset="0"/>
                <a:ea typeface="Cambria" panose="02040503050406030204" pitchFamily="18" charset="0"/>
                <a:cs typeface="Calibri"/>
              </a:rPr>
              <a:t>Terminologies</a:t>
            </a:r>
            <a:endParaRPr lang="en-US" sz="1900" dirty="0">
              <a:solidFill>
                <a:srgbClr val="FF0000"/>
              </a:solidFill>
              <a:latin typeface="Cambria" panose="02040503050406030204" pitchFamily="18" charset="0"/>
              <a:ea typeface="Cambria" panose="02040503050406030204" pitchFamily="18" charset="0"/>
              <a:cs typeface="Calibri"/>
            </a:endParaRPr>
          </a:p>
        </p:txBody>
      </p:sp>
      <p:pic>
        <p:nvPicPr>
          <p:cNvPr id="5" name="Picture 4">
            <a:extLst>
              <a:ext uri="{FF2B5EF4-FFF2-40B4-BE49-F238E27FC236}">
                <a16:creationId xmlns:a16="http://schemas.microsoft.com/office/drawing/2014/main" id="{3D6A0AED-AFD0-48EA-DB4C-5BF86BE7A61E}"/>
              </a:ext>
            </a:extLst>
          </p:cNvPr>
          <p:cNvPicPr>
            <a:picLocks noChangeAspect="1"/>
          </p:cNvPicPr>
          <p:nvPr/>
        </p:nvPicPr>
        <p:blipFill>
          <a:blip r:embed="rId2"/>
          <a:stretch>
            <a:fillRect/>
          </a:stretch>
        </p:blipFill>
        <p:spPr>
          <a:xfrm>
            <a:off x="273050" y="914655"/>
            <a:ext cx="7153976" cy="2953200"/>
          </a:xfrm>
          <a:prstGeom prst="rect">
            <a:avLst/>
          </a:prstGeom>
        </p:spPr>
      </p:pic>
    </p:spTree>
    <p:extLst>
      <p:ext uri="{BB962C8B-B14F-4D97-AF65-F5344CB8AC3E}">
        <p14:creationId xmlns:p14="http://schemas.microsoft.com/office/powerpoint/2010/main" val="1559140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p:nvPr/>
        </p:nvSpPr>
        <p:spPr>
          <a:xfrm>
            <a:off x="1202041" y="812253"/>
            <a:ext cx="1286510" cy="948690"/>
          </a:xfrm>
          <a:prstGeom prst="rect">
            <a:avLst/>
          </a:prstGeom>
        </p:spPr>
        <p:txBody>
          <a:bodyPr vert="horz" wrap="square" lIns="0" tIns="48260" rIns="0" bIns="0" rtlCol="0">
            <a:spAutoFit/>
          </a:bodyPr>
          <a:lstStyle/>
          <a:p>
            <a:pPr marL="12700" marR="5080" indent="345440">
              <a:lnSpc>
                <a:spcPts val="2180"/>
              </a:lnSpc>
              <a:spcBef>
                <a:spcPts val="380"/>
              </a:spcBef>
            </a:pPr>
            <a:r>
              <a:rPr sz="2000" b="1" spc="40" dirty="0">
                <a:solidFill>
                  <a:srgbClr val="FFFFFF"/>
                </a:solidFill>
                <a:latin typeface="Calibri Light"/>
                <a:cs typeface="Calibri Light"/>
              </a:rPr>
              <a:t>Artificial </a:t>
            </a:r>
            <a:r>
              <a:rPr sz="2000" b="1" spc="35" dirty="0">
                <a:solidFill>
                  <a:srgbClr val="FFFFFF"/>
                </a:solidFill>
                <a:latin typeface="Calibri Light"/>
                <a:cs typeface="Calibri Light"/>
              </a:rPr>
              <a:t>Intelligence</a:t>
            </a:r>
            <a:endParaRPr sz="2000" b="1" dirty="0">
              <a:latin typeface="Calibri Light"/>
              <a:cs typeface="Calibri Light"/>
            </a:endParaRPr>
          </a:p>
          <a:p>
            <a:pPr marR="10160" algn="r">
              <a:lnSpc>
                <a:spcPct val="100000"/>
              </a:lnSpc>
              <a:spcBef>
                <a:spcPts val="219"/>
              </a:spcBef>
            </a:pPr>
            <a:r>
              <a:rPr sz="2000" b="1" spc="-20" dirty="0">
                <a:solidFill>
                  <a:srgbClr val="FFFFFF"/>
                </a:solidFill>
                <a:latin typeface="Calibri Light"/>
                <a:cs typeface="Calibri Light"/>
              </a:rPr>
              <a:t>(AI)</a:t>
            </a:r>
            <a:endParaRPr sz="2000" b="1" dirty="0">
              <a:latin typeface="Calibri Light"/>
              <a:cs typeface="Calibri Light"/>
            </a:endParaRPr>
          </a:p>
        </p:txBody>
      </p:sp>
      <p:sp>
        <p:nvSpPr>
          <p:cNvPr id="2" name="object 3">
            <a:extLst>
              <a:ext uri="{FF2B5EF4-FFF2-40B4-BE49-F238E27FC236}">
                <a16:creationId xmlns:a16="http://schemas.microsoft.com/office/drawing/2014/main" id="{04556E16-DC98-016A-E185-87CD9C74331B}"/>
              </a:ext>
            </a:extLst>
          </p:cNvPr>
          <p:cNvSpPr txBox="1"/>
          <p:nvPr/>
        </p:nvSpPr>
        <p:spPr>
          <a:xfrm>
            <a:off x="501650" y="458730"/>
            <a:ext cx="3262629" cy="325089"/>
          </a:xfrm>
          <a:prstGeom prst="rect">
            <a:avLst/>
          </a:prstGeom>
        </p:spPr>
        <p:txBody>
          <a:bodyPr vert="horz" wrap="square" lIns="0" tIns="17145" rIns="0" bIns="0" rtlCol="0">
            <a:spAutoFit/>
          </a:bodyPr>
          <a:lstStyle/>
          <a:p>
            <a:r>
              <a:rPr lang="en-US" sz="2000" b="1" dirty="0">
                <a:solidFill>
                  <a:srgbClr val="FF0000"/>
                </a:solidFill>
                <a:effectLst/>
                <a:latin typeface="Cambria" panose="02040503050406030204" pitchFamily="18" charset="0"/>
                <a:ea typeface="Cambria" panose="02040503050406030204" pitchFamily="18" charset="0"/>
              </a:rPr>
              <a:t>Four Main Paradigms of AI</a:t>
            </a:r>
          </a:p>
        </p:txBody>
      </p:sp>
      <p:pic>
        <p:nvPicPr>
          <p:cNvPr id="5122" name="Picture 2" descr="1 Goals of artificial intelligence (adapted from Russell &amp; Norvig, 2010) categories which really represent the key goals of AI, as depicted in 1. AI applications in the top two boxes are concerned with thought process and reasoning while those in the bottom boxes address behaviour. AI applications on the left seek to emulate human performance while those on the right endeavour to produce ideal outcomes. The difference between human (on the left) and rational (on the right) in Russell and Norvig's (2010) typology is really a distinction between imperfect and perfect. AI applications in the left boxes are simply seeking to do things as well as humans can do, using natural language processing, knowledge representation, automated reasoning and machine learning. These AI aspects resonate with the professional-how applications using machine learning, deep learning and data mining can be used to solve the kinds of problems traditionally solved by humans, and moreover, how they improve themselves each time they solve a problem. Early versions of AI concentrated on simulating human intelligence, focusing on one task at a time. It was predicated on the prescriptive programming of specific inputs and was incapable of &quot;thinking&quot; beyond specific processing. Machine learning marked the start of significant progress in replicating human intelligence, allowing machines to automatically learn from past data">
            <a:extLst>
              <a:ext uri="{FF2B5EF4-FFF2-40B4-BE49-F238E27FC236}">
                <a16:creationId xmlns:a16="http://schemas.microsoft.com/office/drawing/2014/main" id="{CEC4727D-673B-51AD-C4AB-D6240F0CE0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450" y="1073150"/>
            <a:ext cx="5257800" cy="30000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FC487-2A4B-589B-22B2-F76113CE9E80}"/>
            </a:ext>
          </a:extLst>
        </p:cNvPr>
        <p:cNvGrpSpPr/>
        <p:nvPr/>
      </p:nvGrpSpPr>
      <p:grpSpPr>
        <a:xfrm>
          <a:off x="0" y="0"/>
          <a:ext cx="0" cy="0"/>
          <a:chOff x="0" y="0"/>
          <a:chExt cx="0" cy="0"/>
        </a:xfrm>
      </p:grpSpPr>
      <p:sp>
        <p:nvSpPr>
          <p:cNvPr id="12" name="object 12">
            <a:extLst>
              <a:ext uri="{FF2B5EF4-FFF2-40B4-BE49-F238E27FC236}">
                <a16:creationId xmlns:a16="http://schemas.microsoft.com/office/drawing/2014/main" id="{83562F0B-DA93-E9C7-2263-30281F389C82}"/>
              </a:ext>
            </a:extLst>
          </p:cNvPr>
          <p:cNvSpPr txBox="1"/>
          <p:nvPr/>
        </p:nvSpPr>
        <p:spPr>
          <a:xfrm>
            <a:off x="1202041" y="812253"/>
            <a:ext cx="1286510" cy="948690"/>
          </a:xfrm>
          <a:prstGeom prst="rect">
            <a:avLst/>
          </a:prstGeom>
        </p:spPr>
        <p:txBody>
          <a:bodyPr vert="horz" wrap="square" lIns="0" tIns="48260" rIns="0" bIns="0" rtlCol="0">
            <a:spAutoFit/>
          </a:bodyPr>
          <a:lstStyle/>
          <a:p>
            <a:pPr marL="12700" marR="5080" indent="345440">
              <a:lnSpc>
                <a:spcPts val="2180"/>
              </a:lnSpc>
              <a:spcBef>
                <a:spcPts val="380"/>
              </a:spcBef>
            </a:pPr>
            <a:r>
              <a:rPr sz="2000" b="1" spc="40" dirty="0">
                <a:solidFill>
                  <a:srgbClr val="FFFFFF"/>
                </a:solidFill>
                <a:latin typeface="Calibri Light"/>
                <a:cs typeface="Calibri Light"/>
              </a:rPr>
              <a:t>Artificial </a:t>
            </a:r>
            <a:r>
              <a:rPr sz="2000" b="1" spc="35" dirty="0">
                <a:solidFill>
                  <a:srgbClr val="FFFFFF"/>
                </a:solidFill>
                <a:latin typeface="Calibri Light"/>
                <a:cs typeface="Calibri Light"/>
              </a:rPr>
              <a:t>Intelligence</a:t>
            </a:r>
            <a:endParaRPr sz="2000" b="1" dirty="0">
              <a:latin typeface="Calibri Light"/>
              <a:cs typeface="Calibri Light"/>
            </a:endParaRPr>
          </a:p>
          <a:p>
            <a:pPr marR="10160" algn="r">
              <a:lnSpc>
                <a:spcPct val="100000"/>
              </a:lnSpc>
              <a:spcBef>
                <a:spcPts val="219"/>
              </a:spcBef>
            </a:pPr>
            <a:r>
              <a:rPr sz="2000" b="1" spc="-20" dirty="0">
                <a:solidFill>
                  <a:srgbClr val="FFFFFF"/>
                </a:solidFill>
                <a:latin typeface="Calibri Light"/>
                <a:cs typeface="Calibri Light"/>
              </a:rPr>
              <a:t>(AI)</a:t>
            </a:r>
            <a:endParaRPr sz="2000" b="1" dirty="0">
              <a:latin typeface="Calibri Light"/>
              <a:cs typeface="Calibri Light"/>
            </a:endParaRPr>
          </a:p>
        </p:txBody>
      </p:sp>
      <p:sp>
        <p:nvSpPr>
          <p:cNvPr id="2" name="object 3">
            <a:extLst>
              <a:ext uri="{FF2B5EF4-FFF2-40B4-BE49-F238E27FC236}">
                <a16:creationId xmlns:a16="http://schemas.microsoft.com/office/drawing/2014/main" id="{C457490E-C29F-9842-CDB5-B267847FCEC5}"/>
              </a:ext>
            </a:extLst>
          </p:cNvPr>
          <p:cNvSpPr txBox="1"/>
          <p:nvPr/>
        </p:nvSpPr>
        <p:spPr>
          <a:xfrm>
            <a:off x="501650" y="458730"/>
            <a:ext cx="3262629" cy="325089"/>
          </a:xfrm>
          <a:prstGeom prst="rect">
            <a:avLst/>
          </a:prstGeom>
        </p:spPr>
        <p:txBody>
          <a:bodyPr vert="horz" wrap="square" lIns="0" tIns="17145" rIns="0" bIns="0" rtlCol="0">
            <a:spAutoFit/>
          </a:bodyPr>
          <a:lstStyle/>
          <a:p>
            <a:r>
              <a:rPr lang="en-US" sz="2000" b="1" dirty="0">
                <a:solidFill>
                  <a:srgbClr val="FF0000"/>
                </a:solidFill>
                <a:effectLst/>
                <a:latin typeface="Cambria" panose="02040503050406030204" pitchFamily="18" charset="0"/>
                <a:ea typeface="Cambria" panose="02040503050406030204" pitchFamily="18" charset="0"/>
              </a:rPr>
              <a:t>Four Main Paradigms of AI</a:t>
            </a:r>
          </a:p>
        </p:txBody>
      </p:sp>
      <p:pic>
        <p:nvPicPr>
          <p:cNvPr id="5122" name="Picture 2" descr="1 Goals of artificial intelligence (adapted from Russell &amp; Norvig, 2010) categories which really represent the key goals of AI, as depicted in 1. AI applications in the top two boxes are concerned with thought process and reasoning while those in the bottom boxes address behaviour. AI applications on the left seek to emulate human performance while those on the right endeavour to produce ideal outcomes. The difference between human (on the left) and rational (on the right) in Russell and Norvig's (2010) typology is really a distinction between imperfect and perfect. AI applications in the left boxes are simply seeking to do things as well as humans can do, using natural language processing, knowledge representation, automated reasoning and machine learning. These AI aspects resonate with the professional-how applications using machine learning, deep learning and data mining can be used to solve the kinds of problems traditionally solved by humans, and moreover, how they improve themselves each time they solve a problem. Early versions of AI concentrated on simulating human intelligence, focusing on one task at a time. It was predicated on the prescriptive programming of specific inputs and was incapable of &quot;thinking&quot; beyond specific processing. Machine learning marked the start of significant progress in replicating human intelligence, allowing machines to automatically learn from past data">
            <a:extLst>
              <a:ext uri="{FF2B5EF4-FFF2-40B4-BE49-F238E27FC236}">
                <a16:creationId xmlns:a16="http://schemas.microsoft.com/office/drawing/2014/main" id="{8EF3C932-B199-B5D6-9F02-BD370237F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450" y="1073150"/>
            <a:ext cx="5257800" cy="3000039"/>
          </a:xfrm>
          <a:prstGeom prst="rect">
            <a:avLst/>
          </a:prstGeom>
          <a:noFill/>
          <a:extLst>
            <a:ext uri="{909E8E84-426E-40DD-AFC4-6F175D3DCCD1}">
              <a14:hiddenFill xmlns:a14="http://schemas.microsoft.com/office/drawing/2010/main">
                <a:solidFill>
                  <a:srgbClr val="FFFFFF"/>
                </a:solidFill>
              </a14:hiddenFill>
            </a:ext>
          </a:extLst>
        </p:spPr>
      </p:pic>
      <p:grpSp>
        <p:nvGrpSpPr>
          <p:cNvPr id="9" name="object 15">
            <a:extLst>
              <a:ext uri="{FF2B5EF4-FFF2-40B4-BE49-F238E27FC236}">
                <a16:creationId xmlns:a16="http://schemas.microsoft.com/office/drawing/2014/main" id="{DA648957-D8D0-5834-494F-9BEC77372F88}"/>
              </a:ext>
            </a:extLst>
          </p:cNvPr>
          <p:cNvGrpSpPr/>
          <p:nvPr/>
        </p:nvGrpSpPr>
        <p:grpSpPr>
          <a:xfrm>
            <a:off x="845612" y="4239863"/>
            <a:ext cx="5180965" cy="796691"/>
            <a:chOff x="895617" y="3124447"/>
            <a:chExt cx="5180965" cy="748030"/>
          </a:xfrm>
        </p:grpSpPr>
        <p:sp>
          <p:nvSpPr>
            <p:cNvPr id="10" name="object 16">
              <a:extLst>
                <a:ext uri="{FF2B5EF4-FFF2-40B4-BE49-F238E27FC236}">
                  <a16:creationId xmlns:a16="http://schemas.microsoft.com/office/drawing/2014/main" id="{49BF4BC4-BD9A-AD19-1FD2-99A2B27608A0}"/>
                </a:ext>
              </a:extLst>
            </p:cNvPr>
            <p:cNvSpPr/>
            <p:nvPr/>
          </p:nvSpPr>
          <p:spPr>
            <a:xfrm>
              <a:off x="902113" y="3130943"/>
              <a:ext cx="5168265" cy="734695"/>
            </a:xfrm>
            <a:custGeom>
              <a:avLst/>
              <a:gdLst/>
              <a:ahLst/>
              <a:cxnLst/>
              <a:rect l="l" t="t" r="r" b="b"/>
              <a:pathLst>
                <a:path w="5168265" h="734695">
                  <a:moveTo>
                    <a:pt x="5167972" y="0"/>
                  </a:moveTo>
                  <a:lnTo>
                    <a:pt x="0" y="0"/>
                  </a:lnTo>
                  <a:lnTo>
                    <a:pt x="0" y="734695"/>
                  </a:lnTo>
                  <a:lnTo>
                    <a:pt x="5167972" y="734695"/>
                  </a:lnTo>
                  <a:lnTo>
                    <a:pt x="5167972" y="0"/>
                  </a:lnTo>
                  <a:close/>
                </a:path>
              </a:pathLst>
            </a:custGeom>
            <a:solidFill>
              <a:srgbClr val="FFC000"/>
            </a:solidFill>
          </p:spPr>
          <p:txBody>
            <a:bodyPr wrap="square" lIns="0" tIns="0" rIns="0" bIns="0" rtlCol="0"/>
            <a:lstStyle/>
            <a:p>
              <a:endParaRPr dirty="0"/>
            </a:p>
          </p:txBody>
        </p:sp>
        <p:sp>
          <p:nvSpPr>
            <p:cNvPr id="11" name="object 17">
              <a:extLst>
                <a:ext uri="{FF2B5EF4-FFF2-40B4-BE49-F238E27FC236}">
                  <a16:creationId xmlns:a16="http://schemas.microsoft.com/office/drawing/2014/main" id="{5884DF77-F57C-D04F-518B-D457FB8D5F2E}"/>
                </a:ext>
              </a:extLst>
            </p:cNvPr>
            <p:cNvSpPr/>
            <p:nvPr/>
          </p:nvSpPr>
          <p:spPr>
            <a:xfrm>
              <a:off x="902113" y="3130943"/>
              <a:ext cx="5168265" cy="734695"/>
            </a:xfrm>
            <a:custGeom>
              <a:avLst/>
              <a:gdLst/>
              <a:ahLst/>
              <a:cxnLst/>
              <a:rect l="l" t="t" r="r" b="b"/>
              <a:pathLst>
                <a:path w="5168265" h="734695">
                  <a:moveTo>
                    <a:pt x="0" y="0"/>
                  </a:moveTo>
                  <a:lnTo>
                    <a:pt x="5167960" y="0"/>
                  </a:lnTo>
                  <a:lnTo>
                    <a:pt x="5167960" y="734695"/>
                  </a:lnTo>
                  <a:lnTo>
                    <a:pt x="0" y="734695"/>
                  </a:lnTo>
                  <a:lnTo>
                    <a:pt x="0" y="0"/>
                  </a:lnTo>
                  <a:close/>
                </a:path>
              </a:pathLst>
            </a:custGeom>
            <a:ln w="12992">
              <a:solidFill>
                <a:srgbClr val="7030A0"/>
              </a:solidFill>
            </a:ln>
          </p:spPr>
          <p:txBody>
            <a:bodyPr wrap="square" lIns="0" tIns="0" rIns="0" bIns="0" rtlCol="0"/>
            <a:lstStyle/>
            <a:p>
              <a:endParaRPr dirty="0"/>
            </a:p>
          </p:txBody>
        </p:sp>
      </p:grpSp>
      <p:sp>
        <p:nvSpPr>
          <p:cNvPr id="13" name="object 18">
            <a:extLst>
              <a:ext uri="{FF2B5EF4-FFF2-40B4-BE49-F238E27FC236}">
                <a16:creationId xmlns:a16="http://schemas.microsoft.com/office/drawing/2014/main" id="{E2606C86-C2C6-CA32-54FB-3B24FD4A6970}"/>
              </a:ext>
            </a:extLst>
          </p:cNvPr>
          <p:cNvSpPr txBox="1"/>
          <p:nvPr/>
        </p:nvSpPr>
        <p:spPr>
          <a:xfrm>
            <a:off x="855406" y="4277212"/>
            <a:ext cx="4973955" cy="721995"/>
          </a:xfrm>
          <a:prstGeom prst="rect">
            <a:avLst/>
          </a:prstGeom>
          <a:solidFill>
            <a:srgbClr val="FFC000"/>
          </a:solidFill>
        </p:spPr>
        <p:txBody>
          <a:bodyPr vert="horz" wrap="square" lIns="0" tIns="34290" rIns="0" bIns="0" rtlCol="0">
            <a:spAutoFit/>
          </a:bodyPr>
          <a:lstStyle/>
          <a:p>
            <a:pPr marL="973455" marR="306705" indent="-840105">
              <a:lnSpc>
                <a:spcPts val="2590"/>
              </a:lnSpc>
              <a:spcBef>
                <a:spcPts val="270"/>
              </a:spcBef>
            </a:pPr>
            <a:r>
              <a:rPr sz="2200" dirty="0">
                <a:latin typeface="Cambria" panose="02040503050406030204" pitchFamily="18" charset="0"/>
                <a:ea typeface="Cambria" panose="02040503050406030204" pitchFamily="18" charset="0"/>
                <a:cs typeface="Arial"/>
              </a:rPr>
              <a:t>AI</a:t>
            </a:r>
            <a:r>
              <a:rPr sz="2200" spc="-85" dirty="0">
                <a:latin typeface="Cambria" panose="02040503050406030204" pitchFamily="18" charset="0"/>
                <a:ea typeface="Cambria" panose="02040503050406030204" pitchFamily="18" charset="0"/>
                <a:cs typeface="Arial"/>
              </a:rPr>
              <a:t> </a:t>
            </a:r>
            <a:r>
              <a:rPr sz="2200" dirty="0">
                <a:latin typeface="Cambria" panose="02040503050406030204" pitchFamily="18" charset="0"/>
                <a:ea typeface="Cambria" panose="02040503050406030204" pitchFamily="18" charset="0"/>
                <a:cs typeface="Arial"/>
              </a:rPr>
              <a:t>as</a:t>
            </a:r>
            <a:r>
              <a:rPr sz="2200" spc="-80" dirty="0">
                <a:latin typeface="Cambria" panose="02040503050406030204" pitchFamily="18" charset="0"/>
                <a:ea typeface="Cambria" panose="02040503050406030204" pitchFamily="18" charset="0"/>
                <a:cs typeface="Arial"/>
              </a:rPr>
              <a:t> </a:t>
            </a:r>
            <a:r>
              <a:rPr sz="2200" dirty="0">
                <a:latin typeface="Cambria" panose="02040503050406030204" pitchFamily="18" charset="0"/>
                <a:ea typeface="Cambria" panose="02040503050406030204" pitchFamily="18" charset="0"/>
                <a:cs typeface="Arial"/>
              </a:rPr>
              <a:t>a</a:t>
            </a:r>
            <a:r>
              <a:rPr sz="2200" spc="-85" dirty="0">
                <a:latin typeface="Cambria" panose="02040503050406030204" pitchFamily="18" charset="0"/>
                <a:ea typeface="Cambria" panose="02040503050406030204" pitchFamily="18" charset="0"/>
                <a:cs typeface="Arial"/>
              </a:rPr>
              <a:t> </a:t>
            </a:r>
            <a:r>
              <a:rPr sz="2200" dirty="0">
                <a:latin typeface="Cambria" panose="02040503050406030204" pitchFamily="18" charset="0"/>
                <a:ea typeface="Cambria" panose="02040503050406030204" pitchFamily="18" charset="0"/>
                <a:cs typeface="Arial"/>
              </a:rPr>
              <a:t>system</a:t>
            </a:r>
            <a:r>
              <a:rPr sz="2200" spc="-90" dirty="0">
                <a:latin typeface="Cambria" panose="02040503050406030204" pitchFamily="18" charset="0"/>
                <a:ea typeface="Cambria" panose="02040503050406030204" pitchFamily="18" charset="0"/>
                <a:cs typeface="Arial"/>
              </a:rPr>
              <a:t> </a:t>
            </a:r>
            <a:r>
              <a:rPr sz="2200" dirty="0">
                <a:latin typeface="Cambria" panose="02040503050406030204" pitchFamily="18" charset="0"/>
                <a:ea typeface="Cambria" panose="02040503050406030204" pitchFamily="18" charset="0"/>
                <a:cs typeface="Arial"/>
              </a:rPr>
              <a:t>that</a:t>
            </a:r>
            <a:r>
              <a:rPr sz="2200" spc="-75" dirty="0">
                <a:latin typeface="Cambria" panose="02040503050406030204" pitchFamily="18" charset="0"/>
                <a:ea typeface="Cambria" panose="02040503050406030204" pitchFamily="18" charset="0"/>
                <a:cs typeface="Arial"/>
              </a:rPr>
              <a:t> </a:t>
            </a:r>
            <a:r>
              <a:rPr sz="2200" b="1" dirty="0">
                <a:solidFill>
                  <a:srgbClr val="0070C0"/>
                </a:solidFill>
                <a:latin typeface="Cambria" panose="02040503050406030204" pitchFamily="18" charset="0"/>
                <a:ea typeface="Cambria" panose="02040503050406030204" pitchFamily="18" charset="0"/>
                <a:cs typeface="Arial"/>
              </a:rPr>
              <a:t>acts</a:t>
            </a:r>
            <a:r>
              <a:rPr sz="2200" b="1" spc="-85" dirty="0">
                <a:solidFill>
                  <a:srgbClr val="0070C0"/>
                </a:solidFill>
                <a:latin typeface="Cambria" panose="02040503050406030204" pitchFamily="18" charset="0"/>
                <a:ea typeface="Cambria" panose="02040503050406030204" pitchFamily="18" charset="0"/>
                <a:cs typeface="Arial"/>
              </a:rPr>
              <a:t> </a:t>
            </a:r>
            <a:r>
              <a:rPr sz="2200" b="1" spc="-10" dirty="0">
                <a:solidFill>
                  <a:srgbClr val="996600"/>
                </a:solidFill>
                <a:latin typeface="Cambria" panose="02040503050406030204" pitchFamily="18" charset="0"/>
                <a:ea typeface="Cambria" panose="02040503050406030204" pitchFamily="18" charset="0"/>
                <a:cs typeface="Arial"/>
              </a:rPr>
              <a:t>rationally</a:t>
            </a:r>
            <a:r>
              <a:rPr sz="2200" b="1" spc="-80" dirty="0">
                <a:solidFill>
                  <a:srgbClr val="996600"/>
                </a:solidFill>
                <a:latin typeface="Cambria" panose="02040503050406030204" pitchFamily="18" charset="0"/>
                <a:ea typeface="Cambria" panose="02040503050406030204" pitchFamily="18" charset="0"/>
                <a:cs typeface="Arial"/>
              </a:rPr>
              <a:t> </a:t>
            </a:r>
            <a:r>
              <a:rPr sz="2200" b="1" spc="-50" dirty="0">
                <a:solidFill>
                  <a:srgbClr val="FF0000"/>
                </a:solidFill>
                <a:latin typeface="Cambria" panose="02040503050406030204" pitchFamily="18" charset="0"/>
                <a:ea typeface="Cambria" panose="02040503050406030204" pitchFamily="18" charset="0"/>
                <a:cs typeface="Arial"/>
              </a:rPr>
              <a:t>= </a:t>
            </a:r>
            <a:r>
              <a:rPr sz="2200" b="1" spc="-25" dirty="0">
                <a:solidFill>
                  <a:srgbClr val="FF0000"/>
                </a:solidFill>
                <a:latin typeface="Cambria" panose="02040503050406030204" pitchFamily="18" charset="0"/>
                <a:ea typeface="Cambria" panose="02040503050406030204" pitchFamily="18" charset="0"/>
                <a:cs typeface="Arial"/>
              </a:rPr>
              <a:t>Intelligent</a:t>
            </a:r>
            <a:r>
              <a:rPr sz="2200" b="1" spc="-120" dirty="0">
                <a:solidFill>
                  <a:srgbClr val="FF0000"/>
                </a:solidFill>
                <a:latin typeface="Cambria" panose="02040503050406030204" pitchFamily="18" charset="0"/>
                <a:ea typeface="Cambria" panose="02040503050406030204" pitchFamily="18" charset="0"/>
                <a:cs typeface="Arial"/>
              </a:rPr>
              <a:t> </a:t>
            </a:r>
            <a:r>
              <a:rPr sz="2200" b="1" spc="-10" dirty="0">
                <a:solidFill>
                  <a:srgbClr val="FF0000"/>
                </a:solidFill>
                <a:latin typeface="Cambria" panose="02040503050406030204" pitchFamily="18" charset="0"/>
                <a:ea typeface="Cambria" panose="02040503050406030204" pitchFamily="18" charset="0"/>
                <a:cs typeface="Arial"/>
              </a:rPr>
              <a:t>Agents</a:t>
            </a:r>
            <a:r>
              <a:rPr sz="2200" b="1" spc="-40" dirty="0">
                <a:solidFill>
                  <a:srgbClr val="FF0000"/>
                </a:solidFill>
                <a:latin typeface="Cambria" panose="02040503050406030204" pitchFamily="18" charset="0"/>
                <a:ea typeface="Cambria" panose="02040503050406030204" pitchFamily="18" charset="0"/>
                <a:cs typeface="Arial"/>
              </a:rPr>
              <a:t> </a:t>
            </a:r>
            <a:r>
              <a:rPr sz="2200" b="1" spc="-20" dirty="0">
                <a:solidFill>
                  <a:srgbClr val="FF0000"/>
                </a:solidFill>
                <a:latin typeface="Cambria" panose="02040503050406030204" pitchFamily="18" charset="0"/>
                <a:ea typeface="Cambria" panose="02040503050406030204" pitchFamily="18" charset="0"/>
                <a:cs typeface="Arial"/>
              </a:rPr>
              <a:t>(IA)</a:t>
            </a:r>
            <a:endParaRPr sz="2200" dirty="0">
              <a:latin typeface="Cambria" panose="02040503050406030204" pitchFamily="18" charset="0"/>
              <a:ea typeface="Cambria" panose="02040503050406030204" pitchFamily="18" charset="0"/>
              <a:cs typeface="Arial"/>
            </a:endParaRPr>
          </a:p>
        </p:txBody>
      </p:sp>
    </p:spTree>
    <p:extLst>
      <p:ext uri="{BB962C8B-B14F-4D97-AF65-F5344CB8AC3E}">
        <p14:creationId xmlns:p14="http://schemas.microsoft.com/office/powerpoint/2010/main" val="2793951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37CD6-DD97-3D81-F2DE-B9ECC8223149}"/>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454E45C7-CCA9-8106-38BF-7B37B1273783}"/>
              </a:ext>
            </a:extLst>
          </p:cNvPr>
          <p:cNvPicPr/>
          <p:nvPr/>
        </p:nvPicPr>
        <p:blipFill>
          <a:blip r:embed="rId3" cstate="print"/>
          <a:stretch>
            <a:fillRect/>
          </a:stretch>
        </p:blipFill>
        <p:spPr>
          <a:xfrm>
            <a:off x="6329070" y="956527"/>
            <a:ext cx="563775" cy="1128457"/>
          </a:xfrm>
          <a:prstGeom prst="rect">
            <a:avLst/>
          </a:prstGeom>
        </p:spPr>
      </p:pic>
      <p:sp>
        <p:nvSpPr>
          <p:cNvPr id="3" name="object 3">
            <a:extLst>
              <a:ext uri="{FF2B5EF4-FFF2-40B4-BE49-F238E27FC236}">
                <a16:creationId xmlns:a16="http://schemas.microsoft.com/office/drawing/2014/main" id="{97E0F3F5-D5B0-2924-9CFE-5F0EF57A8D35}"/>
              </a:ext>
            </a:extLst>
          </p:cNvPr>
          <p:cNvSpPr txBox="1"/>
          <p:nvPr/>
        </p:nvSpPr>
        <p:spPr>
          <a:xfrm>
            <a:off x="501650" y="458730"/>
            <a:ext cx="3262629" cy="321310"/>
          </a:xfrm>
          <a:prstGeom prst="rect">
            <a:avLst/>
          </a:prstGeom>
        </p:spPr>
        <p:txBody>
          <a:bodyPr vert="horz" wrap="square" lIns="0" tIns="17145" rIns="0" bIns="0" rtlCol="0">
            <a:spAutoFit/>
          </a:bodyPr>
          <a:lstStyle/>
          <a:p>
            <a:pPr marL="12700">
              <a:lnSpc>
                <a:spcPct val="100000"/>
              </a:lnSpc>
              <a:spcBef>
                <a:spcPts val="135"/>
              </a:spcBef>
            </a:pPr>
            <a:r>
              <a:rPr lang="en-US" sz="1900" b="1" dirty="0">
                <a:solidFill>
                  <a:srgbClr val="FF0000"/>
                </a:solidFill>
                <a:latin typeface="Cambria"/>
                <a:cs typeface="Cambria"/>
              </a:rPr>
              <a:t>Full AI </a:t>
            </a:r>
            <a:r>
              <a:rPr lang="en-US" sz="1900" b="1" dirty="0" err="1">
                <a:solidFill>
                  <a:srgbClr val="FF0000"/>
                </a:solidFill>
                <a:latin typeface="Cambria"/>
                <a:cs typeface="Cambria"/>
              </a:rPr>
              <a:t>Mindmap</a:t>
            </a:r>
            <a:endParaRPr sz="1900" dirty="0">
              <a:latin typeface="Cambria"/>
              <a:cs typeface="Cambria"/>
            </a:endParaRPr>
          </a:p>
        </p:txBody>
      </p:sp>
      <p:sp>
        <p:nvSpPr>
          <p:cNvPr id="5" name="object 5">
            <a:extLst>
              <a:ext uri="{FF2B5EF4-FFF2-40B4-BE49-F238E27FC236}">
                <a16:creationId xmlns:a16="http://schemas.microsoft.com/office/drawing/2014/main" id="{5E7668BA-CB58-8E98-7304-F6203B008D89}"/>
              </a:ext>
            </a:extLst>
          </p:cNvPr>
          <p:cNvSpPr txBox="1"/>
          <p:nvPr/>
        </p:nvSpPr>
        <p:spPr>
          <a:xfrm>
            <a:off x="2848736" y="1456939"/>
            <a:ext cx="1216025" cy="1186180"/>
          </a:xfrm>
          <a:prstGeom prst="rect">
            <a:avLst/>
          </a:prstGeom>
        </p:spPr>
        <p:txBody>
          <a:bodyPr vert="horz" wrap="square" lIns="0" tIns="12065" rIns="0" bIns="0" rtlCol="0">
            <a:spAutoFit/>
          </a:bodyPr>
          <a:lstStyle/>
          <a:p>
            <a:pPr marL="600710" marR="5080" indent="-582295">
              <a:lnSpc>
                <a:spcPct val="150600"/>
              </a:lnSpc>
              <a:spcBef>
                <a:spcPts val="95"/>
              </a:spcBef>
            </a:pPr>
            <a:r>
              <a:rPr sz="1200" dirty="0">
                <a:solidFill>
                  <a:srgbClr val="FFFFFF"/>
                </a:solidFill>
                <a:latin typeface="Calibri"/>
                <a:cs typeface="Calibri"/>
              </a:rPr>
              <a:t>Intelligent</a:t>
            </a:r>
            <a:r>
              <a:rPr sz="1200" spc="45" dirty="0">
                <a:solidFill>
                  <a:srgbClr val="FFFFFF"/>
                </a:solidFill>
                <a:latin typeface="Calibri"/>
                <a:cs typeface="Calibri"/>
              </a:rPr>
              <a:t> </a:t>
            </a:r>
            <a:r>
              <a:rPr sz="1200" spc="-10" dirty="0">
                <a:solidFill>
                  <a:srgbClr val="FFFFFF"/>
                </a:solidFill>
                <a:latin typeface="Calibri"/>
                <a:cs typeface="Calibri"/>
              </a:rPr>
              <a:t>Systems </a:t>
            </a:r>
            <a:r>
              <a:rPr sz="1200" spc="-25" dirty="0">
                <a:solidFill>
                  <a:srgbClr val="FFFFFF"/>
                </a:solidFill>
                <a:latin typeface="Calibri"/>
                <a:cs typeface="Calibri"/>
              </a:rPr>
              <a:t>AI</a:t>
            </a:r>
            <a:endParaRPr sz="1200" dirty="0">
              <a:latin typeface="Calibri"/>
              <a:cs typeface="Calibri"/>
            </a:endParaRPr>
          </a:p>
          <a:p>
            <a:pPr marL="53975" marR="20320" indent="-41910">
              <a:lnSpc>
                <a:spcPts val="2420"/>
              </a:lnSpc>
              <a:spcBef>
                <a:spcPts val="65"/>
              </a:spcBef>
            </a:pPr>
            <a:r>
              <a:rPr sz="1200" dirty="0">
                <a:solidFill>
                  <a:srgbClr val="FFFFFF"/>
                </a:solidFill>
                <a:latin typeface="Calibri"/>
                <a:cs typeface="Calibri"/>
              </a:rPr>
              <a:t>Intelligent</a:t>
            </a:r>
            <a:r>
              <a:rPr sz="1200" spc="45" dirty="0">
                <a:solidFill>
                  <a:srgbClr val="FFFFFF"/>
                </a:solidFill>
                <a:latin typeface="Calibri"/>
                <a:cs typeface="Calibri"/>
              </a:rPr>
              <a:t> </a:t>
            </a:r>
            <a:r>
              <a:rPr sz="1200" spc="-10" dirty="0">
                <a:solidFill>
                  <a:srgbClr val="FFFFFF"/>
                </a:solidFill>
                <a:latin typeface="Calibri"/>
                <a:cs typeface="Calibri"/>
              </a:rPr>
              <a:t>Agents </a:t>
            </a:r>
            <a:r>
              <a:rPr sz="1200" dirty="0">
                <a:solidFill>
                  <a:srgbClr val="FFFFFF"/>
                </a:solidFill>
                <a:latin typeface="Calibri"/>
                <a:cs typeface="Calibri"/>
              </a:rPr>
              <a:t>Machine</a:t>
            </a:r>
            <a:r>
              <a:rPr sz="1200" spc="85" dirty="0">
                <a:solidFill>
                  <a:srgbClr val="FFFFFF"/>
                </a:solidFill>
                <a:latin typeface="Calibri"/>
                <a:cs typeface="Calibri"/>
              </a:rPr>
              <a:t> </a:t>
            </a:r>
            <a:r>
              <a:rPr sz="1200" spc="-10" dirty="0">
                <a:solidFill>
                  <a:srgbClr val="FFFFFF"/>
                </a:solidFill>
                <a:latin typeface="Calibri"/>
                <a:cs typeface="Calibri"/>
              </a:rPr>
              <a:t>Learning</a:t>
            </a:r>
            <a:endParaRPr sz="1200" dirty="0">
              <a:latin typeface="Calibri"/>
              <a:cs typeface="Calibri"/>
            </a:endParaRPr>
          </a:p>
        </p:txBody>
      </p:sp>
      <p:sp>
        <p:nvSpPr>
          <p:cNvPr id="6" name="object 6">
            <a:extLst>
              <a:ext uri="{FF2B5EF4-FFF2-40B4-BE49-F238E27FC236}">
                <a16:creationId xmlns:a16="http://schemas.microsoft.com/office/drawing/2014/main" id="{FC9C5F26-83FE-969E-ED29-4157BAFBE27F}"/>
              </a:ext>
            </a:extLst>
          </p:cNvPr>
          <p:cNvSpPr txBox="1"/>
          <p:nvPr/>
        </p:nvSpPr>
        <p:spPr>
          <a:xfrm>
            <a:off x="2943948" y="3242865"/>
            <a:ext cx="942340" cy="212725"/>
          </a:xfrm>
          <a:prstGeom prst="rect">
            <a:avLst/>
          </a:prstGeom>
        </p:spPr>
        <p:txBody>
          <a:bodyPr vert="horz" wrap="square" lIns="0" tIns="15875" rIns="0" bIns="0" rtlCol="0">
            <a:spAutoFit/>
          </a:bodyPr>
          <a:lstStyle/>
          <a:p>
            <a:pPr marL="12700">
              <a:lnSpc>
                <a:spcPct val="100000"/>
              </a:lnSpc>
              <a:spcBef>
                <a:spcPts val="125"/>
              </a:spcBef>
            </a:pPr>
            <a:r>
              <a:rPr sz="1200" dirty="0">
                <a:solidFill>
                  <a:srgbClr val="FFFFFF"/>
                </a:solidFill>
                <a:latin typeface="Calibri"/>
                <a:cs typeface="Calibri"/>
              </a:rPr>
              <a:t>Deep</a:t>
            </a:r>
            <a:r>
              <a:rPr sz="1200" spc="60" dirty="0">
                <a:solidFill>
                  <a:srgbClr val="FFFFFF"/>
                </a:solidFill>
                <a:latin typeface="Calibri"/>
                <a:cs typeface="Calibri"/>
              </a:rPr>
              <a:t> </a:t>
            </a:r>
            <a:r>
              <a:rPr sz="1200" spc="-10" dirty="0">
                <a:solidFill>
                  <a:srgbClr val="FFFFFF"/>
                </a:solidFill>
                <a:latin typeface="Calibri"/>
                <a:cs typeface="Calibri"/>
              </a:rPr>
              <a:t>Learning</a:t>
            </a:r>
            <a:endParaRPr sz="1200" dirty="0">
              <a:latin typeface="Calibri"/>
              <a:cs typeface="Calibri"/>
            </a:endParaRPr>
          </a:p>
        </p:txBody>
      </p:sp>
      <p:pic>
        <p:nvPicPr>
          <p:cNvPr id="8" name="Picture 7">
            <a:extLst>
              <a:ext uri="{FF2B5EF4-FFF2-40B4-BE49-F238E27FC236}">
                <a16:creationId xmlns:a16="http://schemas.microsoft.com/office/drawing/2014/main" id="{5B5C0DEA-011E-2DF3-817B-997E1F11D7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6391" y="0"/>
            <a:ext cx="4480109" cy="5346700"/>
          </a:xfrm>
          <a:prstGeom prst="rect">
            <a:avLst/>
          </a:prstGeom>
        </p:spPr>
      </p:pic>
    </p:spTree>
    <p:extLst>
      <p:ext uri="{BB962C8B-B14F-4D97-AF65-F5344CB8AC3E}">
        <p14:creationId xmlns:p14="http://schemas.microsoft.com/office/powerpoint/2010/main" val="2461465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 20"/>
          <p:cNvSpPr txBox="1"/>
          <p:nvPr/>
        </p:nvSpPr>
        <p:spPr>
          <a:xfrm>
            <a:off x="425450" y="411874"/>
            <a:ext cx="4875530" cy="309700"/>
          </a:xfrm>
          <a:prstGeom prst="rect">
            <a:avLst/>
          </a:prstGeom>
        </p:spPr>
        <p:txBody>
          <a:bodyPr vert="horz" wrap="square" lIns="0" tIns="17145" rIns="0" bIns="0" rtlCol="0">
            <a:spAutoFit/>
          </a:bodyPr>
          <a:lstStyle/>
          <a:p>
            <a:pPr marL="62230">
              <a:lnSpc>
                <a:spcPct val="100000"/>
              </a:lnSpc>
              <a:spcBef>
                <a:spcPts val="135"/>
              </a:spcBef>
            </a:pPr>
            <a:r>
              <a:rPr lang="en-US" sz="1900" b="1" dirty="0">
                <a:solidFill>
                  <a:srgbClr val="FF0000"/>
                </a:solidFill>
                <a:latin typeface="Cambria"/>
                <a:cs typeface="Cambria"/>
              </a:rPr>
              <a:t>AI History Timeline</a:t>
            </a:r>
          </a:p>
        </p:txBody>
      </p:sp>
      <p:pic>
        <p:nvPicPr>
          <p:cNvPr id="7172" name="Picture 4" descr="AI History Timeline">
            <a:extLst>
              <a:ext uri="{FF2B5EF4-FFF2-40B4-BE49-F238E27FC236}">
                <a16:creationId xmlns:a16="http://schemas.microsoft.com/office/drawing/2014/main" id="{D43FB737-6D4A-CFFF-2EF8-24147856EA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20750"/>
            <a:ext cx="7556500" cy="42497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361EC-A7F7-46AB-4D8D-C21B6BA91749}"/>
            </a:ext>
          </a:extLst>
        </p:cNvPr>
        <p:cNvGrpSpPr/>
        <p:nvPr/>
      </p:nvGrpSpPr>
      <p:grpSpPr>
        <a:xfrm>
          <a:off x="0" y="0"/>
          <a:ext cx="0" cy="0"/>
          <a:chOff x="0" y="0"/>
          <a:chExt cx="0" cy="0"/>
        </a:xfrm>
      </p:grpSpPr>
      <p:sp>
        <p:nvSpPr>
          <p:cNvPr id="20" name="object 20">
            <a:extLst>
              <a:ext uri="{FF2B5EF4-FFF2-40B4-BE49-F238E27FC236}">
                <a16:creationId xmlns:a16="http://schemas.microsoft.com/office/drawing/2014/main" id="{A1FBEF38-558C-7E70-1424-9D9541A65CEA}"/>
              </a:ext>
            </a:extLst>
          </p:cNvPr>
          <p:cNvSpPr txBox="1"/>
          <p:nvPr/>
        </p:nvSpPr>
        <p:spPr>
          <a:xfrm>
            <a:off x="425450" y="411874"/>
            <a:ext cx="4875530" cy="309700"/>
          </a:xfrm>
          <a:prstGeom prst="rect">
            <a:avLst/>
          </a:prstGeom>
        </p:spPr>
        <p:txBody>
          <a:bodyPr vert="horz" wrap="square" lIns="0" tIns="17145" rIns="0" bIns="0" rtlCol="0">
            <a:spAutoFit/>
          </a:bodyPr>
          <a:lstStyle/>
          <a:p>
            <a:pPr marL="62230">
              <a:lnSpc>
                <a:spcPct val="100000"/>
              </a:lnSpc>
              <a:spcBef>
                <a:spcPts val="135"/>
              </a:spcBef>
            </a:pPr>
            <a:r>
              <a:rPr lang="en-US" sz="1900" b="1" dirty="0">
                <a:solidFill>
                  <a:srgbClr val="FF0000"/>
                </a:solidFill>
                <a:latin typeface="Cambria"/>
                <a:cs typeface="Cambria"/>
              </a:rPr>
              <a:t>AI History Timeline</a:t>
            </a:r>
          </a:p>
        </p:txBody>
      </p:sp>
      <p:pic>
        <p:nvPicPr>
          <p:cNvPr id="3" name="Picture 2">
            <a:extLst>
              <a:ext uri="{FF2B5EF4-FFF2-40B4-BE49-F238E27FC236}">
                <a16:creationId xmlns:a16="http://schemas.microsoft.com/office/drawing/2014/main" id="{F975FDC1-D4FB-EB8F-D9DE-EFF8FA9CDFEF}"/>
              </a:ext>
            </a:extLst>
          </p:cNvPr>
          <p:cNvPicPr>
            <a:picLocks noChangeAspect="1"/>
          </p:cNvPicPr>
          <p:nvPr/>
        </p:nvPicPr>
        <p:blipFill>
          <a:blip r:embed="rId2"/>
          <a:stretch>
            <a:fillRect/>
          </a:stretch>
        </p:blipFill>
        <p:spPr>
          <a:xfrm>
            <a:off x="3045549" y="448704"/>
            <a:ext cx="4510951" cy="4584700"/>
          </a:xfrm>
          <a:prstGeom prst="rect">
            <a:avLst/>
          </a:prstGeom>
        </p:spPr>
      </p:pic>
    </p:spTree>
    <p:extLst>
      <p:ext uri="{BB962C8B-B14F-4D97-AF65-F5344CB8AC3E}">
        <p14:creationId xmlns:p14="http://schemas.microsoft.com/office/powerpoint/2010/main" val="1814075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C30C4-4D57-52BF-4F5C-59A7249D0B28}"/>
            </a:ext>
          </a:extLst>
        </p:cNvPr>
        <p:cNvGrpSpPr/>
        <p:nvPr/>
      </p:nvGrpSpPr>
      <p:grpSpPr>
        <a:xfrm>
          <a:off x="0" y="0"/>
          <a:ext cx="0" cy="0"/>
          <a:chOff x="0" y="0"/>
          <a:chExt cx="0" cy="0"/>
        </a:xfrm>
      </p:grpSpPr>
      <p:sp>
        <p:nvSpPr>
          <p:cNvPr id="20" name="object 20">
            <a:extLst>
              <a:ext uri="{FF2B5EF4-FFF2-40B4-BE49-F238E27FC236}">
                <a16:creationId xmlns:a16="http://schemas.microsoft.com/office/drawing/2014/main" id="{8E2ACCF1-A6F7-6024-82A6-1EF09326A056}"/>
              </a:ext>
            </a:extLst>
          </p:cNvPr>
          <p:cNvSpPr txBox="1"/>
          <p:nvPr/>
        </p:nvSpPr>
        <p:spPr>
          <a:xfrm>
            <a:off x="425450" y="411874"/>
            <a:ext cx="4875530" cy="309700"/>
          </a:xfrm>
          <a:prstGeom prst="rect">
            <a:avLst/>
          </a:prstGeom>
        </p:spPr>
        <p:txBody>
          <a:bodyPr vert="horz" wrap="square" lIns="0" tIns="17145" rIns="0" bIns="0" rtlCol="0">
            <a:spAutoFit/>
          </a:bodyPr>
          <a:lstStyle/>
          <a:p>
            <a:pPr marL="62230">
              <a:lnSpc>
                <a:spcPct val="100000"/>
              </a:lnSpc>
              <a:spcBef>
                <a:spcPts val="135"/>
              </a:spcBef>
            </a:pPr>
            <a:r>
              <a:rPr lang="en-US" sz="1900" b="1" dirty="0">
                <a:solidFill>
                  <a:srgbClr val="FF0000"/>
                </a:solidFill>
                <a:latin typeface="Cambria"/>
                <a:cs typeface="Cambria"/>
              </a:rPr>
              <a:t>AI Breakthrough Timeline</a:t>
            </a:r>
          </a:p>
        </p:txBody>
      </p:sp>
      <p:sp>
        <p:nvSpPr>
          <p:cNvPr id="5" name="Shape 3">
            <a:extLst>
              <a:ext uri="{FF2B5EF4-FFF2-40B4-BE49-F238E27FC236}">
                <a16:creationId xmlns:a16="http://schemas.microsoft.com/office/drawing/2014/main" id="{40F63A96-D82E-2D4D-49EA-0CB7D763F31B}"/>
              </a:ext>
            </a:extLst>
          </p:cNvPr>
          <p:cNvSpPr/>
          <p:nvPr/>
        </p:nvSpPr>
        <p:spPr>
          <a:xfrm>
            <a:off x="1097280" y="1234440"/>
            <a:ext cx="0" cy="3657600"/>
          </a:xfrm>
          <a:prstGeom prst="line">
            <a:avLst/>
          </a:prstGeom>
          <a:noFill/>
          <a:ln w="19050">
            <a:solidFill>
              <a:srgbClr val="94A3B8"/>
            </a:solidFill>
            <a:prstDash val="solid"/>
          </a:ln>
        </p:spPr>
        <p:txBody>
          <a:bodyPr/>
          <a:lstStyle/>
          <a:p>
            <a:endParaRPr lang="en-001">
              <a:latin typeface="Cambria" panose="02040503050406030204" pitchFamily="18" charset="0"/>
              <a:ea typeface="Cambria" panose="02040503050406030204" pitchFamily="18" charset="0"/>
            </a:endParaRPr>
          </a:p>
        </p:txBody>
      </p:sp>
      <p:sp>
        <p:nvSpPr>
          <p:cNvPr id="6" name="Shape 4">
            <a:extLst>
              <a:ext uri="{FF2B5EF4-FFF2-40B4-BE49-F238E27FC236}">
                <a16:creationId xmlns:a16="http://schemas.microsoft.com/office/drawing/2014/main" id="{2767BA61-5CB8-6762-12C2-C6688E809927}"/>
              </a:ext>
            </a:extLst>
          </p:cNvPr>
          <p:cNvSpPr/>
          <p:nvPr/>
        </p:nvSpPr>
        <p:spPr>
          <a:xfrm>
            <a:off x="960120" y="1143000"/>
            <a:ext cx="274320" cy="274320"/>
          </a:xfrm>
          <a:prstGeom prst="ellipse">
            <a:avLst/>
          </a:prstGeom>
          <a:solidFill>
            <a:srgbClr val="0EA5E9"/>
          </a:solidFill>
          <a:ln/>
        </p:spPr>
        <p:txBody>
          <a:bodyPr/>
          <a:lstStyle/>
          <a:p>
            <a:endParaRPr lang="en-001">
              <a:latin typeface="Cambria" panose="02040503050406030204" pitchFamily="18" charset="0"/>
              <a:ea typeface="Cambria" panose="02040503050406030204" pitchFamily="18" charset="0"/>
            </a:endParaRPr>
          </a:p>
        </p:txBody>
      </p:sp>
      <p:sp>
        <p:nvSpPr>
          <p:cNvPr id="7" name="Shape 5">
            <a:extLst>
              <a:ext uri="{FF2B5EF4-FFF2-40B4-BE49-F238E27FC236}">
                <a16:creationId xmlns:a16="http://schemas.microsoft.com/office/drawing/2014/main" id="{CE2DA4D9-B613-6D2B-BAE0-83F7F66DE2D5}"/>
              </a:ext>
            </a:extLst>
          </p:cNvPr>
          <p:cNvSpPr/>
          <p:nvPr/>
        </p:nvSpPr>
        <p:spPr>
          <a:xfrm>
            <a:off x="457200" y="1115568"/>
            <a:ext cx="457200" cy="292608"/>
          </a:xfrm>
          <a:prstGeom prst="rect">
            <a:avLst/>
          </a:prstGeom>
          <a:solidFill>
            <a:srgbClr val="0EA5E9">
              <a:alpha val="15000"/>
            </a:srgbClr>
          </a:solidFill>
          <a:ln/>
        </p:spPr>
        <p:txBody>
          <a:bodyPr/>
          <a:lstStyle/>
          <a:p>
            <a:endParaRPr lang="en-001">
              <a:latin typeface="Cambria" panose="02040503050406030204" pitchFamily="18" charset="0"/>
              <a:ea typeface="Cambria" panose="02040503050406030204" pitchFamily="18" charset="0"/>
            </a:endParaRPr>
          </a:p>
        </p:txBody>
      </p:sp>
      <p:sp>
        <p:nvSpPr>
          <p:cNvPr id="8" name="Text 6">
            <a:extLst>
              <a:ext uri="{FF2B5EF4-FFF2-40B4-BE49-F238E27FC236}">
                <a16:creationId xmlns:a16="http://schemas.microsoft.com/office/drawing/2014/main" id="{58033680-8A4C-97AE-A832-074957E3E387}"/>
              </a:ext>
            </a:extLst>
          </p:cNvPr>
          <p:cNvSpPr/>
          <p:nvPr/>
        </p:nvSpPr>
        <p:spPr>
          <a:xfrm>
            <a:off x="457200" y="1133856"/>
            <a:ext cx="457200" cy="256032"/>
          </a:xfrm>
          <a:prstGeom prst="rect">
            <a:avLst/>
          </a:prstGeom>
          <a:noFill/>
          <a:ln/>
        </p:spPr>
        <p:txBody>
          <a:bodyPr wrap="square" lIns="0" tIns="0" rIns="0" bIns="0" rtlCol="0" anchor="ctr"/>
          <a:lstStyle/>
          <a:p>
            <a:pPr marL="0" indent="0" algn="ctr">
              <a:buNone/>
            </a:pPr>
            <a:r>
              <a:rPr lang="en-US" sz="700" b="1" dirty="0">
                <a:solidFill>
                  <a:srgbClr val="0EA5E9"/>
                </a:solidFill>
                <a:latin typeface="Cambria" panose="02040503050406030204" pitchFamily="18" charset="0"/>
                <a:ea typeface="Cambria" panose="02040503050406030204" pitchFamily="18" charset="0"/>
                <a:cs typeface="Calibri" pitchFamily="34" charset="-120"/>
              </a:rPr>
              <a:t>Nov 2022</a:t>
            </a:r>
            <a:endParaRPr lang="en-US" sz="700" dirty="0">
              <a:latin typeface="Cambria" panose="02040503050406030204" pitchFamily="18" charset="0"/>
              <a:ea typeface="Cambria" panose="02040503050406030204" pitchFamily="18" charset="0"/>
            </a:endParaRPr>
          </a:p>
        </p:txBody>
      </p:sp>
      <p:sp>
        <p:nvSpPr>
          <p:cNvPr id="9" name="Text 7">
            <a:extLst>
              <a:ext uri="{FF2B5EF4-FFF2-40B4-BE49-F238E27FC236}">
                <a16:creationId xmlns:a16="http://schemas.microsoft.com/office/drawing/2014/main" id="{3663CD7A-08B4-7FFC-ADDA-E4E2DF9AB0F3}"/>
              </a:ext>
            </a:extLst>
          </p:cNvPr>
          <p:cNvSpPr/>
          <p:nvPr/>
        </p:nvSpPr>
        <p:spPr>
          <a:xfrm>
            <a:off x="1417320" y="1097280"/>
            <a:ext cx="7406640" cy="475488"/>
          </a:xfrm>
          <a:prstGeom prst="rect">
            <a:avLst/>
          </a:prstGeom>
          <a:noFill/>
          <a:ln/>
        </p:spPr>
        <p:txBody>
          <a:bodyPr wrap="square" lIns="0" tIns="0" rIns="0" bIns="0" rtlCol="0" anchor="ctr"/>
          <a:lstStyle/>
          <a:p>
            <a:pPr marL="0" indent="0">
              <a:buNone/>
            </a:pPr>
            <a:r>
              <a:rPr lang="en-US" sz="1100" dirty="0">
                <a:solidFill>
                  <a:srgbClr val="1E293B"/>
                </a:solidFill>
                <a:latin typeface="Cambria" panose="02040503050406030204" pitchFamily="18" charset="0"/>
                <a:ea typeface="Cambria" panose="02040503050406030204" pitchFamily="18" charset="0"/>
                <a:cs typeface="Calibri" pitchFamily="34" charset="-120"/>
              </a:rPr>
              <a:t>ChatGPT launches → 100M users in 60 days. Public realisation of LLM capabilities.</a:t>
            </a:r>
            <a:endParaRPr lang="en-US" sz="1100" dirty="0">
              <a:latin typeface="Cambria" panose="02040503050406030204" pitchFamily="18" charset="0"/>
              <a:ea typeface="Cambria" panose="02040503050406030204" pitchFamily="18" charset="0"/>
            </a:endParaRPr>
          </a:p>
        </p:txBody>
      </p:sp>
      <p:sp>
        <p:nvSpPr>
          <p:cNvPr id="10" name="Shape 8">
            <a:extLst>
              <a:ext uri="{FF2B5EF4-FFF2-40B4-BE49-F238E27FC236}">
                <a16:creationId xmlns:a16="http://schemas.microsoft.com/office/drawing/2014/main" id="{94800254-9D1A-112D-03EA-9A810F229BD4}"/>
              </a:ext>
            </a:extLst>
          </p:cNvPr>
          <p:cNvSpPr/>
          <p:nvPr/>
        </p:nvSpPr>
        <p:spPr>
          <a:xfrm>
            <a:off x="960120" y="1673352"/>
            <a:ext cx="274320" cy="274320"/>
          </a:xfrm>
          <a:prstGeom prst="ellipse">
            <a:avLst/>
          </a:prstGeom>
          <a:solidFill>
            <a:srgbClr val="0D9488"/>
          </a:solidFill>
          <a:ln/>
        </p:spPr>
        <p:txBody>
          <a:bodyPr/>
          <a:lstStyle/>
          <a:p>
            <a:endParaRPr lang="en-001">
              <a:latin typeface="Cambria" panose="02040503050406030204" pitchFamily="18" charset="0"/>
              <a:ea typeface="Cambria" panose="02040503050406030204" pitchFamily="18" charset="0"/>
            </a:endParaRPr>
          </a:p>
        </p:txBody>
      </p:sp>
      <p:sp>
        <p:nvSpPr>
          <p:cNvPr id="11" name="Shape 9">
            <a:extLst>
              <a:ext uri="{FF2B5EF4-FFF2-40B4-BE49-F238E27FC236}">
                <a16:creationId xmlns:a16="http://schemas.microsoft.com/office/drawing/2014/main" id="{2EB024D1-6661-9D15-AAB3-640F270004BB}"/>
              </a:ext>
            </a:extLst>
          </p:cNvPr>
          <p:cNvSpPr/>
          <p:nvPr/>
        </p:nvSpPr>
        <p:spPr>
          <a:xfrm>
            <a:off x="457200" y="1645920"/>
            <a:ext cx="457200" cy="292608"/>
          </a:xfrm>
          <a:prstGeom prst="rect">
            <a:avLst/>
          </a:prstGeom>
          <a:solidFill>
            <a:srgbClr val="0D9488">
              <a:alpha val="15000"/>
            </a:srgbClr>
          </a:solidFill>
          <a:ln/>
        </p:spPr>
        <p:txBody>
          <a:bodyPr/>
          <a:lstStyle/>
          <a:p>
            <a:endParaRPr lang="en-001">
              <a:latin typeface="Cambria" panose="02040503050406030204" pitchFamily="18" charset="0"/>
              <a:ea typeface="Cambria" panose="02040503050406030204" pitchFamily="18" charset="0"/>
            </a:endParaRPr>
          </a:p>
        </p:txBody>
      </p:sp>
      <p:sp>
        <p:nvSpPr>
          <p:cNvPr id="12" name="Text 10">
            <a:extLst>
              <a:ext uri="{FF2B5EF4-FFF2-40B4-BE49-F238E27FC236}">
                <a16:creationId xmlns:a16="http://schemas.microsoft.com/office/drawing/2014/main" id="{677EBFF4-4F6B-13A6-4D4B-806622168996}"/>
              </a:ext>
            </a:extLst>
          </p:cNvPr>
          <p:cNvSpPr/>
          <p:nvPr/>
        </p:nvSpPr>
        <p:spPr>
          <a:xfrm>
            <a:off x="457200" y="1664208"/>
            <a:ext cx="457200" cy="256032"/>
          </a:xfrm>
          <a:prstGeom prst="rect">
            <a:avLst/>
          </a:prstGeom>
          <a:noFill/>
          <a:ln/>
        </p:spPr>
        <p:txBody>
          <a:bodyPr wrap="square" lIns="0" tIns="0" rIns="0" bIns="0" rtlCol="0" anchor="ctr"/>
          <a:lstStyle/>
          <a:p>
            <a:pPr marL="0" indent="0" algn="ctr">
              <a:buNone/>
            </a:pPr>
            <a:r>
              <a:rPr lang="en-US" sz="700" b="1" dirty="0">
                <a:solidFill>
                  <a:srgbClr val="0D9488"/>
                </a:solidFill>
                <a:latin typeface="Cambria" panose="02040503050406030204" pitchFamily="18" charset="0"/>
                <a:ea typeface="Cambria" panose="02040503050406030204" pitchFamily="18" charset="0"/>
                <a:cs typeface="Calibri" pitchFamily="34" charset="-120"/>
              </a:rPr>
              <a:t>Mar 2023</a:t>
            </a:r>
            <a:endParaRPr lang="en-US" sz="700" dirty="0">
              <a:latin typeface="Cambria" panose="02040503050406030204" pitchFamily="18" charset="0"/>
              <a:ea typeface="Cambria" panose="02040503050406030204" pitchFamily="18" charset="0"/>
            </a:endParaRPr>
          </a:p>
        </p:txBody>
      </p:sp>
      <p:sp>
        <p:nvSpPr>
          <p:cNvPr id="13" name="Text 11">
            <a:extLst>
              <a:ext uri="{FF2B5EF4-FFF2-40B4-BE49-F238E27FC236}">
                <a16:creationId xmlns:a16="http://schemas.microsoft.com/office/drawing/2014/main" id="{B5B42460-5492-7D86-CBF3-6DACE0511CCE}"/>
              </a:ext>
            </a:extLst>
          </p:cNvPr>
          <p:cNvSpPr/>
          <p:nvPr/>
        </p:nvSpPr>
        <p:spPr>
          <a:xfrm>
            <a:off x="1417320" y="1627632"/>
            <a:ext cx="7406640" cy="475488"/>
          </a:xfrm>
          <a:prstGeom prst="rect">
            <a:avLst/>
          </a:prstGeom>
          <a:noFill/>
          <a:ln/>
        </p:spPr>
        <p:txBody>
          <a:bodyPr wrap="square" lIns="0" tIns="0" rIns="0" bIns="0" rtlCol="0" anchor="ctr"/>
          <a:lstStyle/>
          <a:p>
            <a:pPr marL="0" indent="0">
              <a:buNone/>
            </a:pPr>
            <a:r>
              <a:rPr lang="en-US" sz="1100" dirty="0">
                <a:solidFill>
                  <a:srgbClr val="1E293B"/>
                </a:solidFill>
                <a:latin typeface="Cambria" panose="02040503050406030204" pitchFamily="18" charset="0"/>
                <a:ea typeface="Cambria" panose="02040503050406030204" pitchFamily="18" charset="0"/>
                <a:cs typeface="Calibri" pitchFamily="34" charset="-120"/>
              </a:rPr>
              <a:t>GPT-4 + plugins: first mainstream tool-use. AI can search the web, run code, call APIs.</a:t>
            </a:r>
            <a:endParaRPr lang="en-US" sz="1100" dirty="0">
              <a:latin typeface="Cambria" panose="02040503050406030204" pitchFamily="18" charset="0"/>
              <a:ea typeface="Cambria" panose="02040503050406030204" pitchFamily="18" charset="0"/>
            </a:endParaRPr>
          </a:p>
        </p:txBody>
      </p:sp>
      <p:sp>
        <p:nvSpPr>
          <p:cNvPr id="14" name="Shape 12">
            <a:extLst>
              <a:ext uri="{FF2B5EF4-FFF2-40B4-BE49-F238E27FC236}">
                <a16:creationId xmlns:a16="http://schemas.microsoft.com/office/drawing/2014/main" id="{7F58BB20-F61E-1F03-6400-B96DF9A9E84F}"/>
              </a:ext>
            </a:extLst>
          </p:cNvPr>
          <p:cNvSpPr/>
          <p:nvPr/>
        </p:nvSpPr>
        <p:spPr>
          <a:xfrm>
            <a:off x="960120" y="2203704"/>
            <a:ext cx="274320" cy="274320"/>
          </a:xfrm>
          <a:prstGeom prst="ellipse">
            <a:avLst/>
          </a:prstGeom>
          <a:solidFill>
            <a:srgbClr val="8B5CF6"/>
          </a:solidFill>
          <a:ln/>
        </p:spPr>
        <p:txBody>
          <a:bodyPr/>
          <a:lstStyle/>
          <a:p>
            <a:endParaRPr lang="en-001">
              <a:latin typeface="Cambria" panose="02040503050406030204" pitchFamily="18" charset="0"/>
              <a:ea typeface="Cambria" panose="02040503050406030204" pitchFamily="18" charset="0"/>
            </a:endParaRPr>
          </a:p>
        </p:txBody>
      </p:sp>
      <p:sp>
        <p:nvSpPr>
          <p:cNvPr id="15" name="Shape 13">
            <a:extLst>
              <a:ext uri="{FF2B5EF4-FFF2-40B4-BE49-F238E27FC236}">
                <a16:creationId xmlns:a16="http://schemas.microsoft.com/office/drawing/2014/main" id="{34A03B3C-A3E5-D2B2-BF66-09D51C821300}"/>
              </a:ext>
            </a:extLst>
          </p:cNvPr>
          <p:cNvSpPr/>
          <p:nvPr/>
        </p:nvSpPr>
        <p:spPr>
          <a:xfrm>
            <a:off x="457200" y="2176272"/>
            <a:ext cx="457200" cy="292608"/>
          </a:xfrm>
          <a:prstGeom prst="rect">
            <a:avLst/>
          </a:prstGeom>
          <a:solidFill>
            <a:srgbClr val="8B5CF6">
              <a:alpha val="15000"/>
            </a:srgbClr>
          </a:solidFill>
          <a:ln/>
        </p:spPr>
        <p:txBody>
          <a:bodyPr/>
          <a:lstStyle/>
          <a:p>
            <a:endParaRPr lang="en-001">
              <a:latin typeface="Cambria" panose="02040503050406030204" pitchFamily="18" charset="0"/>
              <a:ea typeface="Cambria" panose="02040503050406030204" pitchFamily="18" charset="0"/>
            </a:endParaRPr>
          </a:p>
        </p:txBody>
      </p:sp>
      <p:sp>
        <p:nvSpPr>
          <p:cNvPr id="16" name="Text 14">
            <a:extLst>
              <a:ext uri="{FF2B5EF4-FFF2-40B4-BE49-F238E27FC236}">
                <a16:creationId xmlns:a16="http://schemas.microsoft.com/office/drawing/2014/main" id="{ECCABCE7-15FF-1FEA-F0E5-94B1B10F45DA}"/>
              </a:ext>
            </a:extLst>
          </p:cNvPr>
          <p:cNvSpPr/>
          <p:nvPr/>
        </p:nvSpPr>
        <p:spPr>
          <a:xfrm>
            <a:off x="457200" y="2194560"/>
            <a:ext cx="457200" cy="256032"/>
          </a:xfrm>
          <a:prstGeom prst="rect">
            <a:avLst/>
          </a:prstGeom>
          <a:noFill/>
          <a:ln/>
        </p:spPr>
        <p:txBody>
          <a:bodyPr wrap="square" lIns="0" tIns="0" rIns="0" bIns="0" rtlCol="0" anchor="ctr"/>
          <a:lstStyle/>
          <a:p>
            <a:pPr marL="0" indent="0" algn="ctr">
              <a:buNone/>
            </a:pPr>
            <a:r>
              <a:rPr lang="en-US" sz="700" b="1" dirty="0">
                <a:solidFill>
                  <a:srgbClr val="8B5CF6"/>
                </a:solidFill>
                <a:latin typeface="Cambria" panose="02040503050406030204" pitchFamily="18" charset="0"/>
                <a:ea typeface="Cambria" panose="02040503050406030204" pitchFamily="18" charset="0"/>
                <a:cs typeface="Calibri" pitchFamily="34" charset="-120"/>
              </a:rPr>
              <a:t>Jul 2023</a:t>
            </a:r>
            <a:endParaRPr lang="en-US" sz="700" dirty="0">
              <a:latin typeface="Cambria" panose="02040503050406030204" pitchFamily="18" charset="0"/>
              <a:ea typeface="Cambria" panose="02040503050406030204" pitchFamily="18" charset="0"/>
            </a:endParaRPr>
          </a:p>
        </p:txBody>
      </p:sp>
      <p:sp>
        <p:nvSpPr>
          <p:cNvPr id="17" name="Text 15">
            <a:extLst>
              <a:ext uri="{FF2B5EF4-FFF2-40B4-BE49-F238E27FC236}">
                <a16:creationId xmlns:a16="http://schemas.microsoft.com/office/drawing/2014/main" id="{F0D08ABC-5440-9F86-AAE1-0BC4582EAABF}"/>
              </a:ext>
            </a:extLst>
          </p:cNvPr>
          <p:cNvSpPr/>
          <p:nvPr/>
        </p:nvSpPr>
        <p:spPr>
          <a:xfrm>
            <a:off x="1417320" y="2157984"/>
            <a:ext cx="7406640" cy="475488"/>
          </a:xfrm>
          <a:prstGeom prst="rect">
            <a:avLst/>
          </a:prstGeom>
          <a:noFill/>
          <a:ln/>
        </p:spPr>
        <p:txBody>
          <a:bodyPr wrap="square" lIns="0" tIns="0" rIns="0" bIns="0" rtlCol="0" anchor="ctr"/>
          <a:lstStyle/>
          <a:p>
            <a:pPr marL="0" indent="0">
              <a:buNone/>
            </a:pPr>
            <a:r>
              <a:rPr lang="en-US" sz="1100" dirty="0">
                <a:solidFill>
                  <a:srgbClr val="1E293B"/>
                </a:solidFill>
                <a:latin typeface="Cambria" panose="02040503050406030204" pitchFamily="18" charset="0"/>
                <a:ea typeface="Cambria" panose="02040503050406030204" pitchFamily="18" charset="0"/>
                <a:cs typeface="Calibri" pitchFamily="34" charset="-120"/>
              </a:rPr>
              <a:t>Claude 2, Llama 2. Open-weight models democratise fine-tuning.</a:t>
            </a:r>
            <a:endParaRPr lang="en-US" sz="1100" dirty="0">
              <a:latin typeface="Cambria" panose="02040503050406030204" pitchFamily="18" charset="0"/>
              <a:ea typeface="Cambria" panose="02040503050406030204" pitchFamily="18" charset="0"/>
            </a:endParaRPr>
          </a:p>
        </p:txBody>
      </p:sp>
      <p:sp>
        <p:nvSpPr>
          <p:cNvPr id="18" name="Shape 16">
            <a:extLst>
              <a:ext uri="{FF2B5EF4-FFF2-40B4-BE49-F238E27FC236}">
                <a16:creationId xmlns:a16="http://schemas.microsoft.com/office/drawing/2014/main" id="{A1E91DB3-4597-1201-96B2-869BE4E70133}"/>
              </a:ext>
            </a:extLst>
          </p:cNvPr>
          <p:cNvSpPr/>
          <p:nvPr/>
        </p:nvSpPr>
        <p:spPr>
          <a:xfrm>
            <a:off x="960120" y="2734056"/>
            <a:ext cx="274320" cy="274320"/>
          </a:xfrm>
          <a:prstGeom prst="ellipse">
            <a:avLst/>
          </a:prstGeom>
          <a:solidFill>
            <a:srgbClr val="F59E0B"/>
          </a:solidFill>
          <a:ln/>
        </p:spPr>
        <p:txBody>
          <a:bodyPr/>
          <a:lstStyle/>
          <a:p>
            <a:endParaRPr lang="en-001">
              <a:latin typeface="Cambria" panose="02040503050406030204" pitchFamily="18" charset="0"/>
              <a:ea typeface="Cambria" panose="02040503050406030204" pitchFamily="18" charset="0"/>
            </a:endParaRPr>
          </a:p>
        </p:txBody>
      </p:sp>
      <p:sp>
        <p:nvSpPr>
          <p:cNvPr id="19" name="Shape 17">
            <a:extLst>
              <a:ext uri="{FF2B5EF4-FFF2-40B4-BE49-F238E27FC236}">
                <a16:creationId xmlns:a16="http://schemas.microsoft.com/office/drawing/2014/main" id="{5B70C19D-6FB6-B986-C457-43078A0933F3}"/>
              </a:ext>
            </a:extLst>
          </p:cNvPr>
          <p:cNvSpPr/>
          <p:nvPr/>
        </p:nvSpPr>
        <p:spPr>
          <a:xfrm>
            <a:off x="457200" y="2706624"/>
            <a:ext cx="457200" cy="292608"/>
          </a:xfrm>
          <a:prstGeom prst="rect">
            <a:avLst/>
          </a:prstGeom>
          <a:solidFill>
            <a:srgbClr val="F59E0B">
              <a:alpha val="15000"/>
            </a:srgbClr>
          </a:solidFill>
          <a:ln/>
        </p:spPr>
        <p:txBody>
          <a:bodyPr/>
          <a:lstStyle/>
          <a:p>
            <a:endParaRPr lang="en-001">
              <a:latin typeface="Cambria" panose="02040503050406030204" pitchFamily="18" charset="0"/>
              <a:ea typeface="Cambria" panose="02040503050406030204" pitchFamily="18" charset="0"/>
            </a:endParaRPr>
          </a:p>
        </p:txBody>
      </p:sp>
      <p:sp>
        <p:nvSpPr>
          <p:cNvPr id="21" name="Text 18">
            <a:extLst>
              <a:ext uri="{FF2B5EF4-FFF2-40B4-BE49-F238E27FC236}">
                <a16:creationId xmlns:a16="http://schemas.microsoft.com/office/drawing/2014/main" id="{E8DA3985-3E7A-6BE7-AEF0-BA67928603BB}"/>
              </a:ext>
            </a:extLst>
          </p:cNvPr>
          <p:cNvSpPr/>
          <p:nvPr/>
        </p:nvSpPr>
        <p:spPr>
          <a:xfrm>
            <a:off x="457200" y="2724912"/>
            <a:ext cx="457200" cy="256032"/>
          </a:xfrm>
          <a:prstGeom prst="rect">
            <a:avLst/>
          </a:prstGeom>
          <a:noFill/>
          <a:ln/>
        </p:spPr>
        <p:txBody>
          <a:bodyPr wrap="square" lIns="0" tIns="0" rIns="0" bIns="0" rtlCol="0" anchor="ctr"/>
          <a:lstStyle/>
          <a:p>
            <a:pPr marL="0" indent="0" algn="ctr">
              <a:buNone/>
            </a:pPr>
            <a:r>
              <a:rPr lang="en-US" sz="700" b="1" dirty="0">
                <a:solidFill>
                  <a:srgbClr val="F59E0B"/>
                </a:solidFill>
                <a:latin typeface="Cambria" panose="02040503050406030204" pitchFamily="18" charset="0"/>
                <a:ea typeface="Cambria" panose="02040503050406030204" pitchFamily="18" charset="0"/>
                <a:cs typeface="Calibri" pitchFamily="34" charset="-120"/>
              </a:rPr>
              <a:t>Jan 2024</a:t>
            </a:r>
            <a:endParaRPr lang="en-US" sz="700" dirty="0">
              <a:latin typeface="Cambria" panose="02040503050406030204" pitchFamily="18" charset="0"/>
              <a:ea typeface="Cambria" panose="02040503050406030204" pitchFamily="18" charset="0"/>
            </a:endParaRPr>
          </a:p>
        </p:txBody>
      </p:sp>
      <p:sp>
        <p:nvSpPr>
          <p:cNvPr id="22" name="Text 19">
            <a:extLst>
              <a:ext uri="{FF2B5EF4-FFF2-40B4-BE49-F238E27FC236}">
                <a16:creationId xmlns:a16="http://schemas.microsoft.com/office/drawing/2014/main" id="{4568AB97-E93D-F365-D302-D191622FE9DD}"/>
              </a:ext>
            </a:extLst>
          </p:cNvPr>
          <p:cNvSpPr/>
          <p:nvPr/>
        </p:nvSpPr>
        <p:spPr>
          <a:xfrm>
            <a:off x="1417320" y="2688336"/>
            <a:ext cx="7406640" cy="475488"/>
          </a:xfrm>
          <a:prstGeom prst="rect">
            <a:avLst/>
          </a:prstGeom>
          <a:noFill/>
          <a:ln/>
        </p:spPr>
        <p:txBody>
          <a:bodyPr wrap="square" lIns="0" tIns="0" rIns="0" bIns="0" rtlCol="0" anchor="ctr"/>
          <a:lstStyle/>
          <a:p>
            <a:pPr marL="0" indent="0">
              <a:buNone/>
            </a:pPr>
            <a:r>
              <a:rPr lang="en-US" sz="1100" dirty="0">
                <a:solidFill>
                  <a:srgbClr val="1E293B"/>
                </a:solidFill>
                <a:latin typeface="Cambria" panose="02040503050406030204" pitchFamily="18" charset="0"/>
                <a:ea typeface="Cambria" panose="02040503050406030204" pitchFamily="18" charset="0"/>
                <a:cs typeface="Calibri" pitchFamily="34" charset="-120"/>
              </a:rPr>
              <a:t>Gemini 1.0, Sora (text-to-video). Multimodal becomes standard, not special.</a:t>
            </a:r>
            <a:endParaRPr lang="en-US" sz="1100" dirty="0">
              <a:latin typeface="Cambria" panose="02040503050406030204" pitchFamily="18" charset="0"/>
              <a:ea typeface="Cambria" panose="02040503050406030204" pitchFamily="18" charset="0"/>
            </a:endParaRPr>
          </a:p>
        </p:txBody>
      </p:sp>
      <p:sp>
        <p:nvSpPr>
          <p:cNvPr id="23" name="Shape 20">
            <a:extLst>
              <a:ext uri="{FF2B5EF4-FFF2-40B4-BE49-F238E27FC236}">
                <a16:creationId xmlns:a16="http://schemas.microsoft.com/office/drawing/2014/main" id="{36C7870A-6BF0-1A5A-19BF-97AC68330FE4}"/>
              </a:ext>
            </a:extLst>
          </p:cNvPr>
          <p:cNvSpPr/>
          <p:nvPr/>
        </p:nvSpPr>
        <p:spPr>
          <a:xfrm>
            <a:off x="960120" y="3264408"/>
            <a:ext cx="274320" cy="274320"/>
          </a:xfrm>
          <a:prstGeom prst="ellipse">
            <a:avLst/>
          </a:prstGeom>
          <a:solidFill>
            <a:srgbClr val="0D9488"/>
          </a:solidFill>
          <a:ln/>
        </p:spPr>
        <p:txBody>
          <a:bodyPr/>
          <a:lstStyle/>
          <a:p>
            <a:endParaRPr lang="en-001">
              <a:latin typeface="Cambria" panose="02040503050406030204" pitchFamily="18" charset="0"/>
              <a:ea typeface="Cambria" panose="02040503050406030204" pitchFamily="18" charset="0"/>
            </a:endParaRPr>
          </a:p>
        </p:txBody>
      </p:sp>
      <p:sp>
        <p:nvSpPr>
          <p:cNvPr id="24" name="Shape 21">
            <a:extLst>
              <a:ext uri="{FF2B5EF4-FFF2-40B4-BE49-F238E27FC236}">
                <a16:creationId xmlns:a16="http://schemas.microsoft.com/office/drawing/2014/main" id="{383FA07E-AF25-A03C-6167-3A46E674F042}"/>
              </a:ext>
            </a:extLst>
          </p:cNvPr>
          <p:cNvSpPr/>
          <p:nvPr/>
        </p:nvSpPr>
        <p:spPr>
          <a:xfrm>
            <a:off x="457200" y="3236976"/>
            <a:ext cx="457200" cy="292608"/>
          </a:xfrm>
          <a:prstGeom prst="rect">
            <a:avLst/>
          </a:prstGeom>
          <a:solidFill>
            <a:srgbClr val="0D9488">
              <a:alpha val="15000"/>
            </a:srgbClr>
          </a:solidFill>
          <a:ln/>
        </p:spPr>
        <p:txBody>
          <a:bodyPr/>
          <a:lstStyle/>
          <a:p>
            <a:endParaRPr lang="en-001">
              <a:latin typeface="Cambria" panose="02040503050406030204" pitchFamily="18" charset="0"/>
              <a:ea typeface="Cambria" panose="02040503050406030204" pitchFamily="18" charset="0"/>
            </a:endParaRPr>
          </a:p>
        </p:txBody>
      </p:sp>
      <p:sp>
        <p:nvSpPr>
          <p:cNvPr id="25" name="Text 22">
            <a:extLst>
              <a:ext uri="{FF2B5EF4-FFF2-40B4-BE49-F238E27FC236}">
                <a16:creationId xmlns:a16="http://schemas.microsoft.com/office/drawing/2014/main" id="{9DC90F36-9B41-E799-197D-5E36CE3D66BD}"/>
              </a:ext>
            </a:extLst>
          </p:cNvPr>
          <p:cNvSpPr/>
          <p:nvPr/>
        </p:nvSpPr>
        <p:spPr>
          <a:xfrm>
            <a:off x="457200" y="3255264"/>
            <a:ext cx="457200" cy="256032"/>
          </a:xfrm>
          <a:prstGeom prst="rect">
            <a:avLst/>
          </a:prstGeom>
          <a:noFill/>
          <a:ln/>
        </p:spPr>
        <p:txBody>
          <a:bodyPr wrap="square" lIns="0" tIns="0" rIns="0" bIns="0" rtlCol="0" anchor="ctr"/>
          <a:lstStyle/>
          <a:p>
            <a:pPr marL="0" indent="0" algn="ctr">
              <a:buNone/>
            </a:pPr>
            <a:r>
              <a:rPr lang="en-US" sz="700" b="1" dirty="0">
                <a:solidFill>
                  <a:srgbClr val="0D9488"/>
                </a:solidFill>
                <a:latin typeface="Cambria" panose="02040503050406030204" pitchFamily="18" charset="0"/>
                <a:ea typeface="Cambria" panose="02040503050406030204" pitchFamily="18" charset="0"/>
                <a:cs typeface="Calibri" pitchFamily="34" charset="-120"/>
              </a:rPr>
              <a:t>Jun 2024</a:t>
            </a:r>
            <a:endParaRPr lang="en-US" sz="700" dirty="0">
              <a:latin typeface="Cambria" panose="02040503050406030204" pitchFamily="18" charset="0"/>
              <a:ea typeface="Cambria" panose="02040503050406030204" pitchFamily="18" charset="0"/>
            </a:endParaRPr>
          </a:p>
        </p:txBody>
      </p:sp>
      <p:sp>
        <p:nvSpPr>
          <p:cNvPr id="26" name="Text 23">
            <a:extLst>
              <a:ext uri="{FF2B5EF4-FFF2-40B4-BE49-F238E27FC236}">
                <a16:creationId xmlns:a16="http://schemas.microsoft.com/office/drawing/2014/main" id="{7EAACFA9-76D8-0423-31D8-1AEB4091709A}"/>
              </a:ext>
            </a:extLst>
          </p:cNvPr>
          <p:cNvSpPr/>
          <p:nvPr/>
        </p:nvSpPr>
        <p:spPr>
          <a:xfrm>
            <a:off x="1417320" y="3218688"/>
            <a:ext cx="7406640" cy="475488"/>
          </a:xfrm>
          <a:prstGeom prst="rect">
            <a:avLst/>
          </a:prstGeom>
          <a:noFill/>
          <a:ln/>
        </p:spPr>
        <p:txBody>
          <a:bodyPr wrap="square" lIns="0" tIns="0" rIns="0" bIns="0" rtlCol="0" anchor="ctr"/>
          <a:lstStyle/>
          <a:p>
            <a:pPr marL="0" indent="0">
              <a:buNone/>
            </a:pPr>
            <a:r>
              <a:rPr lang="en-US" sz="1100" dirty="0">
                <a:solidFill>
                  <a:srgbClr val="1E293B"/>
                </a:solidFill>
                <a:latin typeface="Cambria" panose="02040503050406030204" pitchFamily="18" charset="0"/>
                <a:ea typeface="Cambria" panose="02040503050406030204" pitchFamily="18" charset="0"/>
                <a:cs typeface="Calibri" pitchFamily="34" charset="-120"/>
              </a:rPr>
              <a:t>GPT-4o, Claude 3.5 Sonnet. Voice + vision + text in one seamless model.</a:t>
            </a:r>
            <a:endParaRPr lang="en-US" sz="1100" dirty="0">
              <a:latin typeface="Cambria" panose="02040503050406030204" pitchFamily="18" charset="0"/>
              <a:ea typeface="Cambria" panose="02040503050406030204" pitchFamily="18" charset="0"/>
            </a:endParaRPr>
          </a:p>
        </p:txBody>
      </p:sp>
      <p:sp>
        <p:nvSpPr>
          <p:cNvPr id="27" name="Shape 24">
            <a:extLst>
              <a:ext uri="{FF2B5EF4-FFF2-40B4-BE49-F238E27FC236}">
                <a16:creationId xmlns:a16="http://schemas.microsoft.com/office/drawing/2014/main" id="{9D36CCDF-40B1-2404-BC39-966F3C5998A5}"/>
              </a:ext>
            </a:extLst>
          </p:cNvPr>
          <p:cNvSpPr/>
          <p:nvPr/>
        </p:nvSpPr>
        <p:spPr>
          <a:xfrm>
            <a:off x="960120" y="3794760"/>
            <a:ext cx="274320" cy="274320"/>
          </a:xfrm>
          <a:prstGeom prst="ellipse">
            <a:avLst/>
          </a:prstGeom>
          <a:solidFill>
            <a:srgbClr val="EF4444"/>
          </a:solidFill>
          <a:ln/>
        </p:spPr>
        <p:txBody>
          <a:bodyPr/>
          <a:lstStyle/>
          <a:p>
            <a:endParaRPr lang="en-001">
              <a:latin typeface="Cambria" panose="02040503050406030204" pitchFamily="18" charset="0"/>
              <a:ea typeface="Cambria" panose="02040503050406030204" pitchFamily="18" charset="0"/>
            </a:endParaRPr>
          </a:p>
        </p:txBody>
      </p:sp>
      <p:sp>
        <p:nvSpPr>
          <p:cNvPr id="28" name="Shape 25">
            <a:extLst>
              <a:ext uri="{FF2B5EF4-FFF2-40B4-BE49-F238E27FC236}">
                <a16:creationId xmlns:a16="http://schemas.microsoft.com/office/drawing/2014/main" id="{C157A752-AACF-F46B-50F7-26C5E7F439DE}"/>
              </a:ext>
            </a:extLst>
          </p:cNvPr>
          <p:cNvSpPr/>
          <p:nvPr/>
        </p:nvSpPr>
        <p:spPr>
          <a:xfrm>
            <a:off x="457200" y="3767328"/>
            <a:ext cx="457200" cy="292608"/>
          </a:xfrm>
          <a:prstGeom prst="rect">
            <a:avLst/>
          </a:prstGeom>
          <a:solidFill>
            <a:srgbClr val="EF4444">
              <a:alpha val="15000"/>
            </a:srgbClr>
          </a:solidFill>
          <a:ln/>
        </p:spPr>
        <p:txBody>
          <a:bodyPr/>
          <a:lstStyle/>
          <a:p>
            <a:endParaRPr lang="en-001">
              <a:latin typeface="Cambria" panose="02040503050406030204" pitchFamily="18" charset="0"/>
              <a:ea typeface="Cambria" panose="02040503050406030204" pitchFamily="18" charset="0"/>
            </a:endParaRPr>
          </a:p>
        </p:txBody>
      </p:sp>
      <p:sp>
        <p:nvSpPr>
          <p:cNvPr id="29" name="Text 26">
            <a:extLst>
              <a:ext uri="{FF2B5EF4-FFF2-40B4-BE49-F238E27FC236}">
                <a16:creationId xmlns:a16="http://schemas.microsoft.com/office/drawing/2014/main" id="{CAD9EB5D-11EC-EBCD-1DEB-26FC8C16C029}"/>
              </a:ext>
            </a:extLst>
          </p:cNvPr>
          <p:cNvSpPr/>
          <p:nvPr/>
        </p:nvSpPr>
        <p:spPr>
          <a:xfrm>
            <a:off x="457200" y="3785616"/>
            <a:ext cx="457200" cy="256032"/>
          </a:xfrm>
          <a:prstGeom prst="rect">
            <a:avLst/>
          </a:prstGeom>
          <a:noFill/>
          <a:ln/>
        </p:spPr>
        <p:txBody>
          <a:bodyPr wrap="square" lIns="0" tIns="0" rIns="0" bIns="0" rtlCol="0" anchor="ctr"/>
          <a:lstStyle/>
          <a:p>
            <a:pPr marL="0" indent="0" algn="ctr">
              <a:buNone/>
            </a:pPr>
            <a:r>
              <a:rPr lang="en-US" sz="700" b="1" dirty="0">
                <a:solidFill>
                  <a:srgbClr val="EF4444"/>
                </a:solidFill>
                <a:latin typeface="Cambria" panose="02040503050406030204" pitchFamily="18" charset="0"/>
                <a:ea typeface="Cambria" panose="02040503050406030204" pitchFamily="18" charset="0"/>
                <a:cs typeface="Calibri" pitchFamily="34" charset="-120"/>
              </a:rPr>
              <a:t>Jan 2025</a:t>
            </a:r>
            <a:endParaRPr lang="en-US" sz="700" dirty="0">
              <a:latin typeface="Cambria" panose="02040503050406030204" pitchFamily="18" charset="0"/>
              <a:ea typeface="Cambria" panose="02040503050406030204" pitchFamily="18" charset="0"/>
            </a:endParaRPr>
          </a:p>
        </p:txBody>
      </p:sp>
      <p:sp>
        <p:nvSpPr>
          <p:cNvPr id="30" name="Text 27">
            <a:extLst>
              <a:ext uri="{FF2B5EF4-FFF2-40B4-BE49-F238E27FC236}">
                <a16:creationId xmlns:a16="http://schemas.microsoft.com/office/drawing/2014/main" id="{C5020C71-9B34-ED6B-D9A1-B12449CFD74B}"/>
              </a:ext>
            </a:extLst>
          </p:cNvPr>
          <p:cNvSpPr/>
          <p:nvPr/>
        </p:nvSpPr>
        <p:spPr>
          <a:xfrm>
            <a:off x="1417320" y="3749040"/>
            <a:ext cx="7406640" cy="475488"/>
          </a:xfrm>
          <a:prstGeom prst="rect">
            <a:avLst/>
          </a:prstGeom>
          <a:noFill/>
          <a:ln/>
        </p:spPr>
        <p:txBody>
          <a:bodyPr wrap="square" lIns="0" tIns="0" rIns="0" bIns="0" rtlCol="0" anchor="ctr"/>
          <a:lstStyle/>
          <a:p>
            <a:pPr marL="0" indent="0">
              <a:buNone/>
            </a:pPr>
            <a:r>
              <a:rPr lang="en-US" sz="1100" dirty="0">
                <a:solidFill>
                  <a:srgbClr val="1E293B"/>
                </a:solidFill>
                <a:latin typeface="Cambria" panose="02040503050406030204" pitchFamily="18" charset="0"/>
                <a:ea typeface="Cambria" panose="02040503050406030204" pitchFamily="18" charset="0"/>
                <a:cs typeface="Calibri" pitchFamily="34" charset="-120"/>
              </a:rPr>
              <a:t>Agentic AI year: Devin, Claude Computer Use, OpenAI Operator: agents run workflows.</a:t>
            </a:r>
            <a:endParaRPr lang="en-US" sz="1100" dirty="0">
              <a:latin typeface="Cambria" panose="02040503050406030204" pitchFamily="18" charset="0"/>
              <a:ea typeface="Cambria" panose="02040503050406030204" pitchFamily="18" charset="0"/>
            </a:endParaRPr>
          </a:p>
        </p:txBody>
      </p:sp>
      <p:sp>
        <p:nvSpPr>
          <p:cNvPr id="31" name="Shape 28">
            <a:extLst>
              <a:ext uri="{FF2B5EF4-FFF2-40B4-BE49-F238E27FC236}">
                <a16:creationId xmlns:a16="http://schemas.microsoft.com/office/drawing/2014/main" id="{8E862659-E3E1-A7EF-71B7-1DE49A0B1EB8}"/>
              </a:ext>
            </a:extLst>
          </p:cNvPr>
          <p:cNvSpPr/>
          <p:nvPr/>
        </p:nvSpPr>
        <p:spPr>
          <a:xfrm>
            <a:off x="960120" y="4325112"/>
            <a:ext cx="274320" cy="274320"/>
          </a:xfrm>
          <a:prstGeom prst="ellipse">
            <a:avLst/>
          </a:prstGeom>
          <a:solidFill>
            <a:srgbClr val="0F1F3D"/>
          </a:solidFill>
          <a:ln/>
        </p:spPr>
        <p:txBody>
          <a:bodyPr/>
          <a:lstStyle/>
          <a:p>
            <a:endParaRPr lang="en-001">
              <a:latin typeface="Cambria" panose="02040503050406030204" pitchFamily="18" charset="0"/>
              <a:ea typeface="Cambria" panose="02040503050406030204" pitchFamily="18" charset="0"/>
            </a:endParaRPr>
          </a:p>
        </p:txBody>
      </p:sp>
      <p:sp>
        <p:nvSpPr>
          <p:cNvPr id="32" name="Shape 29">
            <a:extLst>
              <a:ext uri="{FF2B5EF4-FFF2-40B4-BE49-F238E27FC236}">
                <a16:creationId xmlns:a16="http://schemas.microsoft.com/office/drawing/2014/main" id="{76230B72-1F38-92AC-9E80-938EE6C72360}"/>
              </a:ext>
            </a:extLst>
          </p:cNvPr>
          <p:cNvSpPr/>
          <p:nvPr/>
        </p:nvSpPr>
        <p:spPr>
          <a:xfrm>
            <a:off x="457200" y="4297680"/>
            <a:ext cx="457200" cy="292608"/>
          </a:xfrm>
          <a:prstGeom prst="rect">
            <a:avLst/>
          </a:prstGeom>
          <a:solidFill>
            <a:srgbClr val="0F1F3D">
              <a:alpha val="15000"/>
            </a:srgbClr>
          </a:solidFill>
          <a:ln/>
        </p:spPr>
        <p:txBody>
          <a:bodyPr/>
          <a:lstStyle/>
          <a:p>
            <a:endParaRPr lang="en-001">
              <a:latin typeface="Cambria" panose="02040503050406030204" pitchFamily="18" charset="0"/>
              <a:ea typeface="Cambria" panose="02040503050406030204" pitchFamily="18" charset="0"/>
            </a:endParaRPr>
          </a:p>
        </p:txBody>
      </p:sp>
      <p:sp>
        <p:nvSpPr>
          <p:cNvPr id="33" name="Text 30">
            <a:extLst>
              <a:ext uri="{FF2B5EF4-FFF2-40B4-BE49-F238E27FC236}">
                <a16:creationId xmlns:a16="http://schemas.microsoft.com/office/drawing/2014/main" id="{EC680ED4-BA74-B946-68C4-E470AF505BC5}"/>
              </a:ext>
            </a:extLst>
          </p:cNvPr>
          <p:cNvSpPr/>
          <p:nvPr/>
        </p:nvSpPr>
        <p:spPr>
          <a:xfrm>
            <a:off x="457200" y="4315968"/>
            <a:ext cx="457200" cy="256032"/>
          </a:xfrm>
          <a:prstGeom prst="rect">
            <a:avLst/>
          </a:prstGeom>
          <a:noFill/>
          <a:ln/>
        </p:spPr>
        <p:txBody>
          <a:bodyPr wrap="square" lIns="0" tIns="0" rIns="0" bIns="0" rtlCol="0" anchor="ctr"/>
          <a:lstStyle/>
          <a:p>
            <a:pPr marL="0" indent="0" algn="ctr">
              <a:buNone/>
            </a:pPr>
            <a:r>
              <a:rPr lang="en-US" sz="700" b="1" dirty="0">
                <a:solidFill>
                  <a:srgbClr val="0F1F3D"/>
                </a:solidFill>
                <a:latin typeface="Cambria" panose="02040503050406030204" pitchFamily="18" charset="0"/>
                <a:ea typeface="Cambria" panose="02040503050406030204" pitchFamily="18" charset="0"/>
                <a:cs typeface="Calibri" pitchFamily="34" charset="-120"/>
              </a:rPr>
              <a:t>2025–26</a:t>
            </a:r>
            <a:endParaRPr lang="en-US" sz="700" dirty="0">
              <a:latin typeface="Cambria" panose="02040503050406030204" pitchFamily="18" charset="0"/>
              <a:ea typeface="Cambria" panose="02040503050406030204" pitchFamily="18" charset="0"/>
            </a:endParaRPr>
          </a:p>
        </p:txBody>
      </p:sp>
      <p:sp>
        <p:nvSpPr>
          <p:cNvPr id="34" name="Text 31">
            <a:extLst>
              <a:ext uri="{FF2B5EF4-FFF2-40B4-BE49-F238E27FC236}">
                <a16:creationId xmlns:a16="http://schemas.microsoft.com/office/drawing/2014/main" id="{7905968F-E0E1-6E3B-8D67-F43F90C529A0}"/>
              </a:ext>
            </a:extLst>
          </p:cNvPr>
          <p:cNvSpPr/>
          <p:nvPr/>
        </p:nvSpPr>
        <p:spPr>
          <a:xfrm>
            <a:off x="1417320" y="4279392"/>
            <a:ext cx="5681979" cy="475488"/>
          </a:xfrm>
          <a:prstGeom prst="rect">
            <a:avLst/>
          </a:prstGeom>
          <a:noFill/>
          <a:ln/>
        </p:spPr>
        <p:txBody>
          <a:bodyPr wrap="square" lIns="0" tIns="0" rIns="0" bIns="0" rtlCol="0" anchor="ctr"/>
          <a:lstStyle/>
          <a:p>
            <a:pPr marL="0" indent="0">
              <a:buNone/>
            </a:pPr>
            <a:r>
              <a:rPr lang="en-US" sz="1100" dirty="0">
                <a:solidFill>
                  <a:srgbClr val="1E293B"/>
                </a:solidFill>
                <a:latin typeface="Cambria" panose="02040503050406030204" pitchFamily="18" charset="0"/>
                <a:ea typeface="Cambria" panose="02040503050406030204" pitchFamily="18" charset="0"/>
                <a:cs typeface="Calibri" pitchFamily="34" charset="-120"/>
              </a:rPr>
              <a:t>AI in science: AlphaFold3 for drug design, AI co-authors papers, FrontierMath benchmarks beaten, World Model.</a:t>
            </a:r>
            <a:endParaRPr lang="en-US" sz="11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77868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77825" y="736997"/>
            <a:ext cx="6800850" cy="528955"/>
          </a:xfrm>
          <a:prstGeom prst="rect">
            <a:avLst/>
          </a:prstGeom>
          <a:noFill/>
          <a:ln/>
        </p:spPr>
        <p:txBody>
          <a:bodyPr wrap="square" lIns="0" tIns="0" rIns="0" bIns="0" rtlCol="0" anchor="ctr"/>
          <a:lstStyle/>
          <a:p>
            <a:r>
              <a:rPr lang="en-US" sz="2149" b="1" dirty="0">
                <a:solidFill>
                  <a:srgbClr val="FF0000"/>
                </a:solidFill>
                <a:latin typeface="Cambria" panose="02040503050406030204" pitchFamily="18" charset="0"/>
                <a:ea typeface="Cambria" panose="02040503050406030204" pitchFamily="18" charset="0"/>
                <a:cs typeface="Calibri" pitchFamily="34" charset="-120"/>
              </a:rPr>
              <a:t>Agentic AI: The Big Shift</a:t>
            </a:r>
            <a:endParaRPr lang="en-US" sz="2149" dirty="0">
              <a:solidFill>
                <a:srgbClr val="FF0000"/>
              </a:solidFill>
              <a:latin typeface="Cambria" panose="02040503050406030204" pitchFamily="18" charset="0"/>
              <a:ea typeface="Cambria" panose="02040503050406030204" pitchFamily="18" charset="0"/>
            </a:endParaRPr>
          </a:p>
        </p:txBody>
      </p:sp>
      <p:sp>
        <p:nvSpPr>
          <p:cNvPr id="3" name="Text 1"/>
          <p:cNvSpPr/>
          <p:nvPr/>
        </p:nvSpPr>
        <p:spPr>
          <a:xfrm>
            <a:off x="377825" y="1213056"/>
            <a:ext cx="6800850" cy="264478"/>
          </a:xfrm>
          <a:prstGeom prst="rect">
            <a:avLst/>
          </a:prstGeom>
          <a:noFill/>
          <a:ln/>
        </p:spPr>
        <p:txBody>
          <a:bodyPr wrap="square" lIns="0" tIns="0" rIns="0" bIns="0" rtlCol="0" anchor="ctr"/>
          <a:lstStyle/>
          <a:p>
            <a:r>
              <a:rPr lang="en-US" sz="1074" dirty="0">
                <a:solidFill>
                  <a:srgbClr val="475569"/>
                </a:solidFill>
                <a:latin typeface="Cambria" panose="02040503050406030204" pitchFamily="18" charset="0"/>
                <a:ea typeface="Cambria" panose="02040503050406030204" pitchFamily="18" charset="0"/>
                <a:cs typeface="Calibri" pitchFamily="34" charset="-120"/>
              </a:rPr>
              <a:t>From 'answer a question' to 'complete a project'</a:t>
            </a:r>
            <a:endParaRPr lang="en-US" sz="1074" dirty="0">
              <a:latin typeface="Cambria" panose="02040503050406030204" pitchFamily="18" charset="0"/>
              <a:ea typeface="Cambria" panose="02040503050406030204" pitchFamily="18" charset="0"/>
            </a:endParaRPr>
          </a:p>
        </p:txBody>
      </p:sp>
      <p:sp>
        <p:nvSpPr>
          <p:cNvPr id="5" name="Shape 3"/>
          <p:cNvSpPr/>
          <p:nvPr/>
        </p:nvSpPr>
        <p:spPr>
          <a:xfrm>
            <a:off x="377825" y="1417082"/>
            <a:ext cx="4162425" cy="755650"/>
          </a:xfrm>
          <a:prstGeom prst="rect">
            <a:avLst/>
          </a:prstGeom>
          <a:solidFill>
            <a:srgbClr val="0F1F3D"/>
          </a:solidFill>
          <a:ln/>
        </p:spPr>
        <p:txBody>
          <a:bodyPr/>
          <a:lstStyle/>
          <a:p>
            <a:endParaRPr lang="en-001">
              <a:latin typeface="Cambria" panose="02040503050406030204" pitchFamily="18" charset="0"/>
              <a:ea typeface="Cambria" panose="02040503050406030204" pitchFamily="18" charset="0"/>
            </a:endParaRPr>
          </a:p>
        </p:txBody>
      </p:sp>
      <p:sp>
        <p:nvSpPr>
          <p:cNvPr id="6" name="Text 4"/>
          <p:cNvSpPr/>
          <p:nvPr/>
        </p:nvSpPr>
        <p:spPr>
          <a:xfrm>
            <a:off x="491173" y="1469977"/>
            <a:ext cx="6574155" cy="302260"/>
          </a:xfrm>
          <a:prstGeom prst="rect">
            <a:avLst/>
          </a:prstGeom>
          <a:noFill/>
          <a:ln/>
        </p:spPr>
        <p:txBody>
          <a:bodyPr wrap="square" lIns="0" tIns="0" rIns="0" bIns="0" rtlCol="0" anchor="ctr"/>
          <a:lstStyle/>
          <a:p>
            <a:r>
              <a:rPr lang="en-US" sz="1074" dirty="0">
                <a:solidFill>
                  <a:srgbClr val="94A3B8"/>
                </a:solidFill>
                <a:latin typeface="Cambria" panose="02040503050406030204" pitchFamily="18" charset="0"/>
                <a:ea typeface="Cambria" panose="02040503050406030204" pitchFamily="18" charset="0"/>
                <a:cs typeface="Calibri" pitchFamily="34" charset="-120"/>
              </a:rPr>
              <a:t>Traditional AI: Input → Model → Output  (one shot, stateless)</a:t>
            </a:r>
            <a:endParaRPr lang="en-US" sz="1074" dirty="0">
              <a:latin typeface="Cambria" panose="02040503050406030204" pitchFamily="18" charset="0"/>
              <a:ea typeface="Cambria" panose="02040503050406030204" pitchFamily="18" charset="0"/>
            </a:endParaRPr>
          </a:p>
        </p:txBody>
      </p:sp>
      <p:sp>
        <p:nvSpPr>
          <p:cNvPr id="7" name="Text 5"/>
          <p:cNvSpPr/>
          <p:nvPr/>
        </p:nvSpPr>
        <p:spPr>
          <a:xfrm>
            <a:off x="491173" y="1772237"/>
            <a:ext cx="6574155" cy="302260"/>
          </a:xfrm>
          <a:prstGeom prst="rect">
            <a:avLst/>
          </a:prstGeom>
          <a:noFill/>
          <a:ln/>
        </p:spPr>
        <p:txBody>
          <a:bodyPr wrap="square" lIns="0" tIns="0" rIns="0" bIns="0" rtlCol="0" anchor="ctr"/>
          <a:lstStyle/>
          <a:p>
            <a:r>
              <a:rPr lang="en-US" sz="1074" b="1" dirty="0">
                <a:solidFill>
                  <a:srgbClr val="14B8A6"/>
                </a:solidFill>
                <a:latin typeface="Cambria" panose="02040503050406030204" pitchFamily="18" charset="0"/>
                <a:ea typeface="Cambria" panose="02040503050406030204" pitchFamily="18" charset="0"/>
                <a:cs typeface="Calibri" pitchFamily="34" charset="-120"/>
              </a:rPr>
              <a:t>Agentic AI: Goal → Plan → Act → Observe → Replan → … → Done</a:t>
            </a:r>
            <a:endParaRPr lang="en-US" sz="1074" dirty="0">
              <a:latin typeface="Cambria" panose="02040503050406030204" pitchFamily="18" charset="0"/>
              <a:ea typeface="Cambria" panose="02040503050406030204" pitchFamily="18" charset="0"/>
            </a:endParaRPr>
          </a:p>
        </p:txBody>
      </p:sp>
      <p:sp>
        <p:nvSpPr>
          <p:cNvPr id="8" name="Shape 6"/>
          <p:cNvSpPr/>
          <p:nvPr/>
        </p:nvSpPr>
        <p:spPr>
          <a:xfrm>
            <a:off x="340043" y="2399427"/>
            <a:ext cx="1057910" cy="755650"/>
          </a:xfrm>
          <a:prstGeom prst="rect">
            <a:avLst/>
          </a:prstGeom>
          <a:solidFill>
            <a:srgbClr val="0EA5E9"/>
          </a:solidFill>
          <a:ln/>
        </p:spPr>
        <p:txBody>
          <a:bodyPr/>
          <a:lstStyle/>
          <a:p>
            <a:endParaRPr lang="en-001">
              <a:latin typeface="Cambria" panose="02040503050406030204" pitchFamily="18" charset="0"/>
              <a:ea typeface="Cambria" panose="02040503050406030204" pitchFamily="18" charset="0"/>
            </a:endParaRPr>
          </a:p>
        </p:txBody>
      </p:sp>
      <p:sp>
        <p:nvSpPr>
          <p:cNvPr id="9" name="Text 7"/>
          <p:cNvSpPr/>
          <p:nvPr/>
        </p:nvSpPr>
        <p:spPr>
          <a:xfrm>
            <a:off x="377825" y="2490105"/>
            <a:ext cx="982345" cy="302260"/>
          </a:xfrm>
          <a:prstGeom prst="rect">
            <a:avLst/>
          </a:prstGeom>
          <a:noFill/>
          <a:ln/>
        </p:spPr>
        <p:txBody>
          <a:bodyPr wrap="square" lIns="0" tIns="0" rIns="0" bIns="0" rtlCol="0" anchor="ctr"/>
          <a:lstStyle/>
          <a:p>
            <a:pPr algn="ctr"/>
            <a:r>
              <a:rPr lang="en-US" sz="1074" b="1" dirty="0">
                <a:solidFill>
                  <a:srgbClr val="FFFFFF"/>
                </a:solidFill>
                <a:latin typeface="Cambria" panose="02040503050406030204" pitchFamily="18" charset="0"/>
                <a:ea typeface="Cambria" panose="02040503050406030204" pitchFamily="18" charset="0"/>
                <a:cs typeface="Calibri" pitchFamily="34" charset="-120"/>
              </a:rPr>
              <a:t>Goal</a:t>
            </a:r>
            <a:endParaRPr lang="en-US" sz="1074" dirty="0">
              <a:latin typeface="Cambria" panose="02040503050406030204" pitchFamily="18" charset="0"/>
              <a:ea typeface="Cambria" panose="02040503050406030204" pitchFamily="18" charset="0"/>
            </a:endParaRPr>
          </a:p>
        </p:txBody>
      </p:sp>
      <p:sp>
        <p:nvSpPr>
          <p:cNvPr id="10" name="Text 8"/>
          <p:cNvSpPr/>
          <p:nvPr/>
        </p:nvSpPr>
        <p:spPr>
          <a:xfrm>
            <a:off x="377825" y="2777252"/>
            <a:ext cx="982345" cy="340043"/>
          </a:xfrm>
          <a:prstGeom prst="rect">
            <a:avLst/>
          </a:prstGeom>
          <a:noFill/>
          <a:ln/>
        </p:spPr>
        <p:txBody>
          <a:bodyPr wrap="square" lIns="0" tIns="0" rIns="0" bIns="0" rtlCol="0" anchor="ctr"/>
          <a:lstStyle/>
          <a:p>
            <a:pPr algn="ctr"/>
            <a:r>
              <a:rPr lang="en-US" sz="702" dirty="0">
                <a:solidFill>
                  <a:srgbClr val="FFFFFF"/>
                </a:solidFill>
                <a:latin typeface="Cambria" panose="02040503050406030204" pitchFamily="18" charset="0"/>
                <a:ea typeface="Cambria" panose="02040503050406030204" pitchFamily="18" charset="0"/>
                <a:cs typeface="Calibri" pitchFamily="34" charset="-120"/>
              </a:rPr>
              <a:t>User or system sets objective</a:t>
            </a:r>
            <a:endParaRPr lang="en-US" sz="702" dirty="0">
              <a:latin typeface="Cambria" panose="02040503050406030204" pitchFamily="18" charset="0"/>
              <a:ea typeface="Cambria" panose="02040503050406030204" pitchFamily="18" charset="0"/>
            </a:endParaRPr>
          </a:p>
        </p:txBody>
      </p:sp>
      <p:sp>
        <p:nvSpPr>
          <p:cNvPr id="11" name="Shape 9"/>
          <p:cNvSpPr/>
          <p:nvPr/>
        </p:nvSpPr>
        <p:spPr>
          <a:xfrm>
            <a:off x="1397952" y="2777252"/>
            <a:ext cx="113348" cy="0"/>
          </a:xfrm>
          <a:prstGeom prst="line">
            <a:avLst/>
          </a:prstGeom>
          <a:noFill/>
          <a:ln w="25400">
            <a:solidFill>
              <a:srgbClr val="94A3B8"/>
            </a:solidFill>
            <a:prstDash val="solid"/>
          </a:ln>
        </p:spPr>
        <p:txBody>
          <a:bodyPr/>
          <a:lstStyle/>
          <a:p>
            <a:endParaRPr lang="en-001">
              <a:latin typeface="Cambria" panose="02040503050406030204" pitchFamily="18" charset="0"/>
              <a:ea typeface="Cambria" panose="02040503050406030204" pitchFamily="18" charset="0"/>
            </a:endParaRPr>
          </a:p>
        </p:txBody>
      </p:sp>
      <p:sp>
        <p:nvSpPr>
          <p:cNvPr id="12" name="Shape 10"/>
          <p:cNvSpPr/>
          <p:nvPr/>
        </p:nvSpPr>
        <p:spPr>
          <a:xfrm>
            <a:off x="1511300" y="2399427"/>
            <a:ext cx="1057910" cy="755650"/>
          </a:xfrm>
          <a:prstGeom prst="rect">
            <a:avLst/>
          </a:prstGeom>
          <a:solidFill>
            <a:srgbClr val="8B5CF6"/>
          </a:solidFill>
          <a:ln/>
        </p:spPr>
        <p:txBody>
          <a:bodyPr/>
          <a:lstStyle/>
          <a:p>
            <a:endParaRPr lang="en-001">
              <a:latin typeface="Cambria" panose="02040503050406030204" pitchFamily="18" charset="0"/>
              <a:ea typeface="Cambria" panose="02040503050406030204" pitchFamily="18" charset="0"/>
            </a:endParaRPr>
          </a:p>
        </p:txBody>
      </p:sp>
      <p:sp>
        <p:nvSpPr>
          <p:cNvPr id="13" name="Text 11"/>
          <p:cNvSpPr/>
          <p:nvPr/>
        </p:nvSpPr>
        <p:spPr>
          <a:xfrm>
            <a:off x="1549083" y="2490105"/>
            <a:ext cx="982345" cy="302260"/>
          </a:xfrm>
          <a:prstGeom prst="rect">
            <a:avLst/>
          </a:prstGeom>
          <a:noFill/>
          <a:ln/>
        </p:spPr>
        <p:txBody>
          <a:bodyPr wrap="square" lIns="0" tIns="0" rIns="0" bIns="0" rtlCol="0" anchor="ctr"/>
          <a:lstStyle/>
          <a:p>
            <a:pPr algn="ctr"/>
            <a:r>
              <a:rPr lang="en-US" sz="1074" b="1" dirty="0">
                <a:solidFill>
                  <a:srgbClr val="FFFFFF"/>
                </a:solidFill>
                <a:latin typeface="Cambria" panose="02040503050406030204" pitchFamily="18" charset="0"/>
                <a:ea typeface="Cambria" panose="02040503050406030204" pitchFamily="18" charset="0"/>
                <a:cs typeface="Calibri" pitchFamily="34" charset="-120"/>
              </a:rPr>
              <a:t>Plan</a:t>
            </a:r>
            <a:endParaRPr lang="en-US" sz="1074" dirty="0">
              <a:latin typeface="Cambria" panose="02040503050406030204" pitchFamily="18" charset="0"/>
              <a:ea typeface="Cambria" panose="02040503050406030204" pitchFamily="18" charset="0"/>
            </a:endParaRPr>
          </a:p>
        </p:txBody>
      </p:sp>
      <p:sp>
        <p:nvSpPr>
          <p:cNvPr id="14" name="Text 12"/>
          <p:cNvSpPr/>
          <p:nvPr/>
        </p:nvSpPr>
        <p:spPr>
          <a:xfrm>
            <a:off x="1549083" y="2777252"/>
            <a:ext cx="982345" cy="340043"/>
          </a:xfrm>
          <a:prstGeom prst="rect">
            <a:avLst/>
          </a:prstGeom>
          <a:noFill/>
          <a:ln/>
        </p:spPr>
        <p:txBody>
          <a:bodyPr wrap="square" lIns="0" tIns="0" rIns="0" bIns="0" rtlCol="0" anchor="ctr"/>
          <a:lstStyle/>
          <a:p>
            <a:pPr algn="ctr"/>
            <a:r>
              <a:rPr lang="en-US" sz="702" dirty="0">
                <a:solidFill>
                  <a:srgbClr val="FFFFFF"/>
                </a:solidFill>
                <a:latin typeface="Cambria" panose="02040503050406030204" pitchFamily="18" charset="0"/>
                <a:ea typeface="Cambria" panose="02040503050406030204" pitchFamily="18" charset="0"/>
                <a:cs typeface="Calibri" pitchFamily="34" charset="-120"/>
              </a:rPr>
              <a:t>LLM decomposes into sub-tasks</a:t>
            </a:r>
            <a:endParaRPr lang="en-US" sz="702" dirty="0">
              <a:latin typeface="Cambria" panose="02040503050406030204" pitchFamily="18" charset="0"/>
              <a:ea typeface="Cambria" panose="02040503050406030204" pitchFamily="18" charset="0"/>
            </a:endParaRPr>
          </a:p>
        </p:txBody>
      </p:sp>
      <p:sp>
        <p:nvSpPr>
          <p:cNvPr id="15" name="Shape 13"/>
          <p:cNvSpPr/>
          <p:nvPr/>
        </p:nvSpPr>
        <p:spPr>
          <a:xfrm>
            <a:off x="2569210" y="2777252"/>
            <a:ext cx="113348" cy="0"/>
          </a:xfrm>
          <a:prstGeom prst="line">
            <a:avLst/>
          </a:prstGeom>
          <a:noFill/>
          <a:ln w="25400">
            <a:solidFill>
              <a:srgbClr val="94A3B8"/>
            </a:solidFill>
            <a:prstDash val="solid"/>
          </a:ln>
        </p:spPr>
        <p:txBody>
          <a:bodyPr/>
          <a:lstStyle/>
          <a:p>
            <a:endParaRPr lang="en-001">
              <a:latin typeface="Cambria" panose="02040503050406030204" pitchFamily="18" charset="0"/>
              <a:ea typeface="Cambria" panose="02040503050406030204" pitchFamily="18" charset="0"/>
            </a:endParaRPr>
          </a:p>
        </p:txBody>
      </p:sp>
      <p:sp>
        <p:nvSpPr>
          <p:cNvPr id="16" name="Shape 14"/>
          <p:cNvSpPr/>
          <p:nvPr/>
        </p:nvSpPr>
        <p:spPr>
          <a:xfrm>
            <a:off x="2682558" y="2399427"/>
            <a:ext cx="1057910" cy="755650"/>
          </a:xfrm>
          <a:prstGeom prst="rect">
            <a:avLst/>
          </a:prstGeom>
          <a:solidFill>
            <a:srgbClr val="F59E0B"/>
          </a:solidFill>
          <a:ln/>
        </p:spPr>
        <p:txBody>
          <a:bodyPr/>
          <a:lstStyle/>
          <a:p>
            <a:endParaRPr lang="en-001">
              <a:latin typeface="Cambria" panose="02040503050406030204" pitchFamily="18" charset="0"/>
              <a:ea typeface="Cambria" panose="02040503050406030204" pitchFamily="18" charset="0"/>
            </a:endParaRPr>
          </a:p>
        </p:txBody>
      </p:sp>
      <p:sp>
        <p:nvSpPr>
          <p:cNvPr id="17" name="Text 15"/>
          <p:cNvSpPr/>
          <p:nvPr/>
        </p:nvSpPr>
        <p:spPr>
          <a:xfrm>
            <a:off x="2720340" y="2490105"/>
            <a:ext cx="982345" cy="302260"/>
          </a:xfrm>
          <a:prstGeom prst="rect">
            <a:avLst/>
          </a:prstGeom>
          <a:noFill/>
          <a:ln/>
        </p:spPr>
        <p:txBody>
          <a:bodyPr wrap="square" lIns="0" tIns="0" rIns="0" bIns="0" rtlCol="0" anchor="ctr"/>
          <a:lstStyle/>
          <a:p>
            <a:pPr algn="ctr"/>
            <a:r>
              <a:rPr lang="en-US" sz="1074" b="1" dirty="0">
                <a:solidFill>
                  <a:srgbClr val="FFFFFF"/>
                </a:solidFill>
                <a:latin typeface="Cambria" panose="02040503050406030204" pitchFamily="18" charset="0"/>
                <a:ea typeface="Cambria" panose="02040503050406030204" pitchFamily="18" charset="0"/>
                <a:cs typeface="Calibri" pitchFamily="34" charset="-120"/>
              </a:rPr>
              <a:t>Act</a:t>
            </a:r>
            <a:endParaRPr lang="en-US" sz="1074" dirty="0">
              <a:latin typeface="Cambria" panose="02040503050406030204" pitchFamily="18" charset="0"/>
              <a:ea typeface="Cambria" panose="02040503050406030204" pitchFamily="18" charset="0"/>
            </a:endParaRPr>
          </a:p>
        </p:txBody>
      </p:sp>
      <p:sp>
        <p:nvSpPr>
          <p:cNvPr id="18" name="Text 16"/>
          <p:cNvSpPr/>
          <p:nvPr/>
        </p:nvSpPr>
        <p:spPr>
          <a:xfrm>
            <a:off x="2720340" y="2777252"/>
            <a:ext cx="982345" cy="340043"/>
          </a:xfrm>
          <a:prstGeom prst="rect">
            <a:avLst/>
          </a:prstGeom>
          <a:noFill/>
          <a:ln/>
        </p:spPr>
        <p:txBody>
          <a:bodyPr wrap="square" lIns="0" tIns="0" rIns="0" bIns="0" rtlCol="0" anchor="ctr"/>
          <a:lstStyle/>
          <a:p>
            <a:pPr algn="ctr"/>
            <a:r>
              <a:rPr lang="en-US" sz="702" dirty="0">
                <a:solidFill>
                  <a:srgbClr val="FFFFFF"/>
                </a:solidFill>
                <a:latin typeface="Cambria" panose="02040503050406030204" pitchFamily="18" charset="0"/>
                <a:ea typeface="Cambria" panose="02040503050406030204" pitchFamily="18" charset="0"/>
                <a:cs typeface="Calibri" pitchFamily="34" charset="-120"/>
              </a:rPr>
              <a:t>Calls tools: code, search, browser, API</a:t>
            </a:r>
            <a:endParaRPr lang="en-US" sz="702" dirty="0">
              <a:latin typeface="Cambria" panose="02040503050406030204" pitchFamily="18" charset="0"/>
              <a:ea typeface="Cambria" panose="02040503050406030204" pitchFamily="18" charset="0"/>
            </a:endParaRPr>
          </a:p>
        </p:txBody>
      </p:sp>
      <p:sp>
        <p:nvSpPr>
          <p:cNvPr id="19" name="Shape 17"/>
          <p:cNvSpPr/>
          <p:nvPr/>
        </p:nvSpPr>
        <p:spPr>
          <a:xfrm>
            <a:off x="3740467" y="2777252"/>
            <a:ext cx="113348" cy="0"/>
          </a:xfrm>
          <a:prstGeom prst="line">
            <a:avLst/>
          </a:prstGeom>
          <a:noFill/>
          <a:ln w="25400">
            <a:solidFill>
              <a:srgbClr val="94A3B8"/>
            </a:solidFill>
            <a:prstDash val="solid"/>
          </a:ln>
        </p:spPr>
        <p:txBody>
          <a:bodyPr/>
          <a:lstStyle/>
          <a:p>
            <a:endParaRPr lang="en-001">
              <a:latin typeface="Cambria" panose="02040503050406030204" pitchFamily="18" charset="0"/>
              <a:ea typeface="Cambria" panose="02040503050406030204" pitchFamily="18" charset="0"/>
            </a:endParaRPr>
          </a:p>
        </p:txBody>
      </p:sp>
      <p:sp>
        <p:nvSpPr>
          <p:cNvPr id="20" name="Shape 18"/>
          <p:cNvSpPr/>
          <p:nvPr/>
        </p:nvSpPr>
        <p:spPr>
          <a:xfrm>
            <a:off x="3853815" y="2399427"/>
            <a:ext cx="1057910" cy="755650"/>
          </a:xfrm>
          <a:prstGeom prst="rect">
            <a:avLst/>
          </a:prstGeom>
          <a:solidFill>
            <a:srgbClr val="0D9488"/>
          </a:solidFill>
          <a:ln/>
        </p:spPr>
        <p:txBody>
          <a:bodyPr/>
          <a:lstStyle/>
          <a:p>
            <a:endParaRPr lang="en-001">
              <a:latin typeface="Cambria" panose="02040503050406030204" pitchFamily="18" charset="0"/>
              <a:ea typeface="Cambria" panose="02040503050406030204" pitchFamily="18" charset="0"/>
            </a:endParaRPr>
          </a:p>
        </p:txBody>
      </p:sp>
      <p:sp>
        <p:nvSpPr>
          <p:cNvPr id="21" name="Text 19"/>
          <p:cNvSpPr/>
          <p:nvPr/>
        </p:nvSpPr>
        <p:spPr>
          <a:xfrm>
            <a:off x="3891598" y="2490105"/>
            <a:ext cx="982345" cy="302260"/>
          </a:xfrm>
          <a:prstGeom prst="rect">
            <a:avLst/>
          </a:prstGeom>
          <a:noFill/>
          <a:ln/>
        </p:spPr>
        <p:txBody>
          <a:bodyPr wrap="square" lIns="0" tIns="0" rIns="0" bIns="0" rtlCol="0" anchor="ctr"/>
          <a:lstStyle/>
          <a:p>
            <a:pPr algn="ctr"/>
            <a:r>
              <a:rPr lang="en-US" sz="1074" b="1" dirty="0">
                <a:solidFill>
                  <a:srgbClr val="FFFFFF"/>
                </a:solidFill>
                <a:latin typeface="Cambria" panose="02040503050406030204" pitchFamily="18" charset="0"/>
                <a:ea typeface="Cambria" panose="02040503050406030204" pitchFamily="18" charset="0"/>
                <a:cs typeface="Calibri" pitchFamily="34" charset="-120"/>
              </a:rPr>
              <a:t>Observe</a:t>
            </a:r>
            <a:endParaRPr lang="en-US" sz="1074" dirty="0">
              <a:latin typeface="Cambria" panose="02040503050406030204" pitchFamily="18" charset="0"/>
              <a:ea typeface="Cambria" panose="02040503050406030204" pitchFamily="18" charset="0"/>
            </a:endParaRPr>
          </a:p>
        </p:txBody>
      </p:sp>
      <p:sp>
        <p:nvSpPr>
          <p:cNvPr id="22" name="Text 20"/>
          <p:cNvSpPr/>
          <p:nvPr/>
        </p:nvSpPr>
        <p:spPr>
          <a:xfrm>
            <a:off x="3891598" y="2777252"/>
            <a:ext cx="982345" cy="340043"/>
          </a:xfrm>
          <a:prstGeom prst="rect">
            <a:avLst/>
          </a:prstGeom>
          <a:noFill/>
          <a:ln/>
        </p:spPr>
        <p:txBody>
          <a:bodyPr wrap="square" lIns="0" tIns="0" rIns="0" bIns="0" rtlCol="0" anchor="ctr"/>
          <a:lstStyle/>
          <a:p>
            <a:pPr algn="ctr"/>
            <a:r>
              <a:rPr lang="en-US" sz="702" dirty="0">
                <a:solidFill>
                  <a:srgbClr val="FFFFFF"/>
                </a:solidFill>
                <a:latin typeface="Cambria" panose="02040503050406030204" pitchFamily="18" charset="0"/>
                <a:ea typeface="Cambria" panose="02040503050406030204" pitchFamily="18" charset="0"/>
                <a:cs typeface="Calibri" pitchFamily="34" charset="-120"/>
              </a:rPr>
              <a:t>Reads output, checks for errors</a:t>
            </a:r>
            <a:endParaRPr lang="en-US" sz="702" dirty="0">
              <a:latin typeface="Cambria" panose="02040503050406030204" pitchFamily="18" charset="0"/>
              <a:ea typeface="Cambria" panose="02040503050406030204" pitchFamily="18" charset="0"/>
            </a:endParaRPr>
          </a:p>
        </p:txBody>
      </p:sp>
      <p:sp>
        <p:nvSpPr>
          <p:cNvPr id="23" name="Shape 21"/>
          <p:cNvSpPr/>
          <p:nvPr/>
        </p:nvSpPr>
        <p:spPr>
          <a:xfrm>
            <a:off x="4911725" y="2777252"/>
            <a:ext cx="113348" cy="0"/>
          </a:xfrm>
          <a:prstGeom prst="line">
            <a:avLst/>
          </a:prstGeom>
          <a:noFill/>
          <a:ln w="25400">
            <a:solidFill>
              <a:srgbClr val="94A3B8"/>
            </a:solidFill>
            <a:prstDash val="solid"/>
          </a:ln>
        </p:spPr>
        <p:txBody>
          <a:bodyPr/>
          <a:lstStyle/>
          <a:p>
            <a:endParaRPr lang="en-001">
              <a:latin typeface="Cambria" panose="02040503050406030204" pitchFamily="18" charset="0"/>
              <a:ea typeface="Cambria" panose="02040503050406030204" pitchFamily="18" charset="0"/>
            </a:endParaRPr>
          </a:p>
        </p:txBody>
      </p:sp>
      <p:sp>
        <p:nvSpPr>
          <p:cNvPr id="24" name="Shape 22"/>
          <p:cNvSpPr/>
          <p:nvPr/>
        </p:nvSpPr>
        <p:spPr>
          <a:xfrm>
            <a:off x="5025073" y="2399427"/>
            <a:ext cx="1057910" cy="755650"/>
          </a:xfrm>
          <a:prstGeom prst="rect">
            <a:avLst/>
          </a:prstGeom>
          <a:solidFill>
            <a:srgbClr val="EF4444"/>
          </a:solidFill>
          <a:ln/>
        </p:spPr>
        <p:txBody>
          <a:bodyPr/>
          <a:lstStyle/>
          <a:p>
            <a:endParaRPr lang="en-001">
              <a:latin typeface="Cambria" panose="02040503050406030204" pitchFamily="18" charset="0"/>
              <a:ea typeface="Cambria" panose="02040503050406030204" pitchFamily="18" charset="0"/>
            </a:endParaRPr>
          </a:p>
        </p:txBody>
      </p:sp>
      <p:sp>
        <p:nvSpPr>
          <p:cNvPr id="25" name="Text 23"/>
          <p:cNvSpPr/>
          <p:nvPr/>
        </p:nvSpPr>
        <p:spPr>
          <a:xfrm>
            <a:off x="5062855" y="2490105"/>
            <a:ext cx="982345" cy="302260"/>
          </a:xfrm>
          <a:prstGeom prst="rect">
            <a:avLst/>
          </a:prstGeom>
          <a:noFill/>
          <a:ln/>
        </p:spPr>
        <p:txBody>
          <a:bodyPr wrap="square" lIns="0" tIns="0" rIns="0" bIns="0" rtlCol="0" anchor="ctr"/>
          <a:lstStyle/>
          <a:p>
            <a:pPr algn="ctr"/>
            <a:r>
              <a:rPr lang="en-US" sz="1074" b="1" dirty="0">
                <a:solidFill>
                  <a:srgbClr val="FFFFFF"/>
                </a:solidFill>
                <a:latin typeface="Cambria" panose="02040503050406030204" pitchFamily="18" charset="0"/>
                <a:ea typeface="Cambria" panose="02040503050406030204" pitchFamily="18" charset="0"/>
                <a:cs typeface="Calibri" pitchFamily="34" charset="-120"/>
              </a:rPr>
              <a:t>Reflect</a:t>
            </a:r>
            <a:endParaRPr lang="en-US" sz="1074" dirty="0">
              <a:latin typeface="Cambria" panose="02040503050406030204" pitchFamily="18" charset="0"/>
              <a:ea typeface="Cambria" panose="02040503050406030204" pitchFamily="18" charset="0"/>
            </a:endParaRPr>
          </a:p>
        </p:txBody>
      </p:sp>
      <p:sp>
        <p:nvSpPr>
          <p:cNvPr id="26" name="Text 24"/>
          <p:cNvSpPr/>
          <p:nvPr/>
        </p:nvSpPr>
        <p:spPr>
          <a:xfrm>
            <a:off x="5062855" y="2777252"/>
            <a:ext cx="982345" cy="340043"/>
          </a:xfrm>
          <a:prstGeom prst="rect">
            <a:avLst/>
          </a:prstGeom>
          <a:noFill/>
          <a:ln/>
        </p:spPr>
        <p:txBody>
          <a:bodyPr wrap="square" lIns="0" tIns="0" rIns="0" bIns="0" rtlCol="0" anchor="ctr"/>
          <a:lstStyle/>
          <a:p>
            <a:pPr algn="ctr"/>
            <a:r>
              <a:rPr lang="en-US" sz="702" dirty="0">
                <a:solidFill>
                  <a:srgbClr val="FFFFFF"/>
                </a:solidFill>
                <a:latin typeface="Cambria" panose="02040503050406030204" pitchFamily="18" charset="0"/>
                <a:ea typeface="Cambria" panose="02040503050406030204" pitchFamily="18" charset="0"/>
                <a:cs typeface="Calibri" pitchFamily="34" charset="-120"/>
              </a:rPr>
              <a:t>Adjusts plan based on results</a:t>
            </a:r>
            <a:endParaRPr lang="en-US" sz="702" dirty="0">
              <a:latin typeface="Cambria" panose="02040503050406030204" pitchFamily="18" charset="0"/>
              <a:ea typeface="Cambria" panose="02040503050406030204" pitchFamily="18" charset="0"/>
            </a:endParaRPr>
          </a:p>
        </p:txBody>
      </p:sp>
      <p:sp>
        <p:nvSpPr>
          <p:cNvPr id="27" name="Shape 25"/>
          <p:cNvSpPr/>
          <p:nvPr/>
        </p:nvSpPr>
        <p:spPr>
          <a:xfrm>
            <a:off x="6082982" y="2777252"/>
            <a:ext cx="113348" cy="0"/>
          </a:xfrm>
          <a:prstGeom prst="line">
            <a:avLst/>
          </a:prstGeom>
          <a:noFill/>
          <a:ln w="25400">
            <a:solidFill>
              <a:srgbClr val="94A3B8"/>
            </a:solidFill>
            <a:prstDash val="solid"/>
          </a:ln>
        </p:spPr>
        <p:txBody>
          <a:bodyPr/>
          <a:lstStyle/>
          <a:p>
            <a:endParaRPr lang="en-001">
              <a:latin typeface="Cambria" panose="02040503050406030204" pitchFamily="18" charset="0"/>
              <a:ea typeface="Cambria" panose="02040503050406030204" pitchFamily="18" charset="0"/>
            </a:endParaRPr>
          </a:p>
        </p:txBody>
      </p:sp>
      <p:sp>
        <p:nvSpPr>
          <p:cNvPr id="28" name="Shape 26"/>
          <p:cNvSpPr/>
          <p:nvPr/>
        </p:nvSpPr>
        <p:spPr>
          <a:xfrm>
            <a:off x="6196330" y="2399427"/>
            <a:ext cx="1057910" cy="755650"/>
          </a:xfrm>
          <a:prstGeom prst="rect">
            <a:avLst/>
          </a:prstGeom>
          <a:solidFill>
            <a:srgbClr val="0F1F3D"/>
          </a:solidFill>
          <a:ln/>
        </p:spPr>
        <p:txBody>
          <a:bodyPr/>
          <a:lstStyle/>
          <a:p>
            <a:endParaRPr lang="en-001">
              <a:latin typeface="Cambria" panose="02040503050406030204" pitchFamily="18" charset="0"/>
              <a:ea typeface="Cambria" panose="02040503050406030204" pitchFamily="18" charset="0"/>
            </a:endParaRPr>
          </a:p>
        </p:txBody>
      </p:sp>
      <p:sp>
        <p:nvSpPr>
          <p:cNvPr id="29" name="Text 27"/>
          <p:cNvSpPr/>
          <p:nvPr/>
        </p:nvSpPr>
        <p:spPr>
          <a:xfrm>
            <a:off x="6234113" y="2490105"/>
            <a:ext cx="982345" cy="302260"/>
          </a:xfrm>
          <a:prstGeom prst="rect">
            <a:avLst/>
          </a:prstGeom>
          <a:noFill/>
          <a:ln/>
        </p:spPr>
        <p:txBody>
          <a:bodyPr wrap="square" lIns="0" tIns="0" rIns="0" bIns="0" rtlCol="0" anchor="ctr"/>
          <a:lstStyle/>
          <a:p>
            <a:pPr algn="ctr"/>
            <a:r>
              <a:rPr lang="en-US" sz="1074" b="1" dirty="0">
                <a:solidFill>
                  <a:srgbClr val="FFFFFF"/>
                </a:solidFill>
                <a:latin typeface="Cambria" panose="02040503050406030204" pitchFamily="18" charset="0"/>
                <a:ea typeface="Cambria" panose="02040503050406030204" pitchFamily="18" charset="0"/>
                <a:cs typeface="Calibri" pitchFamily="34" charset="-120"/>
              </a:rPr>
              <a:t>Done</a:t>
            </a:r>
            <a:endParaRPr lang="en-US" sz="1074" dirty="0">
              <a:latin typeface="Cambria" panose="02040503050406030204" pitchFamily="18" charset="0"/>
              <a:ea typeface="Cambria" panose="02040503050406030204" pitchFamily="18" charset="0"/>
            </a:endParaRPr>
          </a:p>
        </p:txBody>
      </p:sp>
      <p:sp>
        <p:nvSpPr>
          <p:cNvPr id="30" name="Text 28"/>
          <p:cNvSpPr/>
          <p:nvPr/>
        </p:nvSpPr>
        <p:spPr>
          <a:xfrm>
            <a:off x="6234113" y="2777252"/>
            <a:ext cx="982345" cy="340043"/>
          </a:xfrm>
          <a:prstGeom prst="rect">
            <a:avLst/>
          </a:prstGeom>
          <a:noFill/>
          <a:ln/>
        </p:spPr>
        <p:txBody>
          <a:bodyPr wrap="square" lIns="0" tIns="0" rIns="0" bIns="0" rtlCol="0" anchor="ctr"/>
          <a:lstStyle/>
          <a:p>
            <a:pPr algn="ctr"/>
            <a:r>
              <a:rPr lang="en-US" sz="702" dirty="0">
                <a:solidFill>
                  <a:srgbClr val="FFFFFF"/>
                </a:solidFill>
                <a:latin typeface="Cambria" panose="02040503050406030204" pitchFamily="18" charset="0"/>
                <a:ea typeface="Cambria" panose="02040503050406030204" pitchFamily="18" charset="0"/>
                <a:cs typeface="Calibri" pitchFamily="34" charset="-120"/>
              </a:rPr>
              <a:t>Delivers complete result or escalates</a:t>
            </a:r>
            <a:endParaRPr lang="en-US" sz="702" dirty="0">
              <a:latin typeface="Cambria" panose="02040503050406030204" pitchFamily="18" charset="0"/>
              <a:ea typeface="Cambria" panose="02040503050406030204" pitchFamily="18" charset="0"/>
            </a:endParaRPr>
          </a:p>
        </p:txBody>
      </p:sp>
      <p:sp>
        <p:nvSpPr>
          <p:cNvPr id="31" name="Shape 29"/>
          <p:cNvSpPr/>
          <p:nvPr/>
        </p:nvSpPr>
        <p:spPr>
          <a:xfrm>
            <a:off x="377825" y="3343989"/>
            <a:ext cx="6800850" cy="377825"/>
          </a:xfrm>
          <a:prstGeom prst="rect">
            <a:avLst/>
          </a:prstGeom>
          <a:solidFill>
            <a:srgbClr val="F8FAFC"/>
          </a:solidFill>
          <a:ln/>
        </p:spPr>
        <p:txBody>
          <a:bodyPr/>
          <a:lstStyle/>
          <a:p>
            <a:endParaRPr lang="en-001">
              <a:latin typeface="Cambria" panose="02040503050406030204" pitchFamily="18" charset="0"/>
              <a:ea typeface="Cambria" panose="02040503050406030204" pitchFamily="18" charset="0"/>
            </a:endParaRPr>
          </a:p>
        </p:txBody>
      </p:sp>
      <p:sp>
        <p:nvSpPr>
          <p:cNvPr id="32" name="Text 30"/>
          <p:cNvSpPr/>
          <p:nvPr/>
        </p:nvSpPr>
        <p:spPr>
          <a:xfrm>
            <a:off x="491173" y="3366659"/>
            <a:ext cx="1889125" cy="317373"/>
          </a:xfrm>
          <a:prstGeom prst="rect">
            <a:avLst/>
          </a:prstGeom>
          <a:noFill/>
          <a:ln/>
        </p:spPr>
        <p:txBody>
          <a:bodyPr wrap="square" lIns="0" tIns="0" rIns="0" bIns="0" rtlCol="0" anchor="ctr"/>
          <a:lstStyle/>
          <a:p>
            <a:r>
              <a:rPr lang="en-US" sz="909" b="1" dirty="0">
                <a:solidFill>
                  <a:srgbClr val="1E293B"/>
                </a:solidFill>
                <a:latin typeface="Cambria" panose="02040503050406030204" pitchFamily="18" charset="0"/>
                <a:ea typeface="Cambria" panose="02040503050406030204" pitchFamily="18" charset="0"/>
                <a:cs typeface="Calibri" pitchFamily="34" charset="-120"/>
              </a:rPr>
              <a:t>Devin (Cognition AI)</a:t>
            </a:r>
            <a:endParaRPr lang="en-US" sz="909" dirty="0">
              <a:latin typeface="Cambria" panose="02040503050406030204" pitchFamily="18" charset="0"/>
              <a:ea typeface="Cambria" panose="02040503050406030204" pitchFamily="18" charset="0"/>
            </a:endParaRPr>
          </a:p>
        </p:txBody>
      </p:sp>
      <p:sp>
        <p:nvSpPr>
          <p:cNvPr id="33" name="Text 31"/>
          <p:cNvSpPr/>
          <p:nvPr/>
        </p:nvSpPr>
        <p:spPr>
          <a:xfrm>
            <a:off x="2418080" y="3366659"/>
            <a:ext cx="4609465" cy="317373"/>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Reads GitHub issue → writes code → runs tests → fixes errors → opens PR — all autonomously</a:t>
            </a:r>
            <a:endParaRPr lang="en-US" sz="909" dirty="0">
              <a:latin typeface="Cambria" panose="02040503050406030204" pitchFamily="18" charset="0"/>
              <a:ea typeface="Cambria" panose="02040503050406030204" pitchFamily="18" charset="0"/>
            </a:endParaRPr>
          </a:p>
        </p:txBody>
      </p:sp>
      <p:sp>
        <p:nvSpPr>
          <p:cNvPr id="34" name="Shape 32"/>
          <p:cNvSpPr/>
          <p:nvPr/>
        </p:nvSpPr>
        <p:spPr>
          <a:xfrm>
            <a:off x="377825" y="3782266"/>
            <a:ext cx="6800850" cy="377825"/>
          </a:xfrm>
          <a:prstGeom prst="rect">
            <a:avLst/>
          </a:prstGeom>
          <a:solidFill>
            <a:srgbClr val="FFFFFF"/>
          </a:solidFill>
          <a:ln/>
        </p:spPr>
        <p:txBody>
          <a:bodyPr/>
          <a:lstStyle/>
          <a:p>
            <a:endParaRPr lang="en-001">
              <a:latin typeface="Cambria" panose="02040503050406030204" pitchFamily="18" charset="0"/>
              <a:ea typeface="Cambria" panose="02040503050406030204" pitchFamily="18" charset="0"/>
            </a:endParaRPr>
          </a:p>
        </p:txBody>
      </p:sp>
      <p:sp>
        <p:nvSpPr>
          <p:cNvPr id="35" name="Text 33"/>
          <p:cNvSpPr/>
          <p:nvPr/>
        </p:nvSpPr>
        <p:spPr>
          <a:xfrm>
            <a:off x="491173" y="3804936"/>
            <a:ext cx="1889125" cy="317373"/>
          </a:xfrm>
          <a:prstGeom prst="rect">
            <a:avLst/>
          </a:prstGeom>
          <a:noFill/>
          <a:ln/>
        </p:spPr>
        <p:txBody>
          <a:bodyPr wrap="square" lIns="0" tIns="0" rIns="0" bIns="0" rtlCol="0" anchor="ctr"/>
          <a:lstStyle/>
          <a:p>
            <a:r>
              <a:rPr lang="en-US" sz="909" b="1" dirty="0">
                <a:solidFill>
                  <a:srgbClr val="1E293B"/>
                </a:solidFill>
                <a:latin typeface="Cambria" panose="02040503050406030204" pitchFamily="18" charset="0"/>
                <a:ea typeface="Cambria" panose="02040503050406030204" pitchFamily="18" charset="0"/>
                <a:cs typeface="Calibri" pitchFamily="34" charset="-120"/>
              </a:rPr>
              <a:t>Claude Computer Use</a:t>
            </a:r>
            <a:endParaRPr lang="en-US" sz="909" dirty="0">
              <a:latin typeface="Cambria" panose="02040503050406030204" pitchFamily="18" charset="0"/>
              <a:ea typeface="Cambria" panose="02040503050406030204" pitchFamily="18" charset="0"/>
            </a:endParaRPr>
          </a:p>
        </p:txBody>
      </p:sp>
      <p:sp>
        <p:nvSpPr>
          <p:cNvPr id="36" name="Text 34"/>
          <p:cNvSpPr/>
          <p:nvPr/>
        </p:nvSpPr>
        <p:spPr>
          <a:xfrm>
            <a:off x="2418080" y="3804936"/>
            <a:ext cx="4609465" cy="317373"/>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Controls browser and OS: reads emails, books travel, fills forms — given only a goal</a:t>
            </a:r>
            <a:endParaRPr lang="en-US" sz="909" dirty="0">
              <a:latin typeface="Cambria" panose="02040503050406030204" pitchFamily="18" charset="0"/>
              <a:ea typeface="Cambria" panose="02040503050406030204" pitchFamily="18" charset="0"/>
            </a:endParaRPr>
          </a:p>
        </p:txBody>
      </p:sp>
      <p:sp>
        <p:nvSpPr>
          <p:cNvPr id="37" name="Shape 35"/>
          <p:cNvSpPr/>
          <p:nvPr/>
        </p:nvSpPr>
        <p:spPr>
          <a:xfrm>
            <a:off x="377825" y="4220543"/>
            <a:ext cx="6800850" cy="377825"/>
          </a:xfrm>
          <a:prstGeom prst="rect">
            <a:avLst/>
          </a:prstGeom>
          <a:solidFill>
            <a:srgbClr val="F8FAFC"/>
          </a:solidFill>
          <a:ln/>
        </p:spPr>
        <p:txBody>
          <a:bodyPr/>
          <a:lstStyle/>
          <a:p>
            <a:endParaRPr lang="en-001">
              <a:latin typeface="Cambria" panose="02040503050406030204" pitchFamily="18" charset="0"/>
              <a:ea typeface="Cambria" panose="02040503050406030204" pitchFamily="18" charset="0"/>
            </a:endParaRPr>
          </a:p>
        </p:txBody>
      </p:sp>
      <p:sp>
        <p:nvSpPr>
          <p:cNvPr id="38" name="Text 36"/>
          <p:cNvSpPr/>
          <p:nvPr/>
        </p:nvSpPr>
        <p:spPr>
          <a:xfrm>
            <a:off x="491173" y="4243213"/>
            <a:ext cx="1889125" cy="317373"/>
          </a:xfrm>
          <a:prstGeom prst="rect">
            <a:avLst/>
          </a:prstGeom>
          <a:noFill/>
          <a:ln/>
        </p:spPr>
        <p:txBody>
          <a:bodyPr wrap="square" lIns="0" tIns="0" rIns="0" bIns="0" rtlCol="0" anchor="ctr"/>
          <a:lstStyle/>
          <a:p>
            <a:r>
              <a:rPr lang="en-US" sz="909" b="1" dirty="0">
                <a:solidFill>
                  <a:srgbClr val="1E293B"/>
                </a:solidFill>
                <a:latin typeface="Cambria" panose="02040503050406030204" pitchFamily="18" charset="0"/>
                <a:ea typeface="Cambria" panose="02040503050406030204" pitchFamily="18" charset="0"/>
                <a:cs typeface="Calibri" pitchFamily="34" charset="-120"/>
              </a:rPr>
              <a:t>OpenAI Operator</a:t>
            </a:r>
            <a:endParaRPr lang="en-US" sz="909" dirty="0">
              <a:latin typeface="Cambria" panose="02040503050406030204" pitchFamily="18" charset="0"/>
              <a:ea typeface="Cambria" panose="02040503050406030204" pitchFamily="18" charset="0"/>
            </a:endParaRPr>
          </a:p>
        </p:txBody>
      </p:sp>
      <p:sp>
        <p:nvSpPr>
          <p:cNvPr id="39" name="Text 37"/>
          <p:cNvSpPr/>
          <p:nvPr/>
        </p:nvSpPr>
        <p:spPr>
          <a:xfrm>
            <a:off x="2418080" y="4243213"/>
            <a:ext cx="4609465" cy="317373"/>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Books restaurants, fills checkout forms, interacts with any website on the user's behalf</a:t>
            </a:r>
            <a:endParaRPr lang="en-US" sz="909" dirty="0">
              <a:latin typeface="Cambria" panose="02040503050406030204" pitchFamily="18" charset="0"/>
              <a:ea typeface="Cambria" panose="020405030504060302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77825" y="531749"/>
            <a:ext cx="6800850" cy="528955"/>
          </a:xfrm>
          <a:prstGeom prst="rect">
            <a:avLst/>
          </a:prstGeom>
          <a:noFill/>
          <a:ln/>
        </p:spPr>
        <p:txBody>
          <a:bodyPr wrap="square" lIns="0" tIns="0" rIns="0" bIns="0" rtlCol="0" anchor="ctr"/>
          <a:lstStyle/>
          <a:p>
            <a:r>
              <a:rPr lang="en-US" sz="2149" b="1" dirty="0">
                <a:solidFill>
                  <a:srgbClr val="FF0000"/>
                </a:solidFill>
                <a:latin typeface="Cambria" panose="02040503050406030204" pitchFamily="18" charset="0"/>
                <a:ea typeface="Cambria" panose="02040503050406030204" pitchFamily="18" charset="0"/>
                <a:cs typeface="Calibri" pitchFamily="34" charset="-120"/>
              </a:rPr>
              <a:t>AI and Intelligent Systems in Industry</a:t>
            </a:r>
            <a:endParaRPr lang="en-US" sz="2149" dirty="0">
              <a:solidFill>
                <a:srgbClr val="FF0000"/>
              </a:solidFill>
              <a:latin typeface="Cambria" panose="02040503050406030204" pitchFamily="18" charset="0"/>
              <a:ea typeface="Cambria" panose="02040503050406030204" pitchFamily="18" charset="0"/>
            </a:endParaRPr>
          </a:p>
        </p:txBody>
      </p:sp>
      <p:sp>
        <p:nvSpPr>
          <p:cNvPr id="5" name="Shape 3"/>
          <p:cNvSpPr/>
          <p:nvPr/>
        </p:nvSpPr>
        <p:spPr>
          <a:xfrm>
            <a:off x="323533" y="2049272"/>
            <a:ext cx="3324860" cy="906780"/>
          </a:xfrm>
          <a:prstGeom prst="rect">
            <a:avLst/>
          </a:prstGeom>
          <a:solidFill>
            <a:srgbClr val="FFFFFF"/>
          </a:solidFill>
          <a:ln/>
          <a:effectLst>
            <a:outerShdw blurRad="76200" dist="38100" dir="8100000" algn="bl" rotWithShape="0">
              <a:srgbClr val="000000">
                <a:alpha val="8000"/>
              </a:srgbClr>
            </a:outerShdw>
          </a:effectLst>
        </p:spPr>
        <p:txBody>
          <a:bodyPr/>
          <a:lstStyle/>
          <a:p>
            <a:endParaRPr lang="en-001" dirty="0">
              <a:latin typeface="Cambria" panose="02040503050406030204" pitchFamily="18" charset="0"/>
              <a:ea typeface="Cambria" panose="02040503050406030204" pitchFamily="18" charset="0"/>
            </a:endParaRPr>
          </a:p>
        </p:txBody>
      </p:sp>
      <p:sp>
        <p:nvSpPr>
          <p:cNvPr id="6" name="Shape 4"/>
          <p:cNvSpPr/>
          <p:nvPr/>
        </p:nvSpPr>
        <p:spPr>
          <a:xfrm>
            <a:off x="323533" y="2049272"/>
            <a:ext cx="45339" cy="906780"/>
          </a:xfrm>
          <a:prstGeom prst="rect">
            <a:avLst/>
          </a:prstGeom>
          <a:solidFill>
            <a:srgbClr val="8B5CF6"/>
          </a:solidFill>
          <a:ln/>
        </p:spPr>
        <p:txBody>
          <a:bodyPr/>
          <a:lstStyle/>
          <a:p>
            <a:endParaRPr lang="en-001">
              <a:latin typeface="Cambria" panose="02040503050406030204" pitchFamily="18" charset="0"/>
              <a:ea typeface="Cambria" panose="02040503050406030204" pitchFamily="18" charset="0"/>
            </a:endParaRPr>
          </a:p>
        </p:txBody>
      </p:sp>
      <p:pic>
        <p:nvPicPr>
          <p:cNvPr id="7" name="Image 0" descr="preencoded.png"/>
          <p:cNvPicPr>
            <a:picLocks noChangeAspect="1"/>
          </p:cNvPicPr>
          <p:nvPr/>
        </p:nvPicPr>
        <p:blipFill>
          <a:blip r:embed="rId3"/>
          <a:stretch>
            <a:fillRect/>
          </a:stretch>
        </p:blipFill>
        <p:spPr>
          <a:xfrm>
            <a:off x="459550" y="2162619"/>
            <a:ext cx="302260" cy="302260"/>
          </a:xfrm>
          <a:prstGeom prst="rect">
            <a:avLst/>
          </a:prstGeom>
        </p:spPr>
      </p:pic>
      <p:sp>
        <p:nvSpPr>
          <p:cNvPr id="8" name="Text 5"/>
          <p:cNvSpPr/>
          <p:nvPr/>
        </p:nvSpPr>
        <p:spPr>
          <a:xfrm>
            <a:off x="814705" y="2139950"/>
            <a:ext cx="2758123" cy="264478"/>
          </a:xfrm>
          <a:prstGeom prst="rect">
            <a:avLst/>
          </a:prstGeom>
          <a:noFill/>
          <a:ln/>
        </p:spPr>
        <p:txBody>
          <a:bodyPr wrap="square" lIns="0" tIns="0" rIns="0" bIns="0" rtlCol="0" anchor="ctr"/>
          <a:lstStyle/>
          <a:p>
            <a:r>
              <a:rPr lang="en-US" sz="1074" b="1" dirty="0">
                <a:solidFill>
                  <a:srgbClr val="1E293B"/>
                </a:solidFill>
                <a:latin typeface="Cambria" panose="02040503050406030204" pitchFamily="18" charset="0"/>
                <a:ea typeface="Cambria" panose="02040503050406030204" pitchFamily="18" charset="0"/>
                <a:cs typeface="Calibri" pitchFamily="34" charset="-120"/>
              </a:rPr>
              <a:t>Software Development</a:t>
            </a:r>
            <a:endParaRPr lang="en-US" sz="1074" dirty="0">
              <a:latin typeface="Cambria" panose="02040503050406030204" pitchFamily="18" charset="0"/>
              <a:ea typeface="Cambria" panose="02040503050406030204" pitchFamily="18" charset="0"/>
            </a:endParaRPr>
          </a:p>
        </p:txBody>
      </p:sp>
      <p:sp>
        <p:nvSpPr>
          <p:cNvPr id="9" name="Text 6"/>
          <p:cNvSpPr/>
          <p:nvPr/>
        </p:nvSpPr>
        <p:spPr>
          <a:xfrm>
            <a:off x="814705" y="2411984"/>
            <a:ext cx="2758123" cy="453390"/>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Microsoft Copilot: developers 55% faster in studies. Devin autonomously closes GitHub issues.</a:t>
            </a:r>
            <a:endParaRPr lang="en-US" sz="909" dirty="0">
              <a:latin typeface="Cambria" panose="02040503050406030204" pitchFamily="18" charset="0"/>
              <a:ea typeface="Cambria" panose="02040503050406030204" pitchFamily="18" charset="0"/>
            </a:endParaRPr>
          </a:p>
        </p:txBody>
      </p:sp>
      <p:sp>
        <p:nvSpPr>
          <p:cNvPr id="10" name="Shape 7"/>
          <p:cNvSpPr/>
          <p:nvPr/>
        </p:nvSpPr>
        <p:spPr>
          <a:xfrm>
            <a:off x="3837305" y="2049272"/>
            <a:ext cx="3324860" cy="906780"/>
          </a:xfrm>
          <a:prstGeom prst="rect">
            <a:avLst/>
          </a:prstGeom>
          <a:solidFill>
            <a:srgbClr val="FFFFFF"/>
          </a:solidFill>
          <a:ln/>
          <a:effectLst>
            <a:outerShdw blurRad="76200" dist="38100" dir="8100000" algn="bl" rotWithShape="0">
              <a:srgbClr val="000000">
                <a:alpha val="8000"/>
              </a:srgbClr>
            </a:outerShdw>
          </a:effectLst>
        </p:spPr>
        <p:txBody>
          <a:bodyPr/>
          <a:lstStyle/>
          <a:p>
            <a:endParaRPr lang="en-001">
              <a:latin typeface="Cambria" panose="02040503050406030204" pitchFamily="18" charset="0"/>
              <a:ea typeface="Cambria" panose="02040503050406030204" pitchFamily="18" charset="0"/>
            </a:endParaRPr>
          </a:p>
        </p:txBody>
      </p:sp>
      <p:sp>
        <p:nvSpPr>
          <p:cNvPr id="11" name="Shape 8"/>
          <p:cNvSpPr/>
          <p:nvPr/>
        </p:nvSpPr>
        <p:spPr>
          <a:xfrm>
            <a:off x="3837305" y="2049272"/>
            <a:ext cx="45339" cy="906780"/>
          </a:xfrm>
          <a:prstGeom prst="rect">
            <a:avLst/>
          </a:prstGeom>
          <a:solidFill>
            <a:srgbClr val="F59E0B"/>
          </a:solidFill>
          <a:ln/>
        </p:spPr>
        <p:txBody>
          <a:bodyPr/>
          <a:lstStyle/>
          <a:p>
            <a:endParaRPr lang="en-001">
              <a:latin typeface="Cambria" panose="02040503050406030204" pitchFamily="18" charset="0"/>
              <a:ea typeface="Cambria" panose="02040503050406030204" pitchFamily="18" charset="0"/>
            </a:endParaRPr>
          </a:p>
        </p:txBody>
      </p:sp>
      <p:pic>
        <p:nvPicPr>
          <p:cNvPr id="12" name="Image 1" descr="preencoded.png"/>
          <p:cNvPicPr>
            <a:picLocks noChangeAspect="1"/>
          </p:cNvPicPr>
          <p:nvPr/>
        </p:nvPicPr>
        <p:blipFill>
          <a:blip r:embed="rId4"/>
          <a:stretch>
            <a:fillRect/>
          </a:stretch>
        </p:blipFill>
        <p:spPr>
          <a:xfrm>
            <a:off x="3973322" y="2162619"/>
            <a:ext cx="302260" cy="302260"/>
          </a:xfrm>
          <a:prstGeom prst="rect">
            <a:avLst/>
          </a:prstGeom>
        </p:spPr>
      </p:pic>
      <p:sp>
        <p:nvSpPr>
          <p:cNvPr id="13" name="Text 9"/>
          <p:cNvSpPr/>
          <p:nvPr/>
        </p:nvSpPr>
        <p:spPr>
          <a:xfrm>
            <a:off x="4328477" y="2139950"/>
            <a:ext cx="2758123" cy="264478"/>
          </a:xfrm>
          <a:prstGeom prst="rect">
            <a:avLst/>
          </a:prstGeom>
          <a:noFill/>
          <a:ln/>
        </p:spPr>
        <p:txBody>
          <a:bodyPr wrap="square" lIns="0" tIns="0" rIns="0" bIns="0" rtlCol="0" anchor="ctr"/>
          <a:lstStyle/>
          <a:p>
            <a:r>
              <a:rPr lang="en-US" sz="1074" b="1" dirty="0">
                <a:solidFill>
                  <a:srgbClr val="1E293B"/>
                </a:solidFill>
                <a:latin typeface="Cambria" panose="02040503050406030204" pitchFamily="18" charset="0"/>
                <a:ea typeface="Cambria" panose="02040503050406030204" pitchFamily="18" charset="0"/>
                <a:cs typeface="Calibri" pitchFamily="34" charset="-120"/>
              </a:rPr>
              <a:t>Finance &amp; Trading</a:t>
            </a:r>
            <a:endParaRPr lang="en-US" sz="1074" dirty="0">
              <a:latin typeface="Cambria" panose="02040503050406030204" pitchFamily="18" charset="0"/>
              <a:ea typeface="Cambria" panose="02040503050406030204" pitchFamily="18" charset="0"/>
            </a:endParaRPr>
          </a:p>
        </p:txBody>
      </p:sp>
      <p:sp>
        <p:nvSpPr>
          <p:cNvPr id="14" name="Text 10"/>
          <p:cNvSpPr/>
          <p:nvPr/>
        </p:nvSpPr>
        <p:spPr>
          <a:xfrm>
            <a:off x="4328477" y="2411984"/>
            <a:ext cx="2758123" cy="453390"/>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JPMorgan COIN processes 360K legal docs in seconds (was 360,000 hrs/yr of lawyer time).</a:t>
            </a:r>
            <a:endParaRPr lang="en-US" sz="909" dirty="0">
              <a:latin typeface="Cambria" panose="02040503050406030204" pitchFamily="18" charset="0"/>
              <a:ea typeface="Cambria" panose="02040503050406030204" pitchFamily="18" charset="0"/>
            </a:endParaRPr>
          </a:p>
        </p:txBody>
      </p:sp>
      <p:sp>
        <p:nvSpPr>
          <p:cNvPr id="15" name="Shape 11"/>
          <p:cNvSpPr/>
          <p:nvPr/>
        </p:nvSpPr>
        <p:spPr>
          <a:xfrm>
            <a:off x="323533" y="3092069"/>
            <a:ext cx="3324860" cy="906780"/>
          </a:xfrm>
          <a:prstGeom prst="rect">
            <a:avLst/>
          </a:prstGeom>
          <a:solidFill>
            <a:srgbClr val="FFFFFF"/>
          </a:solidFill>
          <a:ln/>
          <a:effectLst>
            <a:outerShdw blurRad="76200" dist="38100" dir="8100000" algn="bl" rotWithShape="0">
              <a:srgbClr val="000000">
                <a:alpha val="8000"/>
              </a:srgbClr>
            </a:outerShdw>
          </a:effectLst>
        </p:spPr>
        <p:txBody>
          <a:bodyPr/>
          <a:lstStyle/>
          <a:p>
            <a:endParaRPr lang="en-001">
              <a:latin typeface="Cambria" panose="02040503050406030204" pitchFamily="18" charset="0"/>
              <a:ea typeface="Cambria" panose="02040503050406030204" pitchFamily="18" charset="0"/>
            </a:endParaRPr>
          </a:p>
        </p:txBody>
      </p:sp>
      <p:sp>
        <p:nvSpPr>
          <p:cNvPr id="16" name="Shape 12"/>
          <p:cNvSpPr/>
          <p:nvPr/>
        </p:nvSpPr>
        <p:spPr>
          <a:xfrm>
            <a:off x="323533" y="3092069"/>
            <a:ext cx="45339" cy="906780"/>
          </a:xfrm>
          <a:prstGeom prst="rect">
            <a:avLst/>
          </a:prstGeom>
          <a:solidFill>
            <a:srgbClr val="EF4444"/>
          </a:solidFill>
          <a:ln/>
        </p:spPr>
        <p:txBody>
          <a:bodyPr/>
          <a:lstStyle/>
          <a:p>
            <a:endParaRPr lang="en-001">
              <a:latin typeface="Cambria" panose="02040503050406030204" pitchFamily="18" charset="0"/>
              <a:ea typeface="Cambria" panose="02040503050406030204" pitchFamily="18" charset="0"/>
            </a:endParaRPr>
          </a:p>
        </p:txBody>
      </p:sp>
      <p:pic>
        <p:nvPicPr>
          <p:cNvPr id="17" name="Image 2" descr="preencoded.png"/>
          <p:cNvPicPr>
            <a:picLocks noChangeAspect="1"/>
          </p:cNvPicPr>
          <p:nvPr/>
        </p:nvPicPr>
        <p:blipFill>
          <a:blip r:embed="rId5"/>
          <a:stretch>
            <a:fillRect/>
          </a:stretch>
        </p:blipFill>
        <p:spPr>
          <a:xfrm>
            <a:off x="459550" y="3205416"/>
            <a:ext cx="302260" cy="302260"/>
          </a:xfrm>
          <a:prstGeom prst="rect">
            <a:avLst/>
          </a:prstGeom>
        </p:spPr>
      </p:pic>
      <p:sp>
        <p:nvSpPr>
          <p:cNvPr id="18" name="Text 13"/>
          <p:cNvSpPr/>
          <p:nvPr/>
        </p:nvSpPr>
        <p:spPr>
          <a:xfrm>
            <a:off x="814705" y="3182747"/>
            <a:ext cx="2758123" cy="264478"/>
          </a:xfrm>
          <a:prstGeom prst="rect">
            <a:avLst/>
          </a:prstGeom>
          <a:noFill/>
          <a:ln/>
        </p:spPr>
        <p:txBody>
          <a:bodyPr wrap="square" lIns="0" tIns="0" rIns="0" bIns="0" rtlCol="0" anchor="ctr"/>
          <a:lstStyle/>
          <a:p>
            <a:r>
              <a:rPr lang="en-US" sz="1074" b="1" dirty="0">
                <a:solidFill>
                  <a:srgbClr val="1E293B"/>
                </a:solidFill>
                <a:latin typeface="Cambria" panose="02040503050406030204" pitchFamily="18" charset="0"/>
                <a:ea typeface="Cambria" panose="02040503050406030204" pitchFamily="18" charset="0"/>
                <a:cs typeface="Calibri" pitchFamily="34" charset="-120"/>
              </a:rPr>
              <a:t>Healthcare</a:t>
            </a:r>
            <a:endParaRPr lang="en-US" sz="1074" dirty="0">
              <a:latin typeface="Cambria" panose="02040503050406030204" pitchFamily="18" charset="0"/>
              <a:ea typeface="Cambria" panose="02040503050406030204" pitchFamily="18" charset="0"/>
            </a:endParaRPr>
          </a:p>
        </p:txBody>
      </p:sp>
      <p:sp>
        <p:nvSpPr>
          <p:cNvPr id="19" name="Text 14"/>
          <p:cNvSpPr/>
          <p:nvPr/>
        </p:nvSpPr>
        <p:spPr>
          <a:xfrm>
            <a:off x="814705" y="3454781"/>
            <a:ext cx="2758123" cy="453390"/>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AlphaFold3: protein-drug binding prediction. NHS AI detects cancer earlier than radiologists.</a:t>
            </a:r>
            <a:endParaRPr lang="en-US" sz="909" dirty="0">
              <a:latin typeface="Cambria" panose="02040503050406030204" pitchFamily="18" charset="0"/>
              <a:ea typeface="Cambria" panose="02040503050406030204" pitchFamily="18" charset="0"/>
            </a:endParaRPr>
          </a:p>
        </p:txBody>
      </p:sp>
      <p:sp>
        <p:nvSpPr>
          <p:cNvPr id="20" name="Shape 15"/>
          <p:cNvSpPr/>
          <p:nvPr/>
        </p:nvSpPr>
        <p:spPr>
          <a:xfrm>
            <a:off x="3837305" y="3092069"/>
            <a:ext cx="3324860" cy="906780"/>
          </a:xfrm>
          <a:prstGeom prst="rect">
            <a:avLst/>
          </a:prstGeom>
          <a:solidFill>
            <a:srgbClr val="FFFFFF"/>
          </a:solidFill>
          <a:ln/>
          <a:effectLst>
            <a:outerShdw blurRad="76200" dist="38100" dir="8100000" algn="bl" rotWithShape="0">
              <a:srgbClr val="000000">
                <a:alpha val="8000"/>
              </a:srgbClr>
            </a:outerShdw>
          </a:effectLst>
        </p:spPr>
        <p:txBody>
          <a:bodyPr/>
          <a:lstStyle/>
          <a:p>
            <a:endParaRPr lang="en-001">
              <a:latin typeface="Cambria" panose="02040503050406030204" pitchFamily="18" charset="0"/>
              <a:ea typeface="Cambria" panose="02040503050406030204" pitchFamily="18" charset="0"/>
            </a:endParaRPr>
          </a:p>
        </p:txBody>
      </p:sp>
      <p:sp>
        <p:nvSpPr>
          <p:cNvPr id="21" name="Shape 16"/>
          <p:cNvSpPr/>
          <p:nvPr/>
        </p:nvSpPr>
        <p:spPr>
          <a:xfrm>
            <a:off x="3837305" y="3092069"/>
            <a:ext cx="45339" cy="906780"/>
          </a:xfrm>
          <a:prstGeom prst="rect">
            <a:avLst/>
          </a:prstGeom>
          <a:solidFill>
            <a:srgbClr val="0EA5E9"/>
          </a:solidFill>
          <a:ln/>
        </p:spPr>
        <p:txBody>
          <a:bodyPr/>
          <a:lstStyle/>
          <a:p>
            <a:endParaRPr lang="en-001">
              <a:latin typeface="Cambria" panose="02040503050406030204" pitchFamily="18" charset="0"/>
              <a:ea typeface="Cambria" panose="02040503050406030204" pitchFamily="18" charset="0"/>
            </a:endParaRPr>
          </a:p>
        </p:txBody>
      </p:sp>
      <p:pic>
        <p:nvPicPr>
          <p:cNvPr id="22" name="Image 3" descr="preencoded.png"/>
          <p:cNvPicPr>
            <a:picLocks noChangeAspect="1"/>
          </p:cNvPicPr>
          <p:nvPr/>
        </p:nvPicPr>
        <p:blipFill>
          <a:blip r:embed="rId6"/>
          <a:stretch>
            <a:fillRect/>
          </a:stretch>
        </p:blipFill>
        <p:spPr>
          <a:xfrm>
            <a:off x="3973322" y="3205416"/>
            <a:ext cx="302260" cy="302260"/>
          </a:xfrm>
          <a:prstGeom prst="rect">
            <a:avLst/>
          </a:prstGeom>
        </p:spPr>
      </p:pic>
      <p:sp>
        <p:nvSpPr>
          <p:cNvPr id="23" name="Text 17"/>
          <p:cNvSpPr/>
          <p:nvPr/>
        </p:nvSpPr>
        <p:spPr>
          <a:xfrm>
            <a:off x="4328477" y="3182747"/>
            <a:ext cx="2758123" cy="264478"/>
          </a:xfrm>
          <a:prstGeom prst="rect">
            <a:avLst/>
          </a:prstGeom>
          <a:noFill/>
          <a:ln/>
        </p:spPr>
        <p:txBody>
          <a:bodyPr wrap="square" lIns="0" tIns="0" rIns="0" bIns="0" rtlCol="0" anchor="ctr"/>
          <a:lstStyle/>
          <a:p>
            <a:r>
              <a:rPr lang="en-US" sz="1074" b="1" dirty="0">
                <a:solidFill>
                  <a:srgbClr val="1E293B"/>
                </a:solidFill>
                <a:latin typeface="Cambria" panose="02040503050406030204" pitchFamily="18" charset="0"/>
                <a:ea typeface="Cambria" panose="02040503050406030204" pitchFamily="18" charset="0"/>
                <a:cs typeface="Calibri" pitchFamily="34" charset="-120"/>
              </a:rPr>
              <a:t>Supply Chain &amp; Retail</a:t>
            </a:r>
            <a:endParaRPr lang="en-US" sz="1074" dirty="0">
              <a:latin typeface="Cambria" panose="02040503050406030204" pitchFamily="18" charset="0"/>
              <a:ea typeface="Cambria" panose="02040503050406030204" pitchFamily="18" charset="0"/>
            </a:endParaRPr>
          </a:p>
        </p:txBody>
      </p:sp>
      <p:sp>
        <p:nvSpPr>
          <p:cNvPr id="24" name="Text 18"/>
          <p:cNvSpPr/>
          <p:nvPr/>
        </p:nvSpPr>
        <p:spPr>
          <a:xfrm>
            <a:off x="4328477" y="3454781"/>
            <a:ext cx="2758123" cy="453390"/>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Walmart AI reduces out-of-stock by 30%. Amazon: 75% of warehouse tasks assisted or automated.</a:t>
            </a:r>
            <a:endParaRPr lang="en-US" sz="909" dirty="0">
              <a:latin typeface="Cambria" panose="02040503050406030204" pitchFamily="18" charset="0"/>
              <a:ea typeface="Cambria" panose="02040503050406030204" pitchFamily="18" charset="0"/>
            </a:endParaRPr>
          </a:p>
        </p:txBody>
      </p:sp>
      <p:sp>
        <p:nvSpPr>
          <p:cNvPr id="25" name="Shape 19"/>
          <p:cNvSpPr/>
          <p:nvPr/>
        </p:nvSpPr>
        <p:spPr>
          <a:xfrm>
            <a:off x="323533" y="4134866"/>
            <a:ext cx="3324860" cy="906780"/>
          </a:xfrm>
          <a:prstGeom prst="rect">
            <a:avLst/>
          </a:prstGeom>
          <a:solidFill>
            <a:srgbClr val="FFFFFF"/>
          </a:solidFill>
          <a:ln/>
          <a:effectLst>
            <a:outerShdw blurRad="76200" dist="38100" dir="8100000" algn="bl" rotWithShape="0">
              <a:srgbClr val="000000">
                <a:alpha val="8000"/>
              </a:srgbClr>
            </a:outerShdw>
          </a:effectLst>
        </p:spPr>
        <p:txBody>
          <a:bodyPr/>
          <a:lstStyle/>
          <a:p>
            <a:endParaRPr lang="en-001">
              <a:latin typeface="Cambria" panose="02040503050406030204" pitchFamily="18" charset="0"/>
              <a:ea typeface="Cambria" panose="02040503050406030204" pitchFamily="18" charset="0"/>
            </a:endParaRPr>
          </a:p>
        </p:txBody>
      </p:sp>
      <p:sp>
        <p:nvSpPr>
          <p:cNvPr id="26" name="Shape 20"/>
          <p:cNvSpPr/>
          <p:nvPr/>
        </p:nvSpPr>
        <p:spPr>
          <a:xfrm>
            <a:off x="323533" y="4134866"/>
            <a:ext cx="45339" cy="906780"/>
          </a:xfrm>
          <a:prstGeom prst="rect">
            <a:avLst/>
          </a:prstGeom>
          <a:solidFill>
            <a:srgbClr val="8B5CF6"/>
          </a:solidFill>
          <a:ln/>
        </p:spPr>
        <p:txBody>
          <a:bodyPr/>
          <a:lstStyle/>
          <a:p>
            <a:endParaRPr lang="en-001">
              <a:latin typeface="Cambria" panose="02040503050406030204" pitchFamily="18" charset="0"/>
              <a:ea typeface="Cambria" panose="02040503050406030204" pitchFamily="18" charset="0"/>
            </a:endParaRPr>
          </a:p>
        </p:txBody>
      </p:sp>
      <p:pic>
        <p:nvPicPr>
          <p:cNvPr id="27" name="Image 4" descr="preencoded.png"/>
          <p:cNvPicPr>
            <a:picLocks noChangeAspect="1"/>
          </p:cNvPicPr>
          <p:nvPr/>
        </p:nvPicPr>
        <p:blipFill>
          <a:blip r:embed="rId7"/>
          <a:stretch>
            <a:fillRect/>
          </a:stretch>
        </p:blipFill>
        <p:spPr>
          <a:xfrm>
            <a:off x="459550" y="4248213"/>
            <a:ext cx="302260" cy="302260"/>
          </a:xfrm>
          <a:prstGeom prst="rect">
            <a:avLst/>
          </a:prstGeom>
        </p:spPr>
      </p:pic>
      <p:sp>
        <p:nvSpPr>
          <p:cNvPr id="28" name="Text 21"/>
          <p:cNvSpPr/>
          <p:nvPr/>
        </p:nvSpPr>
        <p:spPr>
          <a:xfrm>
            <a:off x="814705" y="4225544"/>
            <a:ext cx="2758123" cy="264478"/>
          </a:xfrm>
          <a:prstGeom prst="rect">
            <a:avLst/>
          </a:prstGeom>
          <a:noFill/>
          <a:ln/>
        </p:spPr>
        <p:txBody>
          <a:bodyPr wrap="square" lIns="0" tIns="0" rIns="0" bIns="0" rtlCol="0" anchor="ctr"/>
          <a:lstStyle/>
          <a:p>
            <a:r>
              <a:rPr lang="en-US" sz="1074" b="1" dirty="0">
                <a:solidFill>
                  <a:srgbClr val="1E293B"/>
                </a:solidFill>
                <a:latin typeface="Cambria" panose="02040503050406030204" pitchFamily="18" charset="0"/>
                <a:ea typeface="Cambria" panose="02040503050406030204" pitchFamily="18" charset="0"/>
                <a:cs typeface="Calibri" pitchFamily="34" charset="-120"/>
              </a:rPr>
              <a:t>Scientific Research</a:t>
            </a:r>
            <a:endParaRPr lang="en-US" sz="1074" dirty="0">
              <a:latin typeface="Cambria" panose="02040503050406030204" pitchFamily="18" charset="0"/>
              <a:ea typeface="Cambria" panose="02040503050406030204" pitchFamily="18" charset="0"/>
            </a:endParaRPr>
          </a:p>
        </p:txBody>
      </p:sp>
      <p:sp>
        <p:nvSpPr>
          <p:cNvPr id="29" name="Text 22"/>
          <p:cNvSpPr/>
          <p:nvPr/>
        </p:nvSpPr>
        <p:spPr>
          <a:xfrm>
            <a:off x="814705" y="4497578"/>
            <a:ext cx="2758123" cy="453390"/>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AI co-authors in Nature. Materials science: AI discovered 2.2M new crystal structures (2024).</a:t>
            </a:r>
            <a:endParaRPr lang="en-US" sz="909" dirty="0">
              <a:latin typeface="Cambria" panose="02040503050406030204" pitchFamily="18" charset="0"/>
              <a:ea typeface="Cambria" panose="02040503050406030204" pitchFamily="18" charset="0"/>
            </a:endParaRPr>
          </a:p>
        </p:txBody>
      </p:sp>
      <p:sp>
        <p:nvSpPr>
          <p:cNvPr id="30" name="Shape 23"/>
          <p:cNvSpPr/>
          <p:nvPr/>
        </p:nvSpPr>
        <p:spPr>
          <a:xfrm>
            <a:off x="3837305" y="4134866"/>
            <a:ext cx="3324860" cy="906780"/>
          </a:xfrm>
          <a:prstGeom prst="rect">
            <a:avLst/>
          </a:prstGeom>
          <a:solidFill>
            <a:srgbClr val="FFFFFF"/>
          </a:solidFill>
          <a:ln/>
          <a:effectLst>
            <a:outerShdw blurRad="76200" dist="38100" dir="8100000" algn="bl" rotWithShape="0">
              <a:srgbClr val="000000">
                <a:alpha val="8000"/>
              </a:srgbClr>
            </a:outerShdw>
          </a:effectLst>
        </p:spPr>
        <p:txBody>
          <a:bodyPr/>
          <a:lstStyle/>
          <a:p>
            <a:endParaRPr lang="en-001">
              <a:latin typeface="Cambria" panose="02040503050406030204" pitchFamily="18" charset="0"/>
              <a:ea typeface="Cambria" panose="02040503050406030204" pitchFamily="18" charset="0"/>
            </a:endParaRPr>
          </a:p>
        </p:txBody>
      </p:sp>
      <p:sp>
        <p:nvSpPr>
          <p:cNvPr id="31" name="Shape 24"/>
          <p:cNvSpPr/>
          <p:nvPr/>
        </p:nvSpPr>
        <p:spPr>
          <a:xfrm>
            <a:off x="3837305" y="4134866"/>
            <a:ext cx="45339" cy="906780"/>
          </a:xfrm>
          <a:prstGeom prst="rect">
            <a:avLst/>
          </a:prstGeom>
          <a:solidFill>
            <a:srgbClr val="0D9488"/>
          </a:solidFill>
          <a:ln/>
        </p:spPr>
        <p:txBody>
          <a:bodyPr/>
          <a:lstStyle/>
          <a:p>
            <a:endParaRPr lang="en-001">
              <a:latin typeface="Cambria" panose="02040503050406030204" pitchFamily="18" charset="0"/>
              <a:ea typeface="Cambria" panose="02040503050406030204" pitchFamily="18" charset="0"/>
            </a:endParaRPr>
          </a:p>
        </p:txBody>
      </p:sp>
      <p:pic>
        <p:nvPicPr>
          <p:cNvPr id="32" name="Image 5" descr="preencoded.png"/>
          <p:cNvPicPr>
            <a:picLocks noChangeAspect="1"/>
          </p:cNvPicPr>
          <p:nvPr/>
        </p:nvPicPr>
        <p:blipFill>
          <a:blip r:embed="rId8"/>
          <a:stretch>
            <a:fillRect/>
          </a:stretch>
        </p:blipFill>
        <p:spPr>
          <a:xfrm>
            <a:off x="3973322" y="4248213"/>
            <a:ext cx="302260" cy="302260"/>
          </a:xfrm>
          <a:prstGeom prst="rect">
            <a:avLst/>
          </a:prstGeom>
        </p:spPr>
      </p:pic>
      <p:sp>
        <p:nvSpPr>
          <p:cNvPr id="33" name="Text 25"/>
          <p:cNvSpPr/>
          <p:nvPr/>
        </p:nvSpPr>
        <p:spPr>
          <a:xfrm>
            <a:off x="4328477" y="4225544"/>
            <a:ext cx="2758123" cy="264478"/>
          </a:xfrm>
          <a:prstGeom prst="rect">
            <a:avLst/>
          </a:prstGeom>
          <a:noFill/>
          <a:ln/>
        </p:spPr>
        <p:txBody>
          <a:bodyPr wrap="square" lIns="0" tIns="0" rIns="0" bIns="0" rtlCol="0" anchor="ctr"/>
          <a:lstStyle/>
          <a:p>
            <a:r>
              <a:rPr lang="en-US" sz="1074" b="1" dirty="0">
                <a:solidFill>
                  <a:srgbClr val="1E293B"/>
                </a:solidFill>
                <a:latin typeface="Cambria" panose="02040503050406030204" pitchFamily="18" charset="0"/>
                <a:ea typeface="Cambria" panose="02040503050406030204" pitchFamily="18" charset="0"/>
                <a:cs typeface="Calibri" pitchFamily="34" charset="-120"/>
              </a:rPr>
              <a:t>Education &amp; HR</a:t>
            </a:r>
            <a:endParaRPr lang="en-US" sz="1074" dirty="0">
              <a:latin typeface="Cambria" panose="02040503050406030204" pitchFamily="18" charset="0"/>
              <a:ea typeface="Cambria" panose="02040503050406030204" pitchFamily="18" charset="0"/>
            </a:endParaRPr>
          </a:p>
        </p:txBody>
      </p:sp>
      <p:sp>
        <p:nvSpPr>
          <p:cNvPr id="34" name="Text 26"/>
          <p:cNvSpPr/>
          <p:nvPr/>
        </p:nvSpPr>
        <p:spPr>
          <a:xfrm>
            <a:off x="4328477" y="4497578"/>
            <a:ext cx="2758123" cy="453390"/>
          </a:xfrm>
          <a:prstGeom prst="rect">
            <a:avLst/>
          </a:prstGeom>
          <a:noFill/>
          <a:ln/>
        </p:spPr>
        <p:txBody>
          <a:bodyPr wrap="square" lIns="0" tIns="0" rIns="0" bIns="0" rtlCol="0" anchor="ctr"/>
          <a:lstStyle/>
          <a:p>
            <a:r>
              <a:rPr lang="en-US" sz="909" dirty="0">
                <a:solidFill>
                  <a:srgbClr val="475569"/>
                </a:solidFill>
                <a:latin typeface="Cambria" panose="02040503050406030204" pitchFamily="18" charset="0"/>
                <a:ea typeface="Cambria" panose="02040503050406030204" pitchFamily="18" charset="0"/>
                <a:cs typeface="Calibri" pitchFamily="34" charset="-120"/>
              </a:rPr>
              <a:t>Duolingo, Khanmigo (Khan Academy). AI screening tools process 85% of Fortune 500 job applications.</a:t>
            </a:r>
            <a:endParaRPr lang="en-US" sz="909" dirty="0">
              <a:latin typeface="Cambria" panose="02040503050406030204" pitchFamily="18" charset="0"/>
              <a:ea typeface="Cambria" panose="020405030504060302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object 5"/>
          <p:cNvSpPr txBox="1"/>
          <p:nvPr/>
        </p:nvSpPr>
        <p:spPr>
          <a:xfrm>
            <a:off x="6310871" y="3862666"/>
            <a:ext cx="103505" cy="124460"/>
          </a:xfrm>
          <a:prstGeom prst="rect">
            <a:avLst/>
          </a:prstGeom>
        </p:spPr>
        <p:txBody>
          <a:bodyPr vert="horz" wrap="square" lIns="0" tIns="12065" rIns="0" bIns="0" rtlCol="0">
            <a:spAutoFit/>
          </a:bodyPr>
          <a:lstStyle/>
          <a:p>
            <a:pPr marL="12700">
              <a:lnSpc>
                <a:spcPct val="100000"/>
              </a:lnSpc>
              <a:spcBef>
                <a:spcPts val="95"/>
              </a:spcBef>
            </a:pPr>
            <a:r>
              <a:rPr sz="650" spc="-25" dirty="0">
                <a:solidFill>
                  <a:srgbClr val="898989"/>
                </a:solidFill>
                <a:latin typeface="Calibri"/>
                <a:cs typeface="Calibri"/>
              </a:rPr>
              <a:t>18</a:t>
            </a:r>
            <a:endParaRPr sz="650" dirty="0">
              <a:latin typeface="Calibri"/>
              <a:cs typeface="Calibri"/>
            </a:endParaRPr>
          </a:p>
        </p:txBody>
      </p:sp>
      <p:sp>
        <p:nvSpPr>
          <p:cNvPr id="6" name="object 6"/>
          <p:cNvSpPr txBox="1"/>
          <p:nvPr/>
        </p:nvSpPr>
        <p:spPr>
          <a:xfrm>
            <a:off x="349250" y="311150"/>
            <a:ext cx="6065126" cy="1640129"/>
          </a:xfrm>
          <a:prstGeom prst="rect">
            <a:avLst/>
          </a:prstGeom>
        </p:spPr>
        <p:txBody>
          <a:bodyPr vert="horz" wrap="square" lIns="0" tIns="152400" rIns="0" bIns="0" rtlCol="0">
            <a:spAutoFit/>
          </a:bodyPr>
          <a:lstStyle/>
          <a:p>
            <a:pPr marL="12700">
              <a:lnSpc>
                <a:spcPct val="100000"/>
              </a:lnSpc>
              <a:spcBef>
                <a:spcPts val="1200"/>
              </a:spcBef>
            </a:pPr>
            <a:r>
              <a:rPr sz="2200" b="1" spc="-10" dirty="0">
                <a:solidFill>
                  <a:srgbClr val="FF0000"/>
                </a:solidFill>
                <a:latin typeface="Cambria"/>
                <a:cs typeface="Cambria"/>
              </a:rPr>
              <a:t>Intelligent</a:t>
            </a:r>
            <a:r>
              <a:rPr sz="2200" b="1" spc="-45" dirty="0">
                <a:solidFill>
                  <a:srgbClr val="FF0000"/>
                </a:solidFill>
                <a:latin typeface="Cambria"/>
                <a:cs typeface="Cambria"/>
              </a:rPr>
              <a:t> </a:t>
            </a:r>
            <a:r>
              <a:rPr sz="2200" b="1" spc="-20" dirty="0">
                <a:solidFill>
                  <a:srgbClr val="FF0000"/>
                </a:solidFill>
                <a:latin typeface="Cambria"/>
                <a:cs typeface="Cambria"/>
              </a:rPr>
              <a:t>systems</a:t>
            </a:r>
            <a:r>
              <a:rPr sz="2200" b="1" spc="-40" dirty="0">
                <a:solidFill>
                  <a:srgbClr val="FF0000"/>
                </a:solidFill>
                <a:latin typeface="Cambria"/>
                <a:cs typeface="Cambria"/>
              </a:rPr>
              <a:t> </a:t>
            </a:r>
            <a:r>
              <a:rPr sz="2200" b="1" dirty="0">
                <a:solidFill>
                  <a:srgbClr val="FF0000"/>
                </a:solidFill>
                <a:latin typeface="Cambria"/>
                <a:cs typeface="Cambria"/>
              </a:rPr>
              <a:t>in</a:t>
            </a:r>
            <a:r>
              <a:rPr sz="2200" b="1" spc="-50" dirty="0">
                <a:solidFill>
                  <a:srgbClr val="FF0000"/>
                </a:solidFill>
                <a:latin typeface="Cambria"/>
                <a:cs typeface="Cambria"/>
              </a:rPr>
              <a:t> </a:t>
            </a:r>
            <a:r>
              <a:rPr sz="2200" b="1" spc="-10" dirty="0">
                <a:solidFill>
                  <a:srgbClr val="FF0000"/>
                </a:solidFill>
                <a:latin typeface="Cambria"/>
                <a:cs typeface="Cambria"/>
              </a:rPr>
              <a:t>business</a:t>
            </a:r>
            <a:endParaRPr sz="2200" dirty="0">
              <a:latin typeface="Cambria"/>
              <a:cs typeface="Cambria"/>
            </a:endParaRPr>
          </a:p>
          <a:p>
            <a:pPr marL="178435" marR="2374265" indent="-116839">
              <a:lnSpc>
                <a:spcPts val="1550"/>
              </a:lnSpc>
              <a:spcBef>
                <a:spcPts val="1185"/>
              </a:spcBef>
              <a:buFont typeface="Arial"/>
              <a:buChar char="•"/>
              <a:tabLst>
                <a:tab pos="178435" algn="l"/>
              </a:tabLst>
            </a:pPr>
            <a:r>
              <a:rPr sz="1600" b="1" dirty="0">
                <a:solidFill>
                  <a:srgbClr val="2F2F2F"/>
                </a:solidFill>
                <a:latin typeface="Cambria" panose="02040503050406030204" pitchFamily="18" charset="0"/>
                <a:ea typeface="Cambria" panose="02040503050406030204" pitchFamily="18" charset="0"/>
                <a:cs typeface="Segoe UI"/>
              </a:rPr>
              <a:t>Microsoft</a:t>
            </a:r>
            <a:r>
              <a:rPr sz="1600" b="1" spc="110" dirty="0">
                <a:solidFill>
                  <a:srgbClr val="2F2F2F"/>
                </a:solidFill>
                <a:latin typeface="Cambria" panose="02040503050406030204" pitchFamily="18" charset="0"/>
                <a:ea typeface="Cambria" panose="02040503050406030204" pitchFamily="18" charset="0"/>
                <a:cs typeface="Segoe UI"/>
              </a:rPr>
              <a:t> </a:t>
            </a:r>
            <a:r>
              <a:rPr sz="1600" b="1" spc="-25" dirty="0">
                <a:solidFill>
                  <a:srgbClr val="2F2F2F"/>
                </a:solidFill>
                <a:latin typeface="Cambria" panose="02040503050406030204" pitchFamily="18" charset="0"/>
                <a:ea typeface="Cambria" panose="02040503050406030204" pitchFamily="18" charset="0"/>
                <a:cs typeface="Segoe UI"/>
              </a:rPr>
              <a:t>365 </a:t>
            </a:r>
            <a:r>
              <a:rPr sz="1600" b="1" spc="-10" dirty="0">
                <a:solidFill>
                  <a:srgbClr val="2F2F2F"/>
                </a:solidFill>
                <a:latin typeface="Cambria" panose="02040503050406030204" pitchFamily="18" charset="0"/>
                <a:ea typeface="Cambria" panose="02040503050406030204" pitchFamily="18" charset="0"/>
                <a:cs typeface="Segoe UI"/>
              </a:rPr>
              <a:t>Copilot:</a:t>
            </a:r>
            <a:endParaRPr sz="1600" dirty="0">
              <a:latin typeface="Cambria" panose="02040503050406030204" pitchFamily="18" charset="0"/>
              <a:ea typeface="Cambria" panose="02040503050406030204" pitchFamily="18" charset="0"/>
              <a:cs typeface="Segoe UI"/>
            </a:endParaRPr>
          </a:p>
          <a:p>
            <a:pPr marL="410845" marR="1628775" lvl="1" indent="-115570">
              <a:lnSpc>
                <a:spcPts val="1350"/>
              </a:lnSpc>
              <a:spcBef>
                <a:spcPts val="295"/>
              </a:spcBef>
              <a:buFont typeface="Arial"/>
              <a:buChar char="•"/>
              <a:tabLst>
                <a:tab pos="412115" algn="l"/>
              </a:tabLst>
            </a:pPr>
            <a:r>
              <a:rPr sz="1400" dirty="0">
                <a:solidFill>
                  <a:srgbClr val="2F2F2F"/>
                </a:solidFill>
                <a:latin typeface="Cambria" panose="02040503050406030204" pitchFamily="18" charset="0"/>
                <a:ea typeface="Cambria" panose="02040503050406030204" pitchFamily="18" charset="0"/>
                <a:cs typeface="Segoe UI"/>
              </a:rPr>
              <a:t>Combines</a:t>
            </a:r>
            <a:r>
              <a:rPr sz="1400" spc="60"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the</a:t>
            </a:r>
            <a:r>
              <a:rPr sz="1400" spc="65"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power</a:t>
            </a:r>
            <a:r>
              <a:rPr sz="1400" spc="55" dirty="0">
                <a:solidFill>
                  <a:srgbClr val="2F2F2F"/>
                </a:solidFill>
                <a:latin typeface="Cambria" panose="02040503050406030204" pitchFamily="18" charset="0"/>
                <a:ea typeface="Cambria" panose="02040503050406030204" pitchFamily="18" charset="0"/>
                <a:cs typeface="Segoe UI"/>
              </a:rPr>
              <a:t> </a:t>
            </a:r>
            <a:r>
              <a:rPr sz="1400" spc="-25" dirty="0">
                <a:solidFill>
                  <a:srgbClr val="2F2F2F"/>
                </a:solidFill>
                <a:latin typeface="Cambria" panose="02040503050406030204" pitchFamily="18" charset="0"/>
                <a:ea typeface="Cambria" panose="02040503050406030204" pitchFamily="18" charset="0"/>
                <a:cs typeface="Segoe UI"/>
              </a:rPr>
              <a:t>of </a:t>
            </a:r>
            <a:r>
              <a:rPr sz="1400" dirty="0">
                <a:solidFill>
                  <a:srgbClr val="2F2F2F"/>
                </a:solidFill>
                <a:latin typeface="Cambria" panose="02040503050406030204" pitchFamily="18" charset="0"/>
                <a:ea typeface="Cambria" panose="02040503050406030204" pitchFamily="18" charset="0"/>
                <a:cs typeface="Segoe UI"/>
              </a:rPr>
              <a:t>large</a:t>
            </a:r>
            <a:r>
              <a:rPr sz="1400" spc="55"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language</a:t>
            </a:r>
            <a:r>
              <a:rPr sz="1400" spc="60" dirty="0">
                <a:solidFill>
                  <a:srgbClr val="2F2F2F"/>
                </a:solidFill>
                <a:latin typeface="Cambria" panose="02040503050406030204" pitchFamily="18" charset="0"/>
                <a:ea typeface="Cambria" panose="02040503050406030204" pitchFamily="18" charset="0"/>
                <a:cs typeface="Segoe UI"/>
              </a:rPr>
              <a:t> </a:t>
            </a:r>
            <a:r>
              <a:rPr sz="1400" spc="-10" dirty="0">
                <a:solidFill>
                  <a:srgbClr val="2F2F2F"/>
                </a:solidFill>
                <a:latin typeface="Cambria" panose="02040503050406030204" pitchFamily="18" charset="0"/>
                <a:ea typeface="Cambria" panose="02040503050406030204" pitchFamily="18" charset="0"/>
                <a:cs typeface="Segoe UI"/>
              </a:rPr>
              <a:t>models</a:t>
            </a:r>
            <a:endParaRPr sz="1400" dirty="0">
              <a:latin typeface="Cambria" panose="02040503050406030204" pitchFamily="18" charset="0"/>
              <a:ea typeface="Cambria" panose="02040503050406030204" pitchFamily="18" charset="0"/>
              <a:cs typeface="Segoe UI"/>
            </a:endParaRPr>
          </a:p>
          <a:p>
            <a:pPr marL="412115" marR="1694180">
              <a:lnSpc>
                <a:spcPct val="82100"/>
              </a:lnSpc>
              <a:spcBef>
                <a:spcPts val="55"/>
              </a:spcBef>
            </a:pPr>
            <a:r>
              <a:rPr sz="1400" dirty="0">
                <a:solidFill>
                  <a:srgbClr val="2F2F2F"/>
                </a:solidFill>
                <a:latin typeface="Cambria" panose="02040503050406030204" pitchFamily="18" charset="0"/>
                <a:ea typeface="Cambria" panose="02040503050406030204" pitchFamily="18" charset="0"/>
                <a:cs typeface="Segoe UI"/>
              </a:rPr>
              <a:t>(LLMs)</a:t>
            </a:r>
            <a:r>
              <a:rPr sz="1400" spc="30"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with</a:t>
            </a:r>
            <a:r>
              <a:rPr sz="1400" spc="35"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your</a:t>
            </a:r>
            <a:r>
              <a:rPr sz="1400" spc="30" dirty="0">
                <a:solidFill>
                  <a:srgbClr val="2F2F2F"/>
                </a:solidFill>
                <a:latin typeface="Cambria" panose="02040503050406030204" pitchFamily="18" charset="0"/>
                <a:ea typeface="Cambria" panose="02040503050406030204" pitchFamily="18" charset="0"/>
                <a:cs typeface="Segoe UI"/>
              </a:rPr>
              <a:t> </a:t>
            </a:r>
            <a:r>
              <a:rPr sz="1400" spc="-20" dirty="0">
                <a:solidFill>
                  <a:srgbClr val="2F2F2F"/>
                </a:solidFill>
                <a:latin typeface="Cambria" panose="02040503050406030204" pitchFamily="18" charset="0"/>
                <a:ea typeface="Cambria" panose="02040503050406030204" pitchFamily="18" charset="0"/>
                <a:cs typeface="Segoe UI"/>
              </a:rPr>
              <a:t>data </a:t>
            </a:r>
            <a:r>
              <a:rPr sz="1400" dirty="0">
                <a:solidFill>
                  <a:srgbClr val="2F2F2F"/>
                </a:solidFill>
                <a:latin typeface="Cambria" panose="02040503050406030204" pitchFamily="18" charset="0"/>
                <a:ea typeface="Cambria" panose="02040503050406030204" pitchFamily="18" charset="0"/>
                <a:cs typeface="Segoe UI"/>
              </a:rPr>
              <a:t>in</a:t>
            </a:r>
            <a:r>
              <a:rPr sz="1400" spc="30"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the</a:t>
            </a:r>
            <a:r>
              <a:rPr sz="1400" spc="40"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Microsoft</a:t>
            </a:r>
            <a:r>
              <a:rPr sz="1400" spc="35" dirty="0">
                <a:solidFill>
                  <a:srgbClr val="2F2F2F"/>
                </a:solidFill>
                <a:latin typeface="Cambria" panose="02040503050406030204" pitchFamily="18" charset="0"/>
                <a:ea typeface="Cambria" panose="02040503050406030204" pitchFamily="18" charset="0"/>
                <a:cs typeface="Segoe UI"/>
              </a:rPr>
              <a:t> </a:t>
            </a:r>
            <a:r>
              <a:rPr sz="1400" spc="-20" dirty="0">
                <a:solidFill>
                  <a:srgbClr val="2F2F2F"/>
                </a:solidFill>
                <a:latin typeface="Cambria" panose="02040503050406030204" pitchFamily="18" charset="0"/>
                <a:ea typeface="Cambria" panose="02040503050406030204" pitchFamily="18" charset="0"/>
                <a:cs typeface="Segoe UI"/>
              </a:rPr>
              <a:t>Graph </a:t>
            </a:r>
            <a:r>
              <a:rPr sz="1400" dirty="0">
                <a:solidFill>
                  <a:srgbClr val="2F2F2F"/>
                </a:solidFill>
                <a:latin typeface="Cambria" panose="02040503050406030204" pitchFamily="18" charset="0"/>
                <a:ea typeface="Cambria" panose="02040503050406030204" pitchFamily="18" charset="0"/>
                <a:cs typeface="Segoe UI"/>
              </a:rPr>
              <a:t>and</a:t>
            </a:r>
            <a:r>
              <a:rPr sz="1400" spc="40"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the</a:t>
            </a:r>
            <a:r>
              <a:rPr sz="1400" spc="40"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Microsoft</a:t>
            </a:r>
            <a:r>
              <a:rPr sz="1400" spc="35" dirty="0">
                <a:solidFill>
                  <a:srgbClr val="2F2F2F"/>
                </a:solidFill>
                <a:latin typeface="Cambria" panose="02040503050406030204" pitchFamily="18" charset="0"/>
                <a:ea typeface="Cambria" panose="02040503050406030204" pitchFamily="18" charset="0"/>
                <a:cs typeface="Segoe UI"/>
              </a:rPr>
              <a:t> </a:t>
            </a:r>
            <a:r>
              <a:rPr sz="1400" spc="-25" dirty="0">
                <a:solidFill>
                  <a:srgbClr val="2F2F2F"/>
                </a:solidFill>
                <a:latin typeface="Cambria" panose="02040503050406030204" pitchFamily="18" charset="0"/>
                <a:ea typeface="Cambria" panose="02040503050406030204" pitchFamily="18" charset="0"/>
                <a:cs typeface="Segoe UI"/>
              </a:rPr>
              <a:t>365 </a:t>
            </a:r>
            <a:r>
              <a:rPr sz="1400" spc="-20" dirty="0">
                <a:solidFill>
                  <a:srgbClr val="2F2F2F"/>
                </a:solidFill>
                <a:latin typeface="Cambria" panose="02040503050406030204" pitchFamily="18" charset="0"/>
                <a:ea typeface="Cambria" panose="02040503050406030204" pitchFamily="18" charset="0"/>
                <a:cs typeface="Segoe UI"/>
              </a:rPr>
              <a:t>apps</a:t>
            </a:r>
            <a:endParaRPr sz="1400" dirty="0">
              <a:latin typeface="Cambria" panose="02040503050406030204" pitchFamily="18" charset="0"/>
              <a:ea typeface="Cambria" panose="02040503050406030204" pitchFamily="18" charset="0"/>
              <a:cs typeface="Segoe UI"/>
            </a:endParaRPr>
          </a:p>
          <a:p>
            <a:pPr marL="410845" marR="1631950" lvl="1" indent="-115570">
              <a:lnSpc>
                <a:spcPct val="83000"/>
              </a:lnSpc>
              <a:spcBef>
                <a:spcPts val="215"/>
              </a:spcBef>
              <a:buFont typeface="Arial"/>
              <a:buChar char="•"/>
              <a:tabLst>
                <a:tab pos="412115" algn="l"/>
              </a:tabLst>
            </a:pPr>
            <a:r>
              <a:rPr sz="1400" dirty="0">
                <a:solidFill>
                  <a:srgbClr val="2F2F2F"/>
                </a:solidFill>
                <a:latin typeface="Cambria" panose="02040503050406030204" pitchFamily="18" charset="0"/>
                <a:ea typeface="Cambria" panose="02040503050406030204" pitchFamily="18" charset="0"/>
                <a:cs typeface="Segoe UI"/>
              </a:rPr>
              <a:t>Turns</a:t>
            </a:r>
            <a:r>
              <a:rPr sz="1400" spc="-5"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your</a:t>
            </a:r>
            <a:r>
              <a:rPr sz="1400" spc="-5" dirty="0">
                <a:solidFill>
                  <a:srgbClr val="2F2F2F"/>
                </a:solidFill>
                <a:latin typeface="Cambria" panose="02040503050406030204" pitchFamily="18" charset="0"/>
                <a:ea typeface="Cambria" panose="02040503050406030204" pitchFamily="18" charset="0"/>
                <a:cs typeface="Segoe UI"/>
              </a:rPr>
              <a:t> </a:t>
            </a:r>
            <a:r>
              <a:rPr sz="1400" dirty="0">
                <a:solidFill>
                  <a:srgbClr val="2F2F2F"/>
                </a:solidFill>
                <a:latin typeface="Cambria" panose="02040503050406030204" pitchFamily="18" charset="0"/>
                <a:ea typeface="Cambria" panose="02040503050406030204" pitchFamily="18" charset="0"/>
                <a:cs typeface="Segoe UI"/>
              </a:rPr>
              <a:t>words into </a:t>
            </a:r>
            <a:r>
              <a:rPr sz="1400" spc="-50" dirty="0">
                <a:solidFill>
                  <a:srgbClr val="2F2F2F"/>
                </a:solidFill>
                <a:latin typeface="Cambria" panose="02040503050406030204" pitchFamily="18" charset="0"/>
                <a:ea typeface="Cambria" panose="02040503050406030204" pitchFamily="18" charset="0"/>
                <a:cs typeface="Segoe UI"/>
              </a:rPr>
              <a:t>a </a:t>
            </a:r>
            <a:r>
              <a:rPr sz="1400" dirty="0">
                <a:solidFill>
                  <a:srgbClr val="2F2F2F"/>
                </a:solidFill>
                <a:latin typeface="Cambria" panose="02040503050406030204" pitchFamily="18" charset="0"/>
                <a:ea typeface="Cambria" panose="02040503050406030204" pitchFamily="18" charset="0"/>
                <a:cs typeface="Segoe UI"/>
              </a:rPr>
              <a:t>powerful</a:t>
            </a:r>
            <a:r>
              <a:rPr sz="1400" spc="105" dirty="0">
                <a:solidFill>
                  <a:srgbClr val="2F2F2F"/>
                </a:solidFill>
                <a:latin typeface="Cambria" panose="02040503050406030204" pitchFamily="18" charset="0"/>
                <a:ea typeface="Cambria" panose="02040503050406030204" pitchFamily="18" charset="0"/>
                <a:cs typeface="Segoe UI"/>
              </a:rPr>
              <a:t> </a:t>
            </a:r>
            <a:r>
              <a:rPr sz="1400" spc="-10" dirty="0">
                <a:solidFill>
                  <a:srgbClr val="2F2F2F"/>
                </a:solidFill>
                <a:latin typeface="Cambria" panose="02040503050406030204" pitchFamily="18" charset="0"/>
                <a:ea typeface="Cambria" panose="02040503050406030204" pitchFamily="18" charset="0"/>
                <a:cs typeface="Segoe UI"/>
              </a:rPr>
              <a:t>productivity </a:t>
            </a:r>
            <a:r>
              <a:rPr sz="1400" spc="-20" dirty="0">
                <a:solidFill>
                  <a:srgbClr val="2F2F2F"/>
                </a:solidFill>
                <a:latin typeface="Cambria" panose="02040503050406030204" pitchFamily="18" charset="0"/>
                <a:ea typeface="Cambria" panose="02040503050406030204" pitchFamily="18" charset="0"/>
                <a:cs typeface="Segoe UI"/>
              </a:rPr>
              <a:t>tool</a:t>
            </a:r>
            <a:endParaRPr sz="1400" dirty="0">
              <a:latin typeface="Cambria" panose="02040503050406030204" pitchFamily="18" charset="0"/>
              <a:ea typeface="Cambria" panose="02040503050406030204" pitchFamily="18" charset="0"/>
              <a:cs typeface="Segoe UI"/>
            </a:endParaRPr>
          </a:p>
        </p:txBody>
      </p:sp>
      <p:pic>
        <p:nvPicPr>
          <p:cNvPr id="8" name="object 8"/>
          <p:cNvPicPr/>
          <p:nvPr/>
        </p:nvPicPr>
        <p:blipFill>
          <a:blip r:embed="rId2" cstate="print"/>
          <a:stretch>
            <a:fillRect/>
          </a:stretch>
        </p:blipFill>
        <p:spPr>
          <a:xfrm>
            <a:off x="4387850" y="2292350"/>
            <a:ext cx="2748026" cy="185642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6323571" y="4253943"/>
            <a:ext cx="78105" cy="100330"/>
          </a:xfrm>
          <a:prstGeom prst="rect">
            <a:avLst/>
          </a:prstGeom>
        </p:spPr>
        <p:txBody>
          <a:bodyPr vert="horz" wrap="square" lIns="0" tIns="0" rIns="0" bIns="0" rtlCol="0">
            <a:spAutoFit/>
          </a:bodyPr>
          <a:lstStyle/>
          <a:p>
            <a:pPr>
              <a:lnSpc>
                <a:spcPts val="745"/>
              </a:lnSpc>
            </a:pPr>
            <a:r>
              <a:rPr sz="650" spc="-50" dirty="0">
                <a:solidFill>
                  <a:srgbClr val="898989"/>
                </a:solidFill>
                <a:latin typeface="Calibri"/>
                <a:cs typeface="Calibri"/>
              </a:rPr>
              <a:t>19</a:t>
            </a:r>
            <a:endParaRPr sz="650" dirty="0">
              <a:latin typeface="Calibri"/>
              <a:cs typeface="Calibri"/>
            </a:endParaRPr>
          </a:p>
        </p:txBody>
      </p:sp>
      <p:sp>
        <p:nvSpPr>
          <p:cNvPr id="3" name="object 3"/>
          <p:cNvSpPr txBox="1"/>
          <p:nvPr/>
        </p:nvSpPr>
        <p:spPr>
          <a:xfrm>
            <a:off x="390548" y="387350"/>
            <a:ext cx="5597502" cy="17831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0000"/>
                </a:solidFill>
                <a:latin typeface="Cambria"/>
                <a:cs typeface="Cambria"/>
              </a:rPr>
              <a:t>Intelligent</a:t>
            </a:r>
            <a:r>
              <a:rPr sz="2200" b="1" spc="-45" dirty="0">
                <a:solidFill>
                  <a:srgbClr val="FF0000"/>
                </a:solidFill>
                <a:latin typeface="Cambria"/>
                <a:cs typeface="Cambria"/>
              </a:rPr>
              <a:t> </a:t>
            </a:r>
            <a:r>
              <a:rPr sz="2200" b="1" spc="-20" dirty="0">
                <a:solidFill>
                  <a:srgbClr val="FF0000"/>
                </a:solidFill>
                <a:latin typeface="Cambria"/>
                <a:cs typeface="Cambria"/>
              </a:rPr>
              <a:t>systems</a:t>
            </a:r>
            <a:r>
              <a:rPr sz="2200" b="1" spc="-40" dirty="0">
                <a:solidFill>
                  <a:srgbClr val="FF0000"/>
                </a:solidFill>
                <a:latin typeface="Cambria"/>
                <a:cs typeface="Cambria"/>
              </a:rPr>
              <a:t> </a:t>
            </a:r>
            <a:r>
              <a:rPr sz="2200" b="1" dirty="0">
                <a:solidFill>
                  <a:srgbClr val="FF0000"/>
                </a:solidFill>
                <a:latin typeface="Cambria"/>
                <a:cs typeface="Cambria"/>
              </a:rPr>
              <a:t>in</a:t>
            </a:r>
            <a:r>
              <a:rPr sz="2200" b="1" spc="-50" dirty="0">
                <a:solidFill>
                  <a:srgbClr val="FF0000"/>
                </a:solidFill>
                <a:latin typeface="Cambria"/>
                <a:cs typeface="Cambria"/>
              </a:rPr>
              <a:t> </a:t>
            </a:r>
            <a:r>
              <a:rPr sz="2200" b="1" spc="-10" dirty="0">
                <a:solidFill>
                  <a:srgbClr val="FF0000"/>
                </a:solidFill>
                <a:latin typeface="Cambria"/>
                <a:cs typeface="Cambria"/>
              </a:rPr>
              <a:t>business</a:t>
            </a:r>
            <a:endParaRPr sz="2200" dirty="0">
              <a:latin typeface="Cambria"/>
              <a:cs typeface="Cambria"/>
            </a:endParaRPr>
          </a:p>
          <a:p>
            <a:pPr marL="325120" marR="1830705" indent="-116839">
              <a:lnSpc>
                <a:spcPts val="1490"/>
              </a:lnSpc>
              <a:spcBef>
                <a:spcPts val="1185"/>
              </a:spcBef>
              <a:buFont typeface="Arial"/>
              <a:buChar char="•"/>
              <a:tabLst>
                <a:tab pos="325120" algn="l"/>
              </a:tabLst>
            </a:pPr>
            <a:r>
              <a:rPr sz="1350" b="1" dirty="0">
                <a:solidFill>
                  <a:srgbClr val="FF0000"/>
                </a:solidFill>
                <a:latin typeface="Cambria" panose="02040503050406030204" pitchFamily="18" charset="0"/>
                <a:ea typeface="Cambria" panose="02040503050406030204" pitchFamily="18" charset="0"/>
                <a:cs typeface="Tahoma"/>
              </a:rPr>
              <a:t>Amazon</a:t>
            </a:r>
            <a:r>
              <a:rPr sz="1350" b="1" spc="30" dirty="0">
                <a:solidFill>
                  <a:srgbClr val="FF0000"/>
                </a:solidFill>
                <a:latin typeface="Cambria" panose="02040503050406030204" pitchFamily="18" charset="0"/>
                <a:ea typeface="Cambria" panose="02040503050406030204" pitchFamily="18" charset="0"/>
                <a:cs typeface="Tahoma"/>
              </a:rPr>
              <a:t> </a:t>
            </a:r>
            <a:r>
              <a:rPr sz="1350" dirty="0">
                <a:solidFill>
                  <a:srgbClr val="171717"/>
                </a:solidFill>
                <a:latin typeface="Cambria" panose="02040503050406030204" pitchFamily="18" charset="0"/>
                <a:ea typeface="Cambria" panose="02040503050406030204" pitchFamily="18" charset="0"/>
                <a:cs typeface="Tahoma"/>
              </a:rPr>
              <a:t>is using AI</a:t>
            </a:r>
            <a:r>
              <a:rPr sz="1350" spc="15" dirty="0">
                <a:solidFill>
                  <a:srgbClr val="171717"/>
                </a:solidFill>
                <a:latin typeface="Cambria" panose="02040503050406030204" pitchFamily="18" charset="0"/>
                <a:ea typeface="Cambria" panose="02040503050406030204" pitchFamily="18" charset="0"/>
                <a:cs typeface="Tahoma"/>
              </a:rPr>
              <a:t> </a:t>
            </a:r>
            <a:r>
              <a:rPr sz="1350" spc="-25" dirty="0">
                <a:solidFill>
                  <a:srgbClr val="171717"/>
                </a:solidFill>
                <a:latin typeface="Cambria" panose="02040503050406030204" pitchFamily="18" charset="0"/>
                <a:ea typeface="Cambria" panose="02040503050406030204" pitchFamily="18" charset="0"/>
                <a:cs typeface="Tahoma"/>
              </a:rPr>
              <a:t>to </a:t>
            </a:r>
            <a:r>
              <a:rPr sz="1350" dirty="0">
                <a:solidFill>
                  <a:srgbClr val="171717"/>
                </a:solidFill>
                <a:latin typeface="Cambria" panose="02040503050406030204" pitchFamily="18" charset="0"/>
                <a:ea typeface="Cambria" panose="02040503050406030204" pitchFamily="18" charset="0"/>
                <a:cs typeface="Tahoma"/>
              </a:rPr>
              <a:t>speed</a:t>
            </a:r>
            <a:r>
              <a:rPr sz="1350" spc="-15" dirty="0">
                <a:solidFill>
                  <a:srgbClr val="171717"/>
                </a:solidFill>
                <a:latin typeface="Cambria" panose="02040503050406030204" pitchFamily="18" charset="0"/>
                <a:ea typeface="Cambria" panose="02040503050406030204" pitchFamily="18" charset="0"/>
                <a:cs typeface="Tahoma"/>
              </a:rPr>
              <a:t> </a:t>
            </a:r>
            <a:r>
              <a:rPr sz="1350" dirty="0">
                <a:solidFill>
                  <a:srgbClr val="171717"/>
                </a:solidFill>
                <a:latin typeface="Cambria" panose="02040503050406030204" pitchFamily="18" charset="0"/>
                <a:ea typeface="Cambria" panose="02040503050406030204" pitchFamily="18" charset="0"/>
                <a:cs typeface="Tahoma"/>
              </a:rPr>
              <a:t>up</a:t>
            </a:r>
            <a:r>
              <a:rPr sz="1350" spc="-10" dirty="0">
                <a:solidFill>
                  <a:srgbClr val="171717"/>
                </a:solidFill>
                <a:latin typeface="Cambria" panose="02040503050406030204" pitchFamily="18" charset="0"/>
                <a:ea typeface="Cambria" panose="02040503050406030204" pitchFamily="18" charset="0"/>
                <a:cs typeface="Tahoma"/>
              </a:rPr>
              <a:t> deliveries:</a:t>
            </a:r>
            <a:endParaRPr sz="1350" dirty="0">
              <a:latin typeface="Cambria" panose="02040503050406030204" pitchFamily="18" charset="0"/>
              <a:ea typeface="Cambria" panose="02040503050406030204" pitchFamily="18" charset="0"/>
              <a:cs typeface="Tahoma"/>
            </a:endParaRPr>
          </a:p>
          <a:p>
            <a:pPr marL="325120" marR="1704339" indent="-116839">
              <a:lnSpc>
                <a:spcPct val="90800"/>
              </a:lnSpc>
              <a:spcBef>
                <a:spcPts val="560"/>
              </a:spcBef>
              <a:buFont typeface="Arial"/>
              <a:buChar char="•"/>
              <a:tabLst>
                <a:tab pos="325120" algn="l"/>
              </a:tabLst>
            </a:pPr>
            <a:r>
              <a:rPr sz="1350" spc="-10" dirty="0">
                <a:solidFill>
                  <a:srgbClr val="171717"/>
                </a:solidFill>
                <a:latin typeface="Cambria" panose="02040503050406030204" pitchFamily="18" charset="0"/>
                <a:ea typeface="Cambria" panose="02040503050406030204" pitchFamily="18" charset="0"/>
                <a:cs typeface="Tahoma"/>
              </a:rPr>
              <a:t>Amazon’s </a:t>
            </a:r>
            <a:r>
              <a:rPr sz="1350" dirty="0">
                <a:solidFill>
                  <a:srgbClr val="171717"/>
                </a:solidFill>
                <a:latin typeface="Cambria" panose="02040503050406030204" pitchFamily="18" charset="0"/>
                <a:ea typeface="Cambria" panose="02040503050406030204" pitchFamily="18" charset="0"/>
                <a:cs typeface="Tahoma"/>
              </a:rPr>
              <a:t>“regionalization”:</a:t>
            </a:r>
            <a:r>
              <a:rPr sz="1350" spc="-20" dirty="0">
                <a:solidFill>
                  <a:srgbClr val="171717"/>
                </a:solidFill>
                <a:latin typeface="Cambria" panose="02040503050406030204" pitchFamily="18" charset="0"/>
                <a:ea typeface="Cambria" panose="02040503050406030204" pitchFamily="18" charset="0"/>
                <a:cs typeface="Tahoma"/>
              </a:rPr>
              <a:t> ship </a:t>
            </a:r>
            <a:r>
              <a:rPr sz="1350" dirty="0">
                <a:solidFill>
                  <a:srgbClr val="171717"/>
                </a:solidFill>
                <a:latin typeface="Cambria" panose="02040503050406030204" pitchFamily="18" charset="0"/>
                <a:ea typeface="Cambria" panose="02040503050406030204" pitchFamily="18" charset="0"/>
                <a:cs typeface="Tahoma"/>
              </a:rPr>
              <a:t>products</a:t>
            </a:r>
            <a:r>
              <a:rPr sz="1350" spc="-5" dirty="0">
                <a:solidFill>
                  <a:srgbClr val="171717"/>
                </a:solidFill>
                <a:latin typeface="Cambria" panose="02040503050406030204" pitchFamily="18" charset="0"/>
                <a:ea typeface="Cambria" panose="02040503050406030204" pitchFamily="18" charset="0"/>
                <a:cs typeface="Tahoma"/>
              </a:rPr>
              <a:t> </a:t>
            </a:r>
            <a:r>
              <a:rPr sz="1350" dirty="0">
                <a:solidFill>
                  <a:srgbClr val="171717"/>
                </a:solidFill>
                <a:latin typeface="Cambria" panose="02040503050406030204" pitchFamily="18" charset="0"/>
                <a:ea typeface="Cambria" panose="02040503050406030204" pitchFamily="18" charset="0"/>
                <a:cs typeface="Tahoma"/>
              </a:rPr>
              <a:t>to </a:t>
            </a:r>
            <a:r>
              <a:rPr sz="1350" spc="-10" dirty="0">
                <a:solidFill>
                  <a:srgbClr val="171717"/>
                </a:solidFill>
                <a:latin typeface="Cambria" panose="02040503050406030204" pitchFamily="18" charset="0"/>
                <a:ea typeface="Cambria" panose="02040503050406030204" pitchFamily="18" charset="0"/>
                <a:cs typeface="Tahoma"/>
              </a:rPr>
              <a:t>customers </a:t>
            </a:r>
            <a:r>
              <a:rPr sz="1350" dirty="0">
                <a:solidFill>
                  <a:srgbClr val="171717"/>
                </a:solidFill>
                <a:latin typeface="Cambria" panose="02040503050406030204" pitchFamily="18" charset="0"/>
                <a:ea typeface="Cambria" panose="02040503050406030204" pitchFamily="18" charset="0"/>
                <a:cs typeface="Tahoma"/>
              </a:rPr>
              <a:t>from</a:t>
            </a:r>
            <a:r>
              <a:rPr sz="1350" spc="-20" dirty="0">
                <a:solidFill>
                  <a:srgbClr val="171717"/>
                </a:solidFill>
                <a:latin typeface="Cambria" panose="02040503050406030204" pitchFamily="18" charset="0"/>
                <a:ea typeface="Cambria" panose="02040503050406030204" pitchFamily="18" charset="0"/>
                <a:cs typeface="Tahoma"/>
              </a:rPr>
              <a:t> </a:t>
            </a:r>
            <a:r>
              <a:rPr sz="1350" dirty="0">
                <a:solidFill>
                  <a:srgbClr val="171717"/>
                </a:solidFill>
                <a:latin typeface="Cambria" panose="02040503050406030204" pitchFamily="18" charset="0"/>
                <a:ea typeface="Cambria" panose="02040503050406030204" pitchFamily="18" charset="0"/>
                <a:cs typeface="Tahoma"/>
              </a:rPr>
              <a:t>warehouses</a:t>
            </a:r>
            <a:r>
              <a:rPr sz="1350" spc="-25" dirty="0">
                <a:solidFill>
                  <a:srgbClr val="171717"/>
                </a:solidFill>
                <a:latin typeface="Cambria" panose="02040503050406030204" pitchFamily="18" charset="0"/>
                <a:ea typeface="Cambria" panose="02040503050406030204" pitchFamily="18" charset="0"/>
                <a:cs typeface="Tahoma"/>
              </a:rPr>
              <a:t> </a:t>
            </a:r>
            <a:r>
              <a:rPr sz="1350" spc="-10" dirty="0">
                <a:solidFill>
                  <a:srgbClr val="171717"/>
                </a:solidFill>
                <a:latin typeface="Cambria" panose="02040503050406030204" pitchFamily="18" charset="0"/>
                <a:ea typeface="Cambria" panose="02040503050406030204" pitchFamily="18" charset="0"/>
                <a:cs typeface="Tahoma"/>
              </a:rPr>
              <a:t>closest </a:t>
            </a:r>
            <a:r>
              <a:rPr sz="1350" dirty="0">
                <a:solidFill>
                  <a:srgbClr val="171717"/>
                </a:solidFill>
                <a:latin typeface="Cambria" panose="02040503050406030204" pitchFamily="18" charset="0"/>
                <a:ea typeface="Cambria" panose="02040503050406030204" pitchFamily="18" charset="0"/>
                <a:cs typeface="Tahoma"/>
              </a:rPr>
              <a:t>to</a:t>
            </a:r>
            <a:r>
              <a:rPr sz="1350" spc="10" dirty="0">
                <a:solidFill>
                  <a:srgbClr val="171717"/>
                </a:solidFill>
                <a:latin typeface="Cambria" panose="02040503050406030204" pitchFamily="18" charset="0"/>
                <a:ea typeface="Cambria" panose="02040503050406030204" pitchFamily="18" charset="0"/>
                <a:cs typeface="Tahoma"/>
              </a:rPr>
              <a:t> </a:t>
            </a:r>
            <a:r>
              <a:rPr sz="1350" spc="-20" dirty="0">
                <a:solidFill>
                  <a:srgbClr val="171717"/>
                </a:solidFill>
                <a:latin typeface="Cambria" panose="02040503050406030204" pitchFamily="18" charset="0"/>
                <a:ea typeface="Cambria" panose="02040503050406030204" pitchFamily="18" charset="0"/>
                <a:cs typeface="Tahoma"/>
              </a:rPr>
              <a:t>them</a:t>
            </a:r>
            <a:endParaRPr sz="1350" dirty="0">
              <a:latin typeface="Cambria" panose="02040503050406030204" pitchFamily="18" charset="0"/>
              <a:ea typeface="Cambria" panose="02040503050406030204" pitchFamily="18" charset="0"/>
              <a:cs typeface="Tahoma"/>
            </a:endParaRPr>
          </a:p>
          <a:p>
            <a:pPr marL="325120" marR="1871980" indent="-116839">
              <a:lnSpc>
                <a:spcPct val="91000"/>
              </a:lnSpc>
              <a:spcBef>
                <a:spcPts val="525"/>
              </a:spcBef>
              <a:buFont typeface="Arial"/>
              <a:buChar char="•"/>
              <a:tabLst>
                <a:tab pos="325120" algn="l"/>
              </a:tabLst>
            </a:pPr>
            <a:r>
              <a:rPr sz="1350" spc="-10" dirty="0">
                <a:solidFill>
                  <a:srgbClr val="171717"/>
                </a:solidFill>
                <a:latin typeface="Cambria" panose="02040503050406030204" pitchFamily="18" charset="0"/>
                <a:ea typeface="Cambria" panose="02040503050406030204" pitchFamily="18" charset="0"/>
                <a:cs typeface="Tahoma"/>
              </a:rPr>
              <a:t>AI-</a:t>
            </a:r>
            <a:r>
              <a:rPr sz="1350" dirty="0">
                <a:solidFill>
                  <a:srgbClr val="171717"/>
                </a:solidFill>
                <a:latin typeface="Cambria" panose="02040503050406030204" pitchFamily="18" charset="0"/>
                <a:ea typeface="Cambria" panose="02040503050406030204" pitchFamily="18" charset="0"/>
                <a:cs typeface="Tahoma"/>
              </a:rPr>
              <a:t>enabled </a:t>
            </a:r>
            <a:r>
              <a:rPr sz="1350" spc="-10" dirty="0">
                <a:solidFill>
                  <a:srgbClr val="171717"/>
                </a:solidFill>
                <a:latin typeface="Cambria" panose="02040503050406030204" pitchFamily="18" charset="0"/>
                <a:ea typeface="Cambria" panose="02040503050406030204" pitchFamily="18" charset="0"/>
                <a:cs typeface="Tahoma"/>
              </a:rPr>
              <a:t>technology </a:t>
            </a:r>
            <a:r>
              <a:rPr sz="1350" dirty="0">
                <a:solidFill>
                  <a:srgbClr val="171717"/>
                </a:solidFill>
                <a:latin typeface="Cambria" panose="02040503050406030204" pitchFamily="18" charset="0"/>
                <a:ea typeface="Cambria" panose="02040503050406030204" pitchFamily="18" charset="0"/>
                <a:cs typeface="Tahoma"/>
              </a:rPr>
              <a:t>to</a:t>
            </a:r>
            <a:r>
              <a:rPr sz="1350" spc="-5" dirty="0">
                <a:solidFill>
                  <a:srgbClr val="171717"/>
                </a:solidFill>
                <a:latin typeface="Cambria" panose="02040503050406030204" pitchFamily="18" charset="0"/>
                <a:ea typeface="Cambria" panose="02040503050406030204" pitchFamily="18" charset="0"/>
                <a:cs typeface="Tahoma"/>
              </a:rPr>
              <a:t> </a:t>
            </a:r>
            <a:r>
              <a:rPr sz="1350" dirty="0">
                <a:solidFill>
                  <a:srgbClr val="171717"/>
                </a:solidFill>
                <a:latin typeface="Cambria" panose="02040503050406030204" pitchFamily="18" charset="0"/>
                <a:ea typeface="Cambria" panose="02040503050406030204" pitchFamily="18" charset="0"/>
                <a:cs typeface="Tahoma"/>
              </a:rPr>
              <a:t>analyze data </a:t>
            </a:r>
            <a:r>
              <a:rPr sz="1350" spc="-25" dirty="0">
                <a:solidFill>
                  <a:srgbClr val="171717"/>
                </a:solidFill>
                <a:latin typeface="Cambria" panose="02040503050406030204" pitchFamily="18" charset="0"/>
                <a:ea typeface="Cambria" panose="02040503050406030204" pitchFamily="18" charset="0"/>
                <a:cs typeface="Tahoma"/>
              </a:rPr>
              <a:t>and </a:t>
            </a:r>
            <a:r>
              <a:rPr sz="1350" dirty="0">
                <a:solidFill>
                  <a:srgbClr val="171717"/>
                </a:solidFill>
                <a:latin typeface="Cambria" panose="02040503050406030204" pitchFamily="18" charset="0"/>
                <a:ea typeface="Cambria" panose="02040503050406030204" pitchFamily="18" charset="0"/>
                <a:cs typeface="Tahoma"/>
              </a:rPr>
              <a:t>patterns</a:t>
            </a:r>
            <a:r>
              <a:rPr sz="1350" spc="-10" dirty="0">
                <a:solidFill>
                  <a:srgbClr val="171717"/>
                </a:solidFill>
                <a:latin typeface="Cambria" panose="02040503050406030204" pitchFamily="18" charset="0"/>
                <a:ea typeface="Cambria" panose="02040503050406030204" pitchFamily="18" charset="0"/>
                <a:cs typeface="Tahoma"/>
              </a:rPr>
              <a:t> </a:t>
            </a:r>
            <a:r>
              <a:rPr sz="1350" dirty="0">
                <a:solidFill>
                  <a:srgbClr val="171717"/>
                </a:solidFill>
                <a:latin typeface="Cambria" panose="02040503050406030204" pitchFamily="18" charset="0"/>
                <a:ea typeface="Cambria" panose="02040503050406030204" pitchFamily="18" charset="0"/>
                <a:cs typeface="Tahoma"/>
              </a:rPr>
              <a:t>in order</a:t>
            </a:r>
            <a:r>
              <a:rPr sz="1350" spc="-5" dirty="0">
                <a:solidFill>
                  <a:srgbClr val="171717"/>
                </a:solidFill>
                <a:latin typeface="Cambria" panose="02040503050406030204" pitchFamily="18" charset="0"/>
                <a:ea typeface="Cambria" panose="02040503050406030204" pitchFamily="18" charset="0"/>
                <a:cs typeface="Tahoma"/>
              </a:rPr>
              <a:t> </a:t>
            </a:r>
            <a:r>
              <a:rPr sz="1350" spc="-25" dirty="0">
                <a:solidFill>
                  <a:srgbClr val="171717"/>
                </a:solidFill>
                <a:latin typeface="Cambria" panose="02040503050406030204" pitchFamily="18" charset="0"/>
                <a:ea typeface="Cambria" panose="02040503050406030204" pitchFamily="18" charset="0"/>
                <a:cs typeface="Tahoma"/>
              </a:rPr>
              <a:t>to </a:t>
            </a:r>
            <a:r>
              <a:rPr sz="1350" dirty="0">
                <a:solidFill>
                  <a:srgbClr val="171717"/>
                </a:solidFill>
                <a:latin typeface="Cambria" panose="02040503050406030204" pitchFamily="18" charset="0"/>
                <a:ea typeface="Cambria" panose="02040503050406030204" pitchFamily="18" charset="0"/>
                <a:cs typeface="Tahoma"/>
              </a:rPr>
              <a:t>predict</a:t>
            </a:r>
            <a:r>
              <a:rPr sz="1350" spc="-5" dirty="0">
                <a:solidFill>
                  <a:srgbClr val="171717"/>
                </a:solidFill>
                <a:latin typeface="Cambria" panose="02040503050406030204" pitchFamily="18" charset="0"/>
                <a:ea typeface="Cambria" panose="02040503050406030204" pitchFamily="18" charset="0"/>
                <a:cs typeface="Tahoma"/>
              </a:rPr>
              <a:t> </a:t>
            </a:r>
            <a:r>
              <a:rPr sz="1350" dirty="0">
                <a:solidFill>
                  <a:srgbClr val="171717"/>
                </a:solidFill>
                <a:latin typeface="Cambria" panose="02040503050406030204" pitchFamily="18" charset="0"/>
                <a:ea typeface="Cambria" panose="02040503050406030204" pitchFamily="18" charset="0"/>
                <a:cs typeface="Tahoma"/>
              </a:rPr>
              <a:t>what</a:t>
            </a:r>
            <a:r>
              <a:rPr sz="1350" spc="-5" dirty="0">
                <a:solidFill>
                  <a:srgbClr val="171717"/>
                </a:solidFill>
                <a:latin typeface="Cambria" panose="02040503050406030204" pitchFamily="18" charset="0"/>
                <a:ea typeface="Cambria" panose="02040503050406030204" pitchFamily="18" charset="0"/>
                <a:cs typeface="Tahoma"/>
              </a:rPr>
              <a:t> </a:t>
            </a:r>
            <a:r>
              <a:rPr sz="1350" spc="-10" dirty="0">
                <a:solidFill>
                  <a:srgbClr val="171717"/>
                </a:solidFill>
                <a:latin typeface="Cambria" panose="02040503050406030204" pitchFamily="18" charset="0"/>
                <a:ea typeface="Cambria" panose="02040503050406030204" pitchFamily="18" charset="0"/>
                <a:cs typeface="Tahoma"/>
              </a:rPr>
              <a:t>products </a:t>
            </a:r>
            <a:r>
              <a:rPr sz="1350" dirty="0">
                <a:solidFill>
                  <a:srgbClr val="171717"/>
                </a:solidFill>
                <a:latin typeface="Cambria" panose="02040503050406030204" pitchFamily="18" charset="0"/>
                <a:ea typeface="Cambria" panose="02040503050406030204" pitchFamily="18" charset="0"/>
                <a:cs typeface="Tahoma"/>
              </a:rPr>
              <a:t>will be in</a:t>
            </a:r>
            <a:r>
              <a:rPr sz="1350" spc="-5" dirty="0">
                <a:solidFill>
                  <a:srgbClr val="171717"/>
                </a:solidFill>
                <a:latin typeface="Cambria" panose="02040503050406030204" pitchFamily="18" charset="0"/>
                <a:ea typeface="Cambria" panose="02040503050406030204" pitchFamily="18" charset="0"/>
                <a:cs typeface="Tahoma"/>
              </a:rPr>
              <a:t> </a:t>
            </a:r>
            <a:r>
              <a:rPr sz="1350" dirty="0">
                <a:solidFill>
                  <a:srgbClr val="171717"/>
                </a:solidFill>
                <a:latin typeface="Cambria" panose="02040503050406030204" pitchFamily="18" charset="0"/>
                <a:ea typeface="Cambria" panose="02040503050406030204" pitchFamily="18" charset="0"/>
                <a:cs typeface="Tahoma"/>
              </a:rPr>
              <a:t>demand</a:t>
            </a:r>
            <a:r>
              <a:rPr sz="1350" spc="-5" dirty="0">
                <a:solidFill>
                  <a:srgbClr val="171717"/>
                </a:solidFill>
                <a:latin typeface="Cambria" panose="02040503050406030204" pitchFamily="18" charset="0"/>
                <a:ea typeface="Cambria" panose="02040503050406030204" pitchFamily="18" charset="0"/>
                <a:cs typeface="Tahoma"/>
              </a:rPr>
              <a:t> </a:t>
            </a:r>
            <a:r>
              <a:rPr sz="1350" spc="-25" dirty="0">
                <a:solidFill>
                  <a:srgbClr val="171717"/>
                </a:solidFill>
                <a:latin typeface="Cambria" panose="02040503050406030204" pitchFamily="18" charset="0"/>
                <a:ea typeface="Cambria" panose="02040503050406030204" pitchFamily="18" charset="0"/>
                <a:cs typeface="Tahoma"/>
              </a:rPr>
              <a:t>and </a:t>
            </a:r>
            <a:r>
              <a:rPr sz="1350" spc="-10" dirty="0">
                <a:solidFill>
                  <a:srgbClr val="171717"/>
                </a:solidFill>
                <a:latin typeface="Cambria" panose="02040503050406030204" pitchFamily="18" charset="0"/>
                <a:ea typeface="Cambria" panose="02040503050406030204" pitchFamily="18" charset="0"/>
                <a:cs typeface="Tahoma"/>
              </a:rPr>
              <a:t>where</a:t>
            </a:r>
            <a:endParaRPr sz="1350" dirty="0">
              <a:latin typeface="Cambria" panose="02040503050406030204" pitchFamily="18" charset="0"/>
              <a:ea typeface="Cambria" panose="02040503050406030204" pitchFamily="18" charset="0"/>
              <a:cs typeface="Tahoma"/>
            </a:endParaRPr>
          </a:p>
        </p:txBody>
      </p:sp>
      <p:grpSp>
        <p:nvGrpSpPr>
          <p:cNvPr id="5" name="object 5"/>
          <p:cNvGrpSpPr/>
          <p:nvPr/>
        </p:nvGrpSpPr>
        <p:grpSpPr>
          <a:xfrm>
            <a:off x="3473450" y="920750"/>
            <a:ext cx="3612515" cy="3100070"/>
            <a:chOff x="3189604" y="1326184"/>
            <a:chExt cx="3612515" cy="3100070"/>
          </a:xfrm>
        </p:grpSpPr>
        <p:pic>
          <p:nvPicPr>
            <p:cNvPr id="6" name="object 6"/>
            <p:cNvPicPr/>
            <p:nvPr/>
          </p:nvPicPr>
          <p:blipFill>
            <a:blip r:embed="rId2" cstate="print"/>
            <a:stretch>
              <a:fillRect/>
            </a:stretch>
          </p:blipFill>
          <p:spPr>
            <a:xfrm>
              <a:off x="4643640" y="1326184"/>
              <a:ext cx="2158377" cy="1551419"/>
            </a:xfrm>
            <a:prstGeom prst="rect">
              <a:avLst/>
            </a:prstGeom>
          </p:spPr>
        </p:pic>
        <p:pic>
          <p:nvPicPr>
            <p:cNvPr id="7" name="object 7"/>
            <p:cNvPicPr/>
            <p:nvPr/>
          </p:nvPicPr>
          <p:blipFill>
            <a:blip r:embed="rId3" cstate="print"/>
            <a:stretch>
              <a:fillRect/>
            </a:stretch>
          </p:blipFill>
          <p:spPr>
            <a:xfrm>
              <a:off x="3189604" y="2721051"/>
              <a:ext cx="2719920" cy="1704898"/>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object 8"/>
          <p:cNvSpPr txBox="1"/>
          <p:nvPr/>
        </p:nvSpPr>
        <p:spPr>
          <a:xfrm>
            <a:off x="6310871" y="3862666"/>
            <a:ext cx="103505" cy="124460"/>
          </a:xfrm>
          <a:prstGeom prst="rect">
            <a:avLst/>
          </a:prstGeom>
        </p:spPr>
        <p:txBody>
          <a:bodyPr vert="horz" wrap="square" lIns="0" tIns="12065" rIns="0" bIns="0" rtlCol="0">
            <a:spAutoFit/>
          </a:bodyPr>
          <a:lstStyle/>
          <a:p>
            <a:pPr marL="12700">
              <a:lnSpc>
                <a:spcPct val="100000"/>
              </a:lnSpc>
              <a:spcBef>
                <a:spcPts val="95"/>
              </a:spcBef>
            </a:pPr>
            <a:r>
              <a:rPr sz="650" spc="-25" dirty="0">
                <a:solidFill>
                  <a:srgbClr val="898989"/>
                </a:solidFill>
                <a:latin typeface="Calibri"/>
                <a:cs typeface="Calibri"/>
              </a:rPr>
              <a:t>20</a:t>
            </a:r>
            <a:endParaRPr sz="650" dirty="0">
              <a:latin typeface="Calibri"/>
              <a:cs typeface="Calibri"/>
            </a:endParaRPr>
          </a:p>
        </p:txBody>
      </p:sp>
      <p:sp>
        <p:nvSpPr>
          <p:cNvPr id="9" name="object 9"/>
          <p:cNvSpPr txBox="1"/>
          <p:nvPr/>
        </p:nvSpPr>
        <p:spPr>
          <a:xfrm>
            <a:off x="397002" y="234950"/>
            <a:ext cx="6276848" cy="1947200"/>
          </a:xfrm>
          <a:prstGeom prst="rect">
            <a:avLst/>
          </a:prstGeom>
        </p:spPr>
        <p:txBody>
          <a:bodyPr vert="horz" wrap="square" lIns="0" tIns="115570" rIns="0" bIns="0" rtlCol="0">
            <a:spAutoFit/>
          </a:bodyPr>
          <a:lstStyle/>
          <a:p>
            <a:pPr marL="110489">
              <a:lnSpc>
                <a:spcPct val="100000"/>
              </a:lnSpc>
              <a:spcBef>
                <a:spcPts val="910"/>
              </a:spcBef>
            </a:pPr>
            <a:r>
              <a:rPr sz="2200" b="1" spc="-10" dirty="0">
                <a:solidFill>
                  <a:srgbClr val="FF0000"/>
                </a:solidFill>
                <a:latin typeface="Cambria"/>
                <a:cs typeface="Cambria"/>
              </a:rPr>
              <a:t>Intelligent</a:t>
            </a:r>
            <a:r>
              <a:rPr sz="2200" b="1" spc="-45" dirty="0">
                <a:solidFill>
                  <a:srgbClr val="FF0000"/>
                </a:solidFill>
                <a:latin typeface="Cambria"/>
                <a:cs typeface="Cambria"/>
              </a:rPr>
              <a:t> </a:t>
            </a:r>
            <a:r>
              <a:rPr sz="2200" b="1" spc="-20" dirty="0">
                <a:solidFill>
                  <a:srgbClr val="FF0000"/>
                </a:solidFill>
                <a:latin typeface="Cambria"/>
                <a:cs typeface="Cambria"/>
              </a:rPr>
              <a:t>systems</a:t>
            </a:r>
            <a:r>
              <a:rPr sz="2200" b="1" spc="-40" dirty="0">
                <a:solidFill>
                  <a:srgbClr val="FF0000"/>
                </a:solidFill>
                <a:latin typeface="Cambria"/>
                <a:cs typeface="Cambria"/>
              </a:rPr>
              <a:t> </a:t>
            </a:r>
            <a:r>
              <a:rPr sz="2200" b="1" dirty="0">
                <a:solidFill>
                  <a:srgbClr val="FF0000"/>
                </a:solidFill>
                <a:latin typeface="Cambria"/>
                <a:cs typeface="Cambria"/>
              </a:rPr>
              <a:t>in</a:t>
            </a:r>
            <a:r>
              <a:rPr sz="2200" b="1" spc="-50" dirty="0">
                <a:solidFill>
                  <a:srgbClr val="FF0000"/>
                </a:solidFill>
                <a:latin typeface="Cambria"/>
                <a:cs typeface="Cambria"/>
              </a:rPr>
              <a:t> </a:t>
            </a:r>
            <a:r>
              <a:rPr sz="2200" b="1" spc="-10" dirty="0">
                <a:solidFill>
                  <a:srgbClr val="FF0000"/>
                </a:solidFill>
                <a:latin typeface="Cambria"/>
                <a:cs typeface="Cambria"/>
              </a:rPr>
              <a:t>business</a:t>
            </a:r>
            <a:endParaRPr sz="2200" dirty="0">
              <a:latin typeface="Cambria"/>
              <a:cs typeface="Cambria"/>
            </a:endParaRPr>
          </a:p>
          <a:p>
            <a:pPr marL="128270" indent="-115570">
              <a:lnSpc>
                <a:spcPts val="2265"/>
              </a:lnSpc>
              <a:spcBef>
                <a:spcPts val="760"/>
              </a:spcBef>
              <a:buFont typeface="Arial"/>
              <a:buChar char="•"/>
              <a:tabLst>
                <a:tab pos="128270" algn="l"/>
              </a:tabLst>
            </a:pPr>
            <a:r>
              <a:rPr sz="1900" spc="-10" dirty="0">
                <a:solidFill>
                  <a:srgbClr val="FF0000"/>
                </a:solidFill>
                <a:latin typeface="Cambria" panose="02040503050406030204" pitchFamily="18" charset="0"/>
                <a:ea typeface="Cambria" panose="02040503050406030204" pitchFamily="18" charset="0"/>
                <a:cs typeface="Calibri"/>
              </a:rPr>
              <a:t>Walmart:</a:t>
            </a:r>
            <a:endParaRPr sz="1900" dirty="0">
              <a:latin typeface="Cambria" panose="02040503050406030204" pitchFamily="18" charset="0"/>
              <a:ea typeface="Cambria" panose="02040503050406030204" pitchFamily="18" charset="0"/>
              <a:cs typeface="Calibri"/>
            </a:endParaRPr>
          </a:p>
          <a:p>
            <a:pPr marL="362585" marR="2404745" lvl="1" indent="-116839">
              <a:lnSpc>
                <a:spcPct val="82300"/>
              </a:lnSpc>
              <a:spcBef>
                <a:spcPts val="335"/>
              </a:spcBef>
              <a:buFont typeface="Arial"/>
              <a:buChar char="•"/>
              <a:tabLst>
                <a:tab pos="362585" algn="l"/>
              </a:tabLst>
            </a:pPr>
            <a:r>
              <a:rPr sz="1650" dirty="0">
                <a:latin typeface="Cambria" panose="02040503050406030204" pitchFamily="18" charset="0"/>
                <a:ea typeface="Cambria" panose="02040503050406030204" pitchFamily="18" charset="0"/>
                <a:cs typeface="Calibri"/>
              </a:rPr>
              <a:t>Using</a:t>
            </a:r>
            <a:r>
              <a:rPr sz="1650" spc="95" dirty="0">
                <a:latin typeface="Cambria" panose="02040503050406030204" pitchFamily="18" charset="0"/>
                <a:ea typeface="Cambria" panose="02040503050406030204" pitchFamily="18" charset="0"/>
                <a:cs typeface="Calibri"/>
              </a:rPr>
              <a:t> </a:t>
            </a:r>
            <a:r>
              <a:rPr sz="1650" dirty="0">
                <a:latin typeface="Cambria" panose="02040503050406030204" pitchFamily="18" charset="0"/>
                <a:ea typeface="Cambria" panose="02040503050406030204" pitchFamily="18" charset="0"/>
                <a:cs typeface="Calibri"/>
              </a:rPr>
              <a:t>A.I.</a:t>
            </a:r>
            <a:r>
              <a:rPr sz="1650" spc="90" dirty="0">
                <a:latin typeface="Cambria" panose="02040503050406030204" pitchFamily="18" charset="0"/>
                <a:ea typeface="Cambria" panose="02040503050406030204" pitchFamily="18" charset="0"/>
                <a:cs typeface="Calibri"/>
              </a:rPr>
              <a:t> </a:t>
            </a:r>
            <a:r>
              <a:rPr sz="1650" spc="-25" dirty="0">
                <a:latin typeface="Cambria" panose="02040503050406030204" pitchFamily="18" charset="0"/>
                <a:ea typeface="Cambria" panose="02040503050406030204" pitchFamily="18" charset="0"/>
                <a:cs typeface="Calibri"/>
              </a:rPr>
              <a:t>To </a:t>
            </a:r>
            <a:r>
              <a:rPr sz="1650" dirty="0">
                <a:latin typeface="Cambria" panose="02040503050406030204" pitchFamily="18" charset="0"/>
                <a:ea typeface="Cambria" panose="02040503050406030204" pitchFamily="18" charset="0"/>
                <a:cs typeface="Calibri"/>
              </a:rPr>
              <a:t>Make</a:t>
            </a:r>
            <a:r>
              <a:rPr sz="1650" spc="45" dirty="0">
                <a:latin typeface="Cambria" panose="02040503050406030204" pitchFamily="18" charset="0"/>
                <a:ea typeface="Cambria" panose="02040503050406030204" pitchFamily="18" charset="0"/>
                <a:cs typeface="Calibri"/>
              </a:rPr>
              <a:t> </a:t>
            </a:r>
            <a:r>
              <a:rPr sz="1650" spc="-10" dirty="0">
                <a:latin typeface="Cambria" panose="02040503050406030204" pitchFamily="18" charset="0"/>
                <a:ea typeface="Cambria" panose="02040503050406030204" pitchFamily="18" charset="0"/>
                <a:cs typeface="Calibri"/>
              </a:rPr>
              <a:t>Smarter Substitutions </a:t>
            </a:r>
            <a:r>
              <a:rPr sz="1650" dirty="0">
                <a:latin typeface="Cambria" panose="02040503050406030204" pitchFamily="18" charset="0"/>
                <a:ea typeface="Cambria" panose="02040503050406030204" pitchFamily="18" charset="0"/>
                <a:cs typeface="Calibri"/>
              </a:rPr>
              <a:t>in</a:t>
            </a:r>
            <a:r>
              <a:rPr sz="1650" spc="45" dirty="0">
                <a:latin typeface="Cambria" panose="02040503050406030204" pitchFamily="18" charset="0"/>
                <a:ea typeface="Cambria" panose="02040503050406030204" pitchFamily="18" charset="0"/>
                <a:cs typeface="Calibri"/>
              </a:rPr>
              <a:t> </a:t>
            </a:r>
            <a:r>
              <a:rPr sz="1650" spc="-10" dirty="0">
                <a:latin typeface="Cambria" panose="02040503050406030204" pitchFamily="18" charset="0"/>
                <a:ea typeface="Cambria" panose="02040503050406030204" pitchFamily="18" charset="0"/>
                <a:cs typeface="Calibri"/>
              </a:rPr>
              <a:t>Online Grocery Orders</a:t>
            </a:r>
            <a:endParaRPr sz="1650" dirty="0">
              <a:latin typeface="Cambria" panose="02040503050406030204" pitchFamily="18" charset="0"/>
              <a:ea typeface="Cambria" panose="02040503050406030204" pitchFamily="18" charset="0"/>
              <a:cs typeface="Calibri"/>
            </a:endParaRPr>
          </a:p>
          <a:p>
            <a:pPr marL="362585" marR="2387600" lvl="1" indent="-116839">
              <a:lnSpc>
                <a:spcPct val="82700"/>
              </a:lnSpc>
              <a:spcBef>
                <a:spcPts val="1720"/>
              </a:spcBef>
              <a:buFont typeface="Arial"/>
              <a:buChar char="•"/>
              <a:tabLst>
                <a:tab pos="362585" algn="l"/>
              </a:tabLst>
            </a:pPr>
            <a:r>
              <a:rPr sz="1650" dirty="0">
                <a:latin typeface="Cambria" panose="02040503050406030204" pitchFamily="18" charset="0"/>
                <a:ea typeface="Cambria" panose="02040503050406030204" pitchFamily="18" charset="0"/>
                <a:cs typeface="Calibri"/>
              </a:rPr>
              <a:t>Using</a:t>
            </a:r>
            <a:r>
              <a:rPr sz="1650" spc="105" dirty="0">
                <a:latin typeface="Cambria" panose="02040503050406030204" pitchFamily="18" charset="0"/>
                <a:ea typeface="Cambria" panose="02040503050406030204" pitchFamily="18" charset="0"/>
                <a:cs typeface="Calibri"/>
              </a:rPr>
              <a:t> </a:t>
            </a:r>
            <a:r>
              <a:rPr sz="1650" spc="-10" dirty="0">
                <a:latin typeface="Cambria" panose="02040503050406030204" pitchFamily="18" charset="0"/>
                <a:ea typeface="Cambria" panose="02040503050406030204" pitchFamily="18" charset="0"/>
                <a:cs typeface="Calibri"/>
              </a:rPr>
              <a:t>Brain </a:t>
            </a:r>
            <a:r>
              <a:rPr sz="1650" dirty="0">
                <a:latin typeface="Cambria" panose="02040503050406030204" pitchFamily="18" charset="0"/>
                <a:ea typeface="Cambria" panose="02040503050406030204" pitchFamily="18" charset="0"/>
                <a:cs typeface="Calibri"/>
              </a:rPr>
              <a:t>Corp’s</a:t>
            </a:r>
            <a:r>
              <a:rPr sz="1650" spc="-5" dirty="0">
                <a:latin typeface="Cambria" panose="02040503050406030204" pitchFamily="18" charset="0"/>
                <a:ea typeface="Cambria" panose="02040503050406030204" pitchFamily="18" charset="0"/>
                <a:cs typeface="Calibri"/>
              </a:rPr>
              <a:t> </a:t>
            </a:r>
            <a:r>
              <a:rPr sz="1650" spc="-10" dirty="0">
                <a:latin typeface="Cambria" panose="02040503050406030204" pitchFamily="18" charset="0"/>
                <a:ea typeface="Cambria" panose="02040503050406030204" pitchFamily="18" charset="0"/>
                <a:cs typeface="Calibri"/>
              </a:rPr>
              <a:t>Robotic Inventory Scanners</a:t>
            </a:r>
            <a:endParaRPr sz="1650" dirty="0">
              <a:latin typeface="Cambria" panose="02040503050406030204" pitchFamily="18" charset="0"/>
              <a:ea typeface="Cambria" panose="02040503050406030204" pitchFamily="18" charset="0"/>
              <a:cs typeface="Calibri"/>
            </a:endParaRPr>
          </a:p>
        </p:txBody>
      </p:sp>
      <p:grpSp>
        <p:nvGrpSpPr>
          <p:cNvPr id="11" name="object 11"/>
          <p:cNvGrpSpPr/>
          <p:nvPr/>
        </p:nvGrpSpPr>
        <p:grpSpPr>
          <a:xfrm>
            <a:off x="3244850" y="866101"/>
            <a:ext cx="3672204" cy="3121025"/>
            <a:chOff x="2650007" y="960754"/>
            <a:chExt cx="3672204" cy="3121025"/>
          </a:xfrm>
        </p:grpSpPr>
        <p:pic>
          <p:nvPicPr>
            <p:cNvPr id="12" name="object 12"/>
            <p:cNvPicPr/>
            <p:nvPr/>
          </p:nvPicPr>
          <p:blipFill>
            <a:blip r:embed="rId2" cstate="print"/>
            <a:stretch>
              <a:fillRect/>
            </a:stretch>
          </p:blipFill>
          <p:spPr>
            <a:xfrm>
              <a:off x="4170680" y="960754"/>
              <a:ext cx="2150973" cy="1453299"/>
            </a:xfrm>
            <a:prstGeom prst="rect">
              <a:avLst/>
            </a:prstGeom>
          </p:spPr>
        </p:pic>
        <p:pic>
          <p:nvPicPr>
            <p:cNvPr id="13" name="object 13"/>
            <p:cNvPicPr/>
            <p:nvPr/>
          </p:nvPicPr>
          <p:blipFill>
            <a:blip r:embed="rId3" cstate="print"/>
            <a:stretch>
              <a:fillRect/>
            </a:stretch>
          </p:blipFill>
          <p:spPr>
            <a:xfrm>
              <a:off x="2650007" y="2440816"/>
              <a:ext cx="2512568" cy="1640547"/>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6323571" y="4253943"/>
            <a:ext cx="78105" cy="100330"/>
          </a:xfrm>
          <a:prstGeom prst="rect">
            <a:avLst/>
          </a:prstGeom>
        </p:spPr>
        <p:txBody>
          <a:bodyPr vert="horz" wrap="square" lIns="0" tIns="0" rIns="0" bIns="0" rtlCol="0">
            <a:spAutoFit/>
          </a:bodyPr>
          <a:lstStyle/>
          <a:p>
            <a:pPr>
              <a:lnSpc>
                <a:spcPts val="745"/>
              </a:lnSpc>
            </a:pPr>
            <a:r>
              <a:rPr sz="650" spc="-50" dirty="0">
                <a:solidFill>
                  <a:srgbClr val="898989"/>
                </a:solidFill>
                <a:latin typeface="Calibri"/>
                <a:cs typeface="Calibri"/>
              </a:rPr>
              <a:t>21</a:t>
            </a:r>
            <a:endParaRPr sz="650" dirty="0">
              <a:latin typeface="Calibri"/>
              <a:cs typeface="Calibri"/>
            </a:endParaRPr>
          </a:p>
        </p:txBody>
      </p:sp>
      <p:sp>
        <p:nvSpPr>
          <p:cNvPr id="3" name="object 3"/>
          <p:cNvSpPr txBox="1"/>
          <p:nvPr/>
        </p:nvSpPr>
        <p:spPr>
          <a:xfrm>
            <a:off x="425450" y="311150"/>
            <a:ext cx="6172200" cy="1537087"/>
          </a:xfrm>
          <a:prstGeom prst="rect">
            <a:avLst/>
          </a:prstGeom>
        </p:spPr>
        <p:txBody>
          <a:bodyPr vert="horz" wrap="square" lIns="0" tIns="102235" rIns="0" bIns="0" rtlCol="0">
            <a:spAutoFit/>
          </a:bodyPr>
          <a:lstStyle/>
          <a:p>
            <a:pPr marL="12700">
              <a:lnSpc>
                <a:spcPct val="100000"/>
              </a:lnSpc>
              <a:spcBef>
                <a:spcPts val="805"/>
              </a:spcBef>
            </a:pPr>
            <a:r>
              <a:rPr sz="2200" b="1" spc="-10" dirty="0">
                <a:solidFill>
                  <a:srgbClr val="FF0000"/>
                </a:solidFill>
                <a:latin typeface="Cambria"/>
                <a:cs typeface="Cambria"/>
              </a:rPr>
              <a:t>Intelligent</a:t>
            </a:r>
            <a:r>
              <a:rPr sz="2200" b="1" spc="-45" dirty="0">
                <a:solidFill>
                  <a:srgbClr val="FF0000"/>
                </a:solidFill>
                <a:latin typeface="Cambria"/>
                <a:cs typeface="Cambria"/>
              </a:rPr>
              <a:t> </a:t>
            </a:r>
            <a:r>
              <a:rPr sz="2200" b="1" spc="-20" dirty="0">
                <a:solidFill>
                  <a:srgbClr val="FF0000"/>
                </a:solidFill>
                <a:latin typeface="Cambria"/>
                <a:cs typeface="Cambria"/>
              </a:rPr>
              <a:t>systems</a:t>
            </a:r>
            <a:r>
              <a:rPr sz="2200" b="1" spc="-40" dirty="0">
                <a:solidFill>
                  <a:srgbClr val="FF0000"/>
                </a:solidFill>
                <a:latin typeface="Cambria"/>
                <a:cs typeface="Cambria"/>
              </a:rPr>
              <a:t> </a:t>
            </a:r>
            <a:r>
              <a:rPr sz="2200" b="1" dirty="0">
                <a:solidFill>
                  <a:srgbClr val="FF0000"/>
                </a:solidFill>
                <a:latin typeface="Cambria"/>
                <a:cs typeface="Cambria"/>
              </a:rPr>
              <a:t>in</a:t>
            </a:r>
            <a:r>
              <a:rPr sz="2200" b="1" spc="-50" dirty="0">
                <a:solidFill>
                  <a:srgbClr val="FF0000"/>
                </a:solidFill>
                <a:latin typeface="Cambria"/>
                <a:cs typeface="Cambria"/>
              </a:rPr>
              <a:t> </a:t>
            </a:r>
            <a:r>
              <a:rPr sz="2200" b="1" spc="-10" dirty="0">
                <a:solidFill>
                  <a:srgbClr val="FF0000"/>
                </a:solidFill>
                <a:latin typeface="Cambria"/>
                <a:cs typeface="Cambria"/>
              </a:rPr>
              <a:t>business</a:t>
            </a:r>
            <a:endParaRPr sz="2200" dirty="0">
              <a:latin typeface="Cambria"/>
              <a:cs typeface="Cambria"/>
            </a:endParaRPr>
          </a:p>
          <a:p>
            <a:pPr marL="323850" marR="1482725" indent="-115570">
              <a:lnSpc>
                <a:spcPct val="80600"/>
              </a:lnSpc>
              <a:spcBef>
                <a:spcPts val="1110"/>
              </a:spcBef>
              <a:buFont typeface="Arial"/>
              <a:buChar char="•"/>
              <a:tabLst>
                <a:tab pos="325120" algn="l"/>
              </a:tabLst>
            </a:pPr>
            <a:r>
              <a:rPr sz="1900" dirty="0">
                <a:solidFill>
                  <a:srgbClr val="FF0000"/>
                </a:solidFill>
                <a:latin typeface="Cambria" panose="02040503050406030204" pitchFamily="18" charset="0"/>
                <a:ea typeface="Cambria" panose="02040503050406030204" pitchFamily="18" charset="0"/>
                <a:cs typeface="Calibri"/>
              </a:rPr>
              <a:t>Visa,</a:t>
            </a:r>
            <a:r>
              <a:rPr sz="1900" spc="-30" dirty="0">
                <a:solidFill>
                  <a:srgbClr val="FF0000"/>
                </a:solidFill>
                <a:latin typeface="Cambria" panose="02040503050406030204" pitchFamily="18" charset="0"/>
                <a:ea typeface="Cambria" panose="02040503050406030204" pitchFamily="18" charset="0"/>
                <a:cs typeface="Calibri"/>
              </a:rPr>
              <a:t> </a:t>
            </a:r>
            <a:r>
              <a:rPr sz="1900" spc="-10" dirty="0">
                <a:solidFill>
                  <a:srgbClr val="FF0000"/>
                </a:solidFill>
                <a:latin typeface="Cambria" panose="02040503050406030204" pitchFamily="18" charset="0"/>
                <a:ea typeface="Cambria" panose="02040503050406030204" pitchFamily="18" charset="0"/>
                <a:cs typeface="Calibri"/>
              </a:rPr>
              <a:t>Mastercard</a:t>
            </a:r>
            <a:r>
              <a:rPr sz="1900" spc="-30" dirty="0">
                <a:solidFill>
                  <a:srgbClr val="FF0000"/>
                </a:solidFill>
                <a:latin typeface="Cambria" panose="02040503050406030204" pitchFamily="18" charset="0"/>
                <a:ea typeface="Cambria" panose="02040503050406030204" pitchFamily="18" charset="0"/>
                <a:cs typeface="Calibri"/>
              </a:rPr>
              <a:t> </a:t>
            </a:r>
            <a:r>
              <a:rPr sz="1900" spc="-25" dirty="0">
                <a:solidFill>
                  <a:srgbClr val="FF0000"/>
                </a:solidFill>
                <a:latin typeface="Cambria" panose="02040503050406030204" pitchFamily="18" charset="0"/>
                <a:ea typeface="Cambria" panose="02040503050406030204" pitchFamily="18" charset="0"/>
                <a:cs typeface="Calibri"/>
              </a:rPr>
              <a:t>and </a:t>
            </a:r>
            <a:r>
              <a:rPr sz="1900" spc="-20" dirty="0">
                <a:solidFill>
                  <a:srgbClr val="FF0000"/>
                </a:solidFill>
                <a:latin typeface="Cambria" panose="02040503050406030204" pitchFamily="18" charset="0"/>
                <a:ea typeface="Cambria" panose="02040503050406030204" pitchFamily="18" charset="0"/>
                <a:cs typeface="Calibri"/>
              </a:rPr>
              <a:t>PayPal</a:t>
            </a:r>
            <a:r>
              <a:rPr sz="1900" spc="-45" dirty="0">
                <a:solidFill>
                  <a:srgbClr val="FF0000"/>
                </a:solidFill>
                <a:latin typeface="Cambria" panose="02040503050406030204" pitchFamily="18" charset="0"/>
                <a:ea typeface="Cambria" panose="02040503050406030204" pitchFamily="18" charset="0"/>
                <a:cs typeface="Calibri"/>
              </a:rPr>
              <a:t> </a:t>
            </a:r>
            <a:r>
              <a:rPr sz="1900" dirty="0">
                <a:solidFill>
                  <a:srgbClr val="FF0000"/>
                </a:solidFill>
                <a:latin typeface="Cambria" panose="02040503050406030204" pitchFamily="18" charset="0"/>
                <a:ea typeface="Cambria" panose="02040503050406030204" pitchFamily="18" charset="0"/>
                <a:cs typeface="Calibri"/>
              </a:rPr>
              <a:t>are</a:t>
            </a:r>
            <a:r>
              <a:rPr sz="1900" spc="-50" dirty="0">
                <a:solidFill>
                  <a:srgbClr val="FF0000"/>
                </a:solidFill>
                <a:latin typeface="Cambria" panose="02040503050406030204" pitchFamily="18" charset="0"/>
                <a:ea typeface="Cambria" panose="02040503050406030204" pitchFamily="18" charset="0"/>
                <a:cs typeface="Calibri"/>
              </a:rPr>
              <a:t> </a:t>
            </a:r>
            <a:r>
              <a:rPr sz="1900" spc="-20" dirty="0">
                <a:solidFill>
                  <a:srgbClr val="FF0000"/>
                </a:solidFill>
                <a:latin typeface="Cambria" panose="02040503050406030204" pitchFamily="18" charset="0"/>
                <a:ea typeface="Cambria" panose="02040503050406030204" pitchFamily="18" charset="0"/>
                <a:cs typeface="Calibri"/>
              </a:rPr>
              <a:t>using 	</a:t>
            </a:r>
            <a:r>
              <a:rPr sz="1900" spc="-10" dirty="0">
                <a:solidFill>
                  <a:srgbClr val="FF0000"/>
                </a:solidFill>
                <a:latin typeface="Cambria" panose="02040503050406030204" pitchFamily="18" charset="0"/>
                <a:ea typeface="Cambria" panose="02040503050406030204" pitchFamily="18" charset="0"/>
                <a:cs typeface="Calibri"/>
              </a:rPr>
              <a:t>machine-learning </a:t>
            </a:r>
            <a:r>
              <a:rPr sz="1900" dirty="0">
                <a:solidFill>
                  <a:srgbClr val="FF0000"/>
                </a:solidFill>
                <a:latin typeface="Cambria" panose="02040503050406030204" pitchFamily="18" charset="0"/>
                <a:ea typeface="Cambria" panose="02040503050406030204" pitchFamily="18" charset="0"/>
                <a:cs typeface="Calibri"/>
              </a:rPr>
              <a:t>algorithms</a:t>
            </a:r>
            <a:r>
              <a:rPr sz="1900" spc="-30" dirty="0">
                <a:solidFill>
                  <a:srgbClr val="FF0000"/>
                </a:solidFill>
                <a:latin typeface="Cambria" panose="02040503050406030204" pitchFamily="18" charset="0"/>
                <a:ea typeface="Cambria" panose="02040503050406030204" pitchFamily="18" charset="0"/>
                <a:cs typeface="Calibri"/>
              </a:rPr>
              <a:t> </a:t>
            </a:r>
            <a:r>
              <a:rPr sz="1900" dirty="0">
                <a:solidFill>
                  <a:srgbClr val="FF0000"/>
                </a:solidFill>
                <a:latin typeface="Cambria" panose="02040503050406030204" pitchFamily="18" charset="0"/>
                <a:ea typeface="Cambria" panose="02040503050406030204" pitchFamily="18" charset="0"/>
                <a:cs typeface="Calibri"/>
              </a:rPr>
              <a:t>to</a:t>
            </a:r>
            <a:r>
              <a:rPr sz="1900" spc="-35" dirty="0">
                <a:solidFill>
                  <a:srgbClr val="FF0000"/>
                </a:solidFill>
                <a:latin typeface="Cambria" panose="02040503050406030204" pitchFamily="18" charset="0"/>
                <a:ea typeface="Cambria" panose="02040503050406030204" pitchFamily="18" charset="0"/>
                <a:cs typeface="Calibri"/>
              </a:rPr>
              <a:t> </a:t>
            </a:r>
            <a:r>
              <a:rPr sz="1900" spc="-10" dirty="0">
                <a:solidFill>
                  <a:srgbClr val="FF0000"/>
                </a:solidFill>
                <a:latin typeface="Cambria" panose="02040503050406030204" pitchFamily="18" charset="0"/>
                <a:ea typeface="Cambria" panose="02040503050406030204" pitchFamily="18" charset="0"/>
                <a:cs typeface="Calibri"/>
              </a:rPr>
              <a:t>analy</a:t>
            </a:r>
            <a:r>
              <a:rPr lang="en-US" sz="1900" spc="-10" dirty="0">
                <a:solidFill>
                  <a:srgbClr val="FF0000"/>
                </a:solidFill>
                <a:latin typeface="Cambria" panose="02040503050406030204" pitchFamily="18" charset="0"/>
                <a:ea typeface="Cambria" panose="02040503050406030204" pitchFamily="18" charset="0"/>
                <a:cs typeface="Calibri"/>
              </a:rPr>
              <a:t>z</a:t>
            </a:r>
            <a:r>
              <a:rPr sz="1900" spc="-10" dirty="0">
                <a:solidFill>
                  <a:srgbClr val="FF0000"/>
                </a:solidFill>
                <a:latin typeface="Cambria" panose="02040503050406030204" pitchFamily="18" charset="0"/>
                <a:ea typeface="Cambria" panose="02040503050406030204" pitchFamily="18" charset="0"/>
                <a:cs typeface="Calibri"/>
              </a:rPr>
              <a:t>e </a:t>
            </a:r>
            <a:r>
              <a:rPr sz="1900" dirty="0">
                <a:solidFill>
                  <a:srgbClr val="FF0000"/>
                </a:solidFill>
                <a:latin typeface="Cambria" panose="02040503050406030204" pitchFamily="18" charset="0"/>
                <a:ea typeface="Cambria" panose="02040503050406030204" pitchFamily="18" charset="0"/>
                <a:cs typeface="Calibri"/>
              </a:rPr>
              <a:t>data</a:t>
            </a:r>
            <a:r>
              <a:rPr sz="1900" spc="-40" dirty="0">
                <a:solidFill>
                  <a:srgbClr val="FF0000"/>
                </a:solidFill>
                <a:latin typeface="Cambria" panose="02040503050406030204" pitchFamily="18" charset="0"/>
                <a:ea typeface="Cambria" panose="02040503050406030204" pitchFamily="18" charset="0"/>
                <a:cs typeface="Calibri"/>
              </a:rPr>
              <a:t> </a:t>
            </a:r>
            <a:r>
              <a:rPr sz="1900" dirty="0">
                <a:solidFill>
                  <a:srgbClr val="FF0000"/>
                </a:solidFill>
                <a:latin typeface="Cambria" panose="02040503050406030204" pitchFamily="18" charset="0"/>
                <a:ea typeface="Cambria" panose="02040503050406030204" pitchFamily="18" charset="0"/>
                <a:cs typeface="Calibri"/>
              </a:rPr>
              <a:t>on</a:t>
            </a:r>
            <a:r>
              <a:rPr sz="1900" spc="-30" dirty="0">
                <a:solidFill>
                  <a:srgbClr val="FF0000"/>
                </a:solidFill>
                <a:latin typeface="Cambria" panose="02040503050406030204" pitchFamily="18" charset="0"/>
                <a:ea typeface="Cambria" panose="02040503050406030204" pitchFamily="18" charset="0"/>
                <a:cs typeface="Calibri"/>
              </a:rPr>
              <a:t> </a:t>
            </a:r>
            <a:r>
              <a:rPr sz="1900" spc="-10" dirty="0">
                <a:solidFill>
                  <a:srgbClr val="FF0000"/>
                </a:solidFill>
                <a:latin typeface="Cambria" panose="02040503050406030204" pitchFamily="18" charset="0"/>
                <a:ea typeface="Cambria" panose="02040503050406030204" pitchFamily="18" charset="0"/>
                <a:cs typeface="Calibri"/>
              </a:rPr>
              <a:t>customer</a:t>
            </a:r>
            <a:r>
              <a:rPr lang="en-US" sz="1900" spc="-10" dirty="0">
                <a:solidFill>
                  <a:srgbClr val="FF0000"/>
                </a:solidFill>
                <a:latin typeface="Cambria" panose="02040503050406030204" pitchFamily="18" charset="0"/>
                <a:ea typeface="Cambria" panose="02040503050406030204" pitchFamily="18" charset="0"/>
                <a:cs typeface="Calibri"/>
              </a:rPr>
              <a:t> </a:t>
            </a:r>
            <a:r>
              <a:rPr sz="1900" spc="-10" dirty="0" err="1">
                <a:solidFill>
                  <a:srgbClr val="FF0000"/>
                </a:solidFill>
                <a:latin typeface="Cambria" panose="02040503050406030204" pitchFamily="18" charset="0"/>
                <a:ea typeface="Cambria" panose="02040503050406030204" pitchFamily="18" charset="0"/>
                <a:cs typeface="Calibri"/>
              </a:rPr>
              <a:t>behaviour</a:t>
            </a:r>
            <a:r>
              <a:rPr sz="1900" spc="-10" dirty="0">
                <a:solidFill>
                  <a:srgbClr val="FF0000"/>
                </a:solidFill>
                <a:latin typeface="Cambria" panose="02040503050406030204" pitchFamily="18" charset="0"/>
                <a:ea typeface="Cambria" panose="02040503050406030204" pitchFamily="18" charset="0"/>
                <a:cs typeface="Calibri"/>
              </a:rPr>
              <a:t>:</a:t>
            </a:r>
            <a:endParaRPr sz="1900" dirty="0">
              <a:latin typeface="Cambria" panose="02040503050406030204" pitchFamily="18" charset="0"/>
              <a:ea typeface="Cambria" panose="02040503050406030204" pitchFamily="18" charset="0"/>
              <a:cs typeface="Calibri"/>
            </a:endParaRPr>
          </a:p>
          <a:p>
            <a:pPr marL="558800" lvl="1" indent="-116839">
              <a:lnSpc>
                <a:spcPts val="1885"/>
              </a:lnSpc>
              <a:buFont typeface="Arial"/>
              <a:buChar char="•"/>
              <a:tabLst>
                <a:tab pos="558800" algn="l"/>
              </a:tabLst>
            </a:pPr>
            <a:r>
              <a:rPr sz="1650" dirty="0">
                <a:latin typeface="Cambria" panose="02040503050406030204" pitchFamily="18" charset="0"/>
                <a:ea typeface="Cambria" panose="02040503050406030204" pitchFamily="18" charset="0"/>
                <a:cs typeface="Calibri"/>
              </a:rPr>
              <a:t>Fraud</a:t>
            </a:r>
            <a:r>
              <a:rPr sz="1650" spc="85" dirty="0">
                <a:latin typeface="Cambria" panose="02040503050406030204" pitchFamily="18" charset="0"/>
                <a:ea typeface="Cambria" panose="02040503050406030204" pitchFamily="18" charset="0"/>
                <a:cs typeface="Calibri"/>
              </a:rPr>
              <a:t> </a:t>
            </a:r>
            <a:r>
              <a:rPr sz="1650" spc="-10" dirty="0">
                <a:latin typeface="Cambria" panose="02040503050406030204" pitchFamily="18" charset="0"/>
                <a:ea typeface="Cambria" panose="02040503050406030204" pitchFamily="18" charset="0"/>
                <a:cs typeface="Calibri"/>
              </a:rPr>
              <a:t>detection</a:t>
            </a:r>
            <a:endParaRPr sz="1650" dirty="0">
              <a:latin typeface="Cambria" panose="02040503050406030204" pitchFamily="18" charset="0"/>
              <a:ea typeface="Cambria" panose="02040503050406030204" pitchFamily="18" charset="0"/>
              <a:cs typeface="Calibri"/>
            </a:endParaRPr>
          </a:p>
        </p:txBody>
      </p:sp>
      <p:pic>
        <p:nvPicPr>
          <p:cNvPr id="5" name="object 5"/>
          <p:cNvPicPr/>
          <p:nvPr/>
        </p:nvPicPr>
        <p:blipFill>
          <a:blip r:embed="rId2" cstate="print"/>
          <a:stretch>
            <a:fillRect/>
          </a:stretch>
        </p:blipFill>
        <p:spPr>
          <a:xfrm>
            <a:off x="1898847" y="2063750"/>
            <a:ext cx="3225406" cy="241517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object 6"/>
          <p:cNvSpPr txBox="1"/>
          <p:nvPr/>
        </p:nvSpPr>
        <p:spPr>
          <a:xfrm>
            <a:off x="6310871" y="3862666"/>
            <a:ext cx="103505" cy="124460"/>
          </a:xfrm>
          <a:prstGeom prst="rect">
            <a:avLst/>
          </a:prstGeom>
        </p:spPr>
        <p:txBody>
          <a:bodyPr vert="horz" wrap="square" lIns="0" tIns="12065" rIns="0" bIns="0" rtlCol="0">
            <a:spAutoFit/>
          </a:bodyPr>
          <a:lstStyle/>
          <a:p>
            <a:pPr marL="12700">
              <a:lnSpc>
                <a:spcPct val="100000"/>
              </a:lnSpc>
              <a:spcBef>
                <a:spcPts val="95"/>
              </a:spcBef>
            </a:pPr>
            <a:r>
              <a:rPr sz="650" spc="-25" dirty="0">
                <a:solidFill>
                  <a:srgbClr val="898989"/>
                </a:solidFill>
                <a:latin typeface="Calibri"/>
                <a:cs typeface="Calibri"/>
              </a:rPr>
              <a:t>22</a:t>
            </a:r>
            <a:endParaRPr sz="650">
              <a:latin typeface="Calibri"/>
              <a:cs typeface="Calibri"/>
            </a:endParaRPr>
          </a:p>
        </p:txBody>
      </p:sp>
      <p:sp>
        <p:nvSpPr>
          <p:cNvPr id="7" name="object 7"/>
          <p:cNvSpPr txBox="1"/>
          <p:nvPr/>
        </p:nvSpPr>
        <p:spPr>
          <a:xfrm>
            <a:off x="425450" y="234950"/>
            <a:ext cx="5410200" cy="2230995"/>
          </a:xfrm>
          <a:prstGeom prst="rect">
            <a:avLst/>
          </a:prstGeom>
        </p:spPr>
        <p:txBody>
          <a:bodyPr vert="horz" wrap="square" lIns="0" tIns="114935" rIns="0" bIns="0" rtlCol="0">
            <a:spAutoFit/>
          </a:bodyPr>
          <a:lstStyle/>
          <a:p>
            <a:pPr marL="12700">
              <a:lnSpc>
                <a:spcPct val="100000"/>
              </a:lnSpc>
              <a:spcBef>
                <a:spcPts val="905"/>
              </a:spcBef>
            </a:pPr>
            <a:r>
              <a:rPr sz="2200" b="1" spc="-10" dirty="0">
                <a:solidFill>
                  <a:srgbClr val="FF0000"/>
                </a:solidFill>
                <a:latin typeface="Cambria"/>
                <a:cs typeface="Cambria"/>
              </a:rPr>
              <a:t>Intelligent</a:t>
            </a:r>
            <a:r>
              <a:rPr sz="2200" b="1" spc="-45" dirty="0">
                <a:solidFill>
                  <a:srgbClr val="FF0000"/>
                </a:solidFill>
                <a:latin typeface="Cambria"/>
                <a:cs typeface="Cambria"/>
              </a:rPr>
              <a:t> </a:t>
            </a:r>
            <a:r>
              <a:rPr sz="2200" b="1" spc="-20" dirty="0">
                <a:solidFill>
                  <a:srgbClr val="FF0000"/>
                </a:solidFill>
                <a:latin typeface="Cambria"/>
                <a:cs typeface="Cambria"/>
              </a:rPr>
              <a:t>systems</a:t>
            </a:r>
            <a:r>
              <a:rPr sz="2200" b="1" spc="-40" dirty="0">
                <a:solidFill>
                  <a:srgbClr val="FF0000"/>
                </a:solidFill>
                <a:latin typeface="Cambria"/>
                <a:cs typeface="Cambria"/>
              </a:rPr>
              <a:t> </a:t>
            </a:r>
            <a:r>
              <a:rPr sz="2200" b="1" dirty="0">
                <a:solidFill>
                  <a:srgbClr val="FF0000"/>
                </a:solidFill>
                <a:latin typeface="Cambria"/>
                <a:cs typeface="Cambria"/>
              </a:rPr>
              <a:t>in</a:t>
            </a:r>
            <a:r>
              <a:rPr sz="2200" b="1" spc="-50" dirty="0">
                <a:solidFill>
                  <a:srgbClr val="FF0000"/>
                </a:solidFill>
                <a:latin typeface="Cambria"/>
                <a:cs typeface="Cambria"/>
              </a:rPr>
              <a:t> </a:t>
            </a:r>
            <a:r>
              <a:rPr sz="2200" b="1" spc="-10" dirty="0">
                <a:solidFill>
                  <a:srgbClr val="FF0000"/>
                </a:solidFill>
                <a:latin typeface="Cambria"/>
                <a:cs typeface="Cambria"/>
              </a:rPr>
              <a:t>business</a:t>
            </a:r>
            <a:endParaRPr sz="2200" dirty="0">
              <a:latin typeface="Cambria"/>
              <a:cs typeface="Cambria"/>
            </a:endParaRPr>
          </a:p>
          <a:p>
            <a:pPr marL="178435" marR="1666239" indent="-116839">
              <a:lnSpc>
                <a:spcPct val="78800"/>
              </a:lnSpc>
              <a:spcBef>
                <a:spcPts val="1185"/>
              </a:spcBef>
              <a:buFont typeface="Arial"/>
              <a:buChar char="•"/>
              <a:tabLst>
                <a:tab pos="178435" algn="l"/>
              </a:tabLst>
            </a:pPr>
            <a:r>
              <a:rPr sz="1850" spc="-30" dirty="0">
                <a:solidFill>
                  <a:srgbClr val="FF0000"/>
                </a:solidFill>
                <a:latin typeface="Cambria" panose="02040503050406030204" pitchFamily="18" charset="0"/>
                <a:ea typeface="Cambria" panose="02040503050406030204" pitchFamily="18" charset="0"/>
                <a:cs typeface="Calibri"/>
              </a:rPr>
              <a:t>Pfizer,</a:t>
            </a:r>
            <a:r>
              <a:rPr sz="1850" spc="-50" dirty="0">
                <a:solidFill>
                  <a:srgbClr val="FF0000"/>
                </a:solidFill>
                <a:latin typeface="Cambria" panose="02040503050406030204" pitchFamily="18" charset="0"/>
                <a:ea typeface="Cambria" panose="02040503050406030204" pitchFamily="18" charset="0"/>
                <a:cs typeface="Calibri"/>
              </a:rPr>
              <a:t> </a:t>
            </a:r>
            <a:r>
              <a:rPr sz="1850" spc="-20" dirty="0">
                <a:solidFill>
                  <a:srgbClr val="FF0000"/>
                </a:solidFill>
                <a:latin typeface="Cambria" panose="02040503050406030204" pitchFamily="18" charset="0"/>
                <a:ea typeface="Cambria" panose="02040503050406030204" pitchFamily="18" charset="0"/>
                <a:cs typeface="Calibri"/>
              </a:rPr>
              <a:t>Genentech</a:t>
            </a:r>
            <a:r>
              <a:rPr sz="1850" spc="-60" dirty="0">
                <a:solidFill>
                  <a:srgbClr val="FF0000"/>
                </a:solidFill>
                <a:latin typeface="Cambria" panose="02040503050406030204" pitchFamily="18" charset="0"/>
                <a:ea typeface="Cambria" panose="02040503050406030204" pitchFamily="18" charset="0"/>
                <a:cs typeface="Calibri"/>
              </a:rPr>
              <a:t> </a:t>
            </a:r>
            <a:r>
              <a:rPr sz="1850" spc="-25" dirty="0">
                <a:solidFill>
                  <a:srgbClr val="FF0000"/>
                </a:solidFill>
                <a:latin typeface="Cambria" panose="02040503050406030204" pitchFamily="18" charset="0"/>
                <a:ea typeface="Cambria" panose="02040503050406030204" pitchFamily="18" charset="0"/>
                <a:cs typeface="Calibri"/>
              </a:rPr>
              <a:t>and </a:t>
            </a:r>
            <a:r>
              <a:rPr sz="1850" spc="-10" dirty="0">
                <a:solidFill>
                  <a:srgbClr val="FF0000"/>
                </a:solidFill>
                <a:latin typeface="Cambria" panose="02040503050406030204" pitchFamily="18" charset="0"/>
                <a:ea typeface="Cambria" panose="02040503050406030204" pitchFamily="18" charset="0"/>
                <a:cs typeface="Calibri"/>
              </a:rPr>
              <a:t>Sanofi:</a:t>
            </a:r>
            <a:endParaRPr sz="1850" dirty="0">
              <a:latin typeface="Cambria" panose="02040503050406030204" pitchFamily="18" charset="0"/>
              <a:ea typeface="Cambria" panose="02040503050406030204" pitchFamily="18" charset="0"/>
              <a:cs typeface="Calibri"/>
            </a:endParaRPr>
          </a:p>
          <a:p>
            <a:pPr marL="412115" marR="1702435" lvl="1" indent="-116839">
              <a:lnSpc>
                <a:spcPct val="82300"/>
              </a:lnSpc>
              <a:spcBef>
                <a:spcPts val="245"/>
              </a:spcBef>
              <a:buFont typeface="Arial"/>
              <a:buChar char="•"/>
              <a:tabLst>
                <a:tab pos="412115" algn="l"/>
              </a:tabLst>
            </a:pPr>
            <a:r>
              <a:rPr sz="1600" dirty="0">
                <a:latin typeface="Cambria" panose="02040503050406030204" pitchFamily="18" charset="0"/>
                <a:ea typeface="Cambria" panose="02040503050406030204" pitchFamily="18" charset="0"/>
                <a:cs typeface="Calibri"/>
              </a:rPr>
              <a:t>using</a:t>
            </a:r>
            <a:r>
              <a:rPr sz="1600" spc="4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AI</a:t>
            </a:r>
            <a:r>
              <a:rPr sz="1600" spc="4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and</a:t>
            </a:r>
            <a:r>
              <a:rPr sz="1600" spc="5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machine </a:t>
            </a:r>
            <a:r>
              <a:rPr sz="1600" dirty="0">
                <a:latin typeface="Cambria" panose="02040503050406030204" pitchFamily="18" charset="0"/>
                <a:ea typeface="Cambria" panose="02040503050406030204" pitchFamily="18" charset="0"/>
                <a:cs typeface="Calibri"/>
              </a:rPr>
              <a:t>learning</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to</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speed</a:t>
            </a:r>
            <a:r>
              <a:rPr sz="1600" spc="55" dirty="0">
                <a:latin typeface="Cambria" panose="02040503050406030204" pitchFamily="18" charset="0"/>
                <a:ea typeface="Cambria" panose="02040503050406030204" pitchFamily="18" charset="0"/>
                <a:cs typeface="Calibri"/>
              </a:rPr>
              <a:t> </a:t>
            </a:r>
            <a:r>
              <a:rPr sz="1600" spc="-25" dirty="0">
                <a:latin typeface="Cambria" panose="02040503050406030204" pitchFamily="18" charset="0"/>
                <a:ea typeface="Cambria" panose="02040503050406030204" pitchFamily="18" charset="0"/>
                <a:cs typeface="Calibri"/>
              </a:rPr>
              <a:t>up </a:t>
            </a:r>
            <a:r>
              <a:rPr sz="1600" dirty="0">
                <a:latin typeface="Cambria" panose="02040503050406030204" pitchFamily="18" charset="0"/>
                <a:ea typeface="Cambria" panose="02040503050406030204" pitchFamily="18" charset="0"/>
                <a:cs typeface="Calibri"/>
              </a:rPr>
              <a:t>their</a:t>
            </a:r>
            <a:r>
              <a:rPr sz="1600" spc="3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R&amp;D</a:t>
            </a:r>
            <a:r>
              <a:rPr sz="1600" spc="4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efforts</a:t>
            </a:r>
            <a:r>
              <a:rPr sz="1400" spc="-10" dirty="0">
                <a:latin typeface="Cambria" panose="02040503050406030204" pitchFamily="18" charset="0"/>
                <a:ea typeface="Cambria" panose="02040503050406030204" pitchFamily="18" charset="0"/>
                <a:cs typeface="Calibri"/>
              </a:rPr>
              <a:t>.</a:t>
            </a:r>
            <a:endParaRPr sz="1400" dirty="0">
              <a:latin typeface="Cambria" panose="02040503050406030204" pitchFamily="18" charset="0"/>
              <a:ea typeface="Cambria" panose="02040503050406030204" pitchFamily="18" charset="0"/>
              <a:cs typeface="Calibri"/>
            </a:endParaRPr>
          </a:p>
          <a:p>
            <a:pPr marL="412115" marR="2198370" lvl="1" indent="-116839">
              <a:lnSpc>
                <a:spcPct val="82000"/>
              </a:lnSpc>
              <a:spcBef>
                <a:spcPts val="240"/>
              </a:spcBef>
              <a:buFont typeface="Arial"/>
              <a:buChar char="•"/>
              <a:tabLst>
                <a:tab pos="412115" algn="l"/>
              </a:tabLst>
            </a:pPr>
            <a:r>
              <a:rPr sz="1600" dirty="0">
                <a:solidFill>
                  <a:srgbClr val="0D0D0D"/>
                </a:solidFill>
                <a:latin typeface="Cambria" panose="02040503050406030204" pitchFamily="18" charset="0"/>
                <a:ea typeface="Cambria" panose="02040503050406030204" pitchFamily="18" charset="0"/>
                <a:cs typeface="Calibri"/>
              </a:rPr>
              <a:t>drug</a:t>
            </a:r>
            <a:r>
              <a:rPr sz="1600" spc="50" dirty="0">
                <a:solidFill>
                  <a:srgbClr val="0D0D0D"/>
                </a:solidFill>
                <a:latin typeface="Cambria" panose="02040503050406030204" pitchFamily="18" charset="0"/>
                <a:ea typeface="Cambria" panose="02040503050406030204" pitchFamily="18" charset="0"/>
                <a:cs typeface="Calibri"/>
              </a:rPr>
              <a:t> </a:t>
            </a:r>
            <a:r>
              <a:rPr sz="1600" spc="-10" dirty="0">
                <a:solidFill>
                  <a:srgbClr val="0D0D0D"/>
                </a:solidFill>
                <a:latin typeface="Cambria" panose="02040503050406030204" pitchFamily="18" charset="0"/>
                <a:ea typeface="Cambria" panose="02040503050406030204" pitchFamily="18" charset="0"/>
                <a:cs typeface="Calibri"/>
              </a:rPr>
              <a:t>discovery, </a:t>
            </a:r>
            <a:r>
              <a:rPr sz="1600" dirty="0">
                <a:solidFill>
                  <a:srgbClr val="0D0D0D"/>
                </a:solidFill>
                <a:latin typeface="Cambria" panose="02040503050406030204" pitchFamily="18" charset="0"/>
                <a:ea typeface="Cambria" panose="02040503050406030204" pitchFamily="18" charset="0"/>
                <a:cs typeface="Calibri"/>
              </a:rPr>
              <a:t>diagnostics</a:t>
            </a:r>
            <a:r>
              <a:rPr sz="1600" spc="80" dirty="0">
                <a:solidFill>
                  <a:srgbClr val="0D0D0D"/>
                </a:solidFill>
                <a:latin typeface="Cambria" panose="02040503050406030204" pitchFamily="18" charset="0"/>
                <a:ea typeface="Cambria" panose="02040503050406030204" pitchFamily="18" charset="0"/>
                <a:cs typeface="Calibri"/>
              </a:rPr>
              <a:t> </a:t>
            </a:r>
            <a:r>
              <a:rPr sz="1600" spc="-25" dirty="0">
                <a:solidFill>
                  <a:srgbClr val="0D0D0D"/>
                </a:solidFill>
                <a:latin typeface="Cambria" panose="02040503050406030204" pitchFamily="18" charset="0"/>
                <a:ea typeface="Cambria" panose="02040503050406030204" pitchFamily="18" charset="0"/>
                <a:cs typeface="Calibri"/>
              </a:rPr>
              <a:t>and </a:t>
            </a:r>
            <a:r>
              <a:rPr sz="1600" dirty="0">
                <a:solidFill>
                  <a:srgbClr val="0D0D0D"/>
                </a:solidFill>
                <a:latin typeface="Cambria" panose="02040503050406030204" pitchFamily="18" charset="0"/>
                <a:ea typeface="Cambria" panose="02040503050406030204" pitchFamily="18" charset="0"/>
                <a:cs typeface="Calibri"/>
              </a:rPr>
              <a:t>allocation</a:t>
            </a:r>
            <a:r>
              <a:rPr sz="1600" spc="70" dirty="0">
                <a:solidFill>
                  <a:srgbClr val="0D0D0D"/>
                </a:solidFill>
                <a:latin typeface="Cambria" panose="02040503050406030204" pitchFamily="18" charset="0"/>
                <a:ea typeface="Cambria" panose="02040503050406030204" pitchFamily="18" charset="0"/>
                <a:cs typeface="Calibri"/>
              </a:rPr>
              <a:t> </a:t>
            </a:r>
            <a:r>
              <a:rPr sz="1600" spc="-25" dirty="0">
                <a:solidFill>
                  <a:srgbClr val="0D0D0D"/>
                </a:solidFill>
                <a:latin typeface="Cambria" panose="02040503050406030204" pitchFamily="18" charset="0"/>
                <a:ea typeface="Cambria" panose="02040503050406030204" pitchFamily="18" charset="0"/>
                <a:cs typeface="Calibri"/>
              </a:rPr>
              <a:t>of </a:t>
            </a:r>
            <a:r>
              <a:rPr sz="1600" spc="-10" dirty="0">
                <a:solidFill>
                  <a:srgbClr val="0D0D0D"/>
                </a:solidFill>
                <a:latin typeface="Cambria" panose="02040503050406030204" pitchFamily="18" charset="0"/>
                <a:ea typeface="Cambria" panose="02040503050406030204" pitchFamily="18" charset="0"/>
                <a:cs typeface="Calibri"/>
              </a:rPr>
              <a:t>resources</a:t>
            </a:r>
            <a:endParaRPr sz="1600" dirty="0">
              <a:latin typeface="Cambria" panose="02040503050406030204" pitchFamily="18" charset="0"/>
              <a:ea typeface="Cambria" panose="02040503050406030204" pitchFamily="18" charset="0"/>
              <a:cs typeface="Calibri"/>
            </a:endParaRPr>
          </a:p>
          <a:p>
            <a:pPr marL="177800" indent="-116205">
              <a:lnSpc>
                <a:spcPts val="2205"/>
              </a:lnSpc>
              <a:spcBef>
                <a:spcPts val="90"/>
              </a:spcBef>
              <a:buFont typeface="Arial"/>
              <a:buChar char="•"/>
              <a:tabLst>
                <a:tab pos="177800" algn="l"/>
              </a:tabLst>
            </a:pPr>
            <a:r>
              <a:rPr sz="1850" dirty="0">
                <a:solidFill>
                  <a:srgbClr val="FF0000"/>
                </a:solidFill>
                <a:latin typeface="Cambria" panose="02040503050406030204" pitchFamily="18" charset="0"/>
                <a:ea typeface="Cambria" panose="02040503050406030204" pitchFamily="18" charset="0"/>
                <a:cs typeface="Calibri"/>
              </a:rPr>
              <a:t>GE</a:t>
            </a:r>
            <a:r>
              <a:rPr sz="1850" spc="-30" dirty="0">
                <a:solidFill>
                  <a:srgbClr val="FF0000"/>
                </a:solidFill>
                <a:latin typeface="Cambria" panose="02040503050406030204" pitchFamily="18" charset="0"/>
                <a:ea typeface="Cambria" panose="02040503050406030204" pitchFamily="18" charset="0"/>
                <a:cs typeface="Calibri"/>
              </a:rPr>
              <a:t> </a:t>
            </a:r>
            <a:r>
              <a:rPr sz="1850" spc="-10" dirty="0">
                <a:solidFill>
                  <a:srgbClr val="FF0000"/>
                </a:solidFill>
                <a:latin typeface="Cambria" panose="02040503050406030204" pitchFamily="18" charset="0"/>
                <a:ea typeface="Cambria" panose="02040503050406030204" pitchFamily="18" charset="0"/>
                <a:cs typeface="Calibri"/>
              </a:rPr>
              <a:t>HealthCare:</a:t>
            </a:r>
            <a:endParaRPr sz="1850" dirty="0">
              <a:latin typeface="Cambria" panose="02040503050406030204" pitchFamily="18" charset="0"/>
              <a:ea typeface="Cambria" panose="02040503050406030204" pitchFamily="18" charset="0"/>
              <a:cs typeface="Calibri"/>
            </a:endParaRPr>
          </a:p>
          <a:p>
            <a:pPr marL="412115" marR="2203450" lvl="1" indent="-116839">
              <a:lnSpc>
                <a:spcPts val="1550"/>
              </a:lnSpc>
              <a:spcBef>
                <a:spcPts val="345"/>
              </a:spcBef>
              <a:buFont typeface="Arial"/>
              <a:buChar char="•"/>
              <a:tabLst>
                <a:tab pos="412115" algn="l"/>
              </a:tabLst>
            </a:pPr>
            <a:r>
              <a:rPr sz="1600" dirty="0">
                <a:latin typeface="Cambria" panose="02040503050406030204" pitchFamily="18" charset="0"/>
                <a:ea typeface="Cambria" panose="02040503050406030204" pitchFamily="18" charset="0"/>
                <a:cs typeface="Calibri"/>
              </a:rPr>
              <a:t>digitalisation</a:t>
            </a:r>
            <a:r>
              <a:rPr sz="1600" spc="95" dirty="0">
                <a:latin typeface="Cambria" panose="02040503050406030204" pitchFamily="18" charset="0"/>
                <a:ea typeface="Cambria" panose="02040503050406030204" pitchFamily="18" charset="0"/>
                <a:cs typeface="Calibri"/>
              </a:rPr>
              <a:t> </a:t>
            </a:r>
            <a:r>
              <a:rPr sz="1600" spc="-25" dirty="0">
                <a:latin typeface="Cambria" panose="02040503050406030204" pitchFamily="18" charset="0"/>
                <a:ea typeface="Cambria" panose="02040503050406030204" pitchFamily="18" charset="0"/>
                <a:cs typeface="Calibri"/>
              </a:rPr>
              <a:t>of </a:t>
            </a:r>
            <a:r>
              <a:rPr sz="1600" dirty="0">
                <a:latin typeface="Cambria" panose="02040503050406030204" pitchFamily="18" charset="0"/>
                <a:ea typeface="Cambria" panose="02040503050406030204" pitchFamily="18" charset="0"/>
                <a:cs typeface="Calibri"/>
              </a:rPr>
              <a:t>health</a:t>
            </a:r>
            <a:r>
              <a:rPr sz="1600" spc="70"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services</a:t>
            </a:r>
            <a:endParaRPr sz="1600" dirty="0">
              <a:latin typeface="Cambria" panose="02040503050406030204" pitchFamily="18" charset="0"/>
              <a:ea typeface="Cambria" panose="02040503050406030204" pitchFamily="18" charset="0"/>
              <a:cs typeface="Calibri"/>
            </a:endParaRPr>
          </a:p>
        </p:txBody>
      </p:sp>
      <p:pic>
        <p:nvPicPr>
          <p:cNvPr id="9" name="object 9"/>
          <p:cNvPicPr/>
          <p:nvPr/>
        </p:nvPicPr>
        <p:blipFill>
          <a:blip r:embed="rId2" cstate="print"/>
          <a:stretch>
            <a:fillRect/>
          </a:stretch>
        </p:blipFill>
        <p:spPr>
          <a:xfrm>
            <a:off x="3930650" y="920750"/>
            <a:ext cx="3314827" cy="241663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5450" y="996950"/>
            <a:ext cx="5995035" cy="3035300"/>
            <a:chOff x="817874" y="1377696"/>
            <a:chExt cx="5995035" cy="3035300"/>
          </a:xfrm>
        </p:grpSpPr>
        <p:pic>
          <p:nvPicPr>
            <p:cNvPr id="3" name="object 3"/>
            <p:cNvPicPr/>
            <p:nvPr/>
          </p:nvPicPr>
          <p:blipFill>
            <a:blip r:embed="rId2" cstate="print"/>
            <a:stretch>
              <a:fillRect/>
            </a:stretch>
          </p:blipFill>
          <p:spPr>
            <a:xfrm>
              <a:off x="817874" y="1377696"/>
              <a:ext cx="5294807" cy="1539240"/>
            </a:xfrm>
            <a:prstGeom prst="rect">
              <a:avLst/>
            </a:prstGeom>
          </p:spPr>
        </p:pic>
        <p:pic>
          <p:nvPicPr>
            <p:cNvPr id="4" name="object 4"/>
            <p:cNvPicPr/>
            <p:nvPr/>
          </p:nvPicPr>
          <p:blipFill>
            <a:blip r:embed="rId3" cstate="print"/>
            <a:stretch>
              <a:fillRect/>
            </a:stretch>
          </p:blipFill>
          <p:spPr>
            <a:xfrm>
              <a:off x="4072572" y="2523286"/>
              <a:ext cx="2739897" cy="1889315"/>
            </a:xfrm>
            <a:prstGeom prst="rect">
              <a:avLst/>
            </a:prstGeom>
          </p:spPr>
        </p:pic>
      </p:grpSp>
      <p:sp>
        <p:nvSpPr>
          <p:cNvPr id="5" name="object 5"/>
          <p:cNvSpPr txBox="1"/>
          <p:nvPr/>
        </p:nvSpPr>
        <p:spPr>
          <a:xfrm>
            <a:off x="273050" y="311150"/>
            <a:ext cx="3919220"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0000"/>
                </a:solidFill>
                <a:latin typeface="Cambria"/>
                <a:cs typeface="Cambria"/>
              </a:rPr>
              <a:t>Intelligent</a:t>
            </a:r>
            <a:r>
              <a:rPr sz="2200" b="1" spc="-45" dirty="0">
                <a:solidFill>
                  <a:srgbClr val="FF0000"/>
                </a:solidFill>
                <a:latin typeface="Cambria"/>
                <a:cs typeface="Cambria"/>
              </a:rPr>
              <a:t> </a:t>
            </a:r>
            <a:r>
              <a:rPr sz="2200" b="1" spc="-20" dirty="0">
                <a:solidFill>
                  <a:srgbClr val="FF0000"/>
                </a:solidFill>
                <a:latin typeface="Cambria"/>
                <a:cs typeface="Cambria"/>
              </a:rPr>
              <a:t>systems</a:t>
            </a:r>
            <a:r>
              <a:rPr sz="2200" b="1" spc="-40" dirty="0">
                <a:solidFill>
                  <a:srgbClr val="FF0000"/>
                </a:solidFill>
                <a:latin typeface="Cambria"/>
                <a:cs typeface="Cambria"/>
              </a:rPr>
              <a:t> </a:t>
            </a:r>
            <a:r>
              <a:rPr sz="2200" b="1" dirty="0">
                <a:solidFill>
                  <a:srgbClr val="FF0000"/>
                </a:solidFill>
                <a:latin typeface="Cambria"/>
                <a:cs typeface="Cambria"/>
              </a:rPr>
              <a:t>in</a:t>
            </a:r>
            <a:r>
              <a:rPr sz="2200" b="1" spc="-50" dirty="0">
                <a:solidFill>
                  <a:srgbClr val="FF0000"/>
                </a:solidFill>
                <a:latin typeface="Cambria"/>
                <a:cs typeface="Cambria"/>
              </a:rPr>
              <a:t> </a:t>
            </a:r>
            <a:r>
              <a:rPr sz="2200" b="1" spc="-10" dirty="0">
                <a:solidFill>
                  <a:srgbClr val="FF0000"/>
                </a:solidFill>
                <a:latin typeface="Cambria"/>
                <a:cs typeface="Cambria"/>
              </a:rPr>
              <a:t>business</a:t>
            </a:r>
            <a:endParaRPr sz="2200" dirty="0">
              <a:latin typeface="Cambria"/>
              <a:cs typeface="Cambr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432714" y="311150"/>
            <a:ext cx="6164936" cy="3275897"/>
          </a:xfrm>
          <a:prstGeom prst="rect">
            <a:avLst/>
          </a:prstGeom>
        </p:spPr>
        <p:txBody>
          <a:bodyPr vert="horz" wrap="square" lIns="0" tIns="114935" rIns="0" bIns="0" rtlCol="0">
            <a:spAutoFit/>
          </a:bodyPr>
          <a:lstStyle/>
          <a:p>
            <a:pPr marL="12700">
              <a:lnSpc>
                <a:spcPct val="100000"/>
              </a:lnSpc>
              <a:spcBef>
                <a:spcPts val="905"/>
              </a:spcBef>
            </a:pPr>
            <a:r>
              <a:rPr sz="2200" b="1" spc="-20" dirty="0">
                <a:solidFill>
                  <a:srgbClr val="FF0000"/>
                </a:solidFill>
                <a:latin typeface="Cambria"/>
                <a:cs typeface="Cambria"/>
              </a:rPr>
              <a:t>Characteristics </a:t>
            </a:r>
            <a:r>
              <a:rPr sz="2200" b="1" dirty="0">
                <a:solidFill>
                  <a:srgbClr val="FF0000"/>
                </a:solidFill>
                <a:latin typeface="Cambria"/>
                <a:cs typeface="Cambria"/>
              </a:rPr>
              <a:t>of</a:t>
            </a:r>
            <a:r>
              <a:rPr sz="2200" b="1" spc="-15" dirty="0">
                <a:solidFill>
                  <a:srgbClr val="FF0000"/>
                </a:solidFill>
                <a:latin typeface="Cambria"/>
                <a:cs typeface="Cambria"/>
              </a:rPr>
              <a:t> </a:t>
            </a:r>
            <a:r>
              <a:rPr sz="2200" b="1" spc="-10" dirty="0">
                <a:solidFill>
                  <a:srgbClr val="FF0000"/>
                </a:solidFill>
                <a:latin typeface="Cambria"/>
                <a:cs typeface="Cambria"/>
              </a:rPr>
              <a:t>intelligent</a:t>
            </a:r>
            <a:r>
              <a:rPr sz="2200" b="1" spc="-15" dirty="0">
                <a:solidFill>
                  <a:srgbClr val="FF0000"/>
                </a:solidFill>
                <a:latin typeface="Cambria"/>
                <a:cs typeface="Cambria"/>
              </a:rPr>
              <a:t> </a:t>
            </a:r>
            <a:r>
              <a:rPr sz="2200" b="1" spc="-10" dirty="0">
                <a:solidFill>
                  <a:srgbClr val="FF0000"/>
                </a:solidFill>
                <a:latin typeface="Cambria"/>
                <a:cs typeface="Cambria"/>
              </a:rPr>
              <a:t>systems</a:t>
            </a:r>
            <a:endParaRPr sz="2200" dirty="0">
              <a:latin typeface="Cambria"/>
              <a:cs typeface="Cambria"/>
            </a:endParaRPr>
          </a:p>
          <a:p>
            <a:pPr marL="178435" indent="-116839">
              <a:lnSpc>
                <a:spcPts val="1889"/>
              </a:lnSpc>
              <a:spcBef>
                <a:spcPts val="605"/>
              </a:spcBef>
              <a:buChar char="•"/>
              <a:tabLst>
                <a:tab pos="178435" algn="l"/>
              </a:tabLst>
            </a:pPr>
            <a:r>
              <a:rPr sz="1600" b="1" dirty="0">
                <a:latin typeface="Cambria" panose="02040503050406030204" pitchFamily="18" charset="0"/>
                <a:ea typeface="Cambria" panose="02040503050406030204" pitchFamily="18" charset="0"/>
                <a:cs typeface="Arial"/>
              </a:rPr>
              <a:t>Possess</a:t>
            </a:r>
            <a:r>
              <a:rPr sz="1600" b="1" spc="50"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one</a:t>
            </a:r>
            <a:r>
              <a:rPr sz="1600" b="1" spc="60"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or</a:t>
            </a:r>
            <a:r>
              <a:rPr sz="1600" b="1" spc="50"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more</a:t>
            </a:r>
            <a:r>
              <a:rPr sz="1600" b="1" spc="60"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of</a:t>
            </a:r>
            <a:r>
              <a:rPr sz="1600" b="1" spc="40" dirty="0">
                <a:latin typeface="Cambria" panose="02040503050406030204" pitchFamily="18" charset="0"/>
                <a:ea typeface="Cambria" panose="02040503050406030204" pitchFamily="18" charset="0"/>
                <a:cs typeface="Arial"/>
              </a:rPr>
              <a:t> </a:t>
            </a:r>
            <a:r>
              <a:rPr sz="1600" b="1" spc="-10" dirty="0">
                <a:latin typeface="Cambria" panose="02040503050406030204" pitchFamily="18" charset="0"/>
                <a:ea typeface="Cambria" panose="02040503050406030204" pitchFamily="18" charset="0"/>
                <a:cs typeface="Arial"/>
              </a:rPr>
              <a:t>these:</a:t>
            </a:r>
            <a:endParaRPr sz="1600" b="1" dirty="0">
              <a:latin typeface="Cambria" panose="02040503050406030204" pitchFamily="18" charset="0"/>
              <a:ea typeface="Cambria" panose="02040503050406030204" pitchFamily="18" charset="0"/>
              <a:cs typeface="Arial"/>
            </a:endParaRPr>
          </a:p>
          <a:p>
            <a:pPr marL="411480" lvl="1" indent="-116205">
              <a:lnSpc>
                <a:spcPts val="1555"/>
              </a:lnSpc>
              <a:buChar char="•"/>
              <a:tabLst>
                <a:tab pos="411480" algn="l"/>
              </a:tabLst>
            </a:pPr>
            <a:r>
              <a:rPr sz="1350" dirty="0">
                <a:latin typeface="Cambria" panose="02040503050406030204" pitchFamily="18" charset="0"/>
                <a:ea typeface="Cambria" panose="02040503050406030204" pitchFamily="18" charset="0"/>
                <a:cs typeface="Arial"/>
              </a:rPr>
              <a:t>Capability</a:t>
            </a:r>
            <a:r>
              <a:rPr sz="1350" spc="-1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to extract</a:t>
            </a:r>
            <a:r>
              <a:rPr sz="1350" spc="-10"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and store </a:t>
            </a:r>
            <a:r>
              <a:rPr sz="1350" spc="-10" dirty="0">
                <a:latin typeface="Cambria" panose="02040503050406030204" pitchFamily="18" charset="0"/>
                <a:ea typeface="Cambria" panose="02040503050406030204" pitchFamily="18" charset="0"/>
                <a:cs typeface="Arial"/>
              </a:rPr>
              <a:t>knowledge</a:t>
            </a:r>
            <a:endParaRPr sz="1350" dirty="0">
              <a:latin typeface="Cambria" panose="02040503050406030204" pitchFamily="18" charset="0"/>
              <a:ea typeface="Cambria" panose="02040503050406030204" pitchFamily="18" charset="0"/>
              <a:cs typeface="Arial"/>
            </a:endParaRPr>
          </a:p>
          <a:p>
            <a:pPr marL="411480" lvl="1" indent="-116205">
              <a:lnSpc>
                <a:spcPts val="1585"/>
              </a:lnSpc>
              <a:buChar char="•"/>
              <a:tabLst>
                <a:tab pos="411480" algn="l"/>
              </a:tabLst>
            </a:pPr>
            <a:r>
              <a:rPr sz="1350" dirty="0">
                <a:latin typeface="Cambria" panose="02040503050406030204" pitchFamily="18" charset="0"/>
                <a:ea typeface="Cambria" panose="02040503050406030204" pitchFamily="18" charset="0"/>
                <a:cs typeface="Arial"/>
              </a:rPr>
              <a:t>Human</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like</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reasoning</a:t>
            </a:r>
            <a:r>
              <a:rPr sz="1350" spc="5" dirty="0">
                <a:latin typeface="Cambria" panose="02040503050406030204" pitchFamily="18" charset="0"/>
                <a:ea typeface="Cambria" panose="02040503050406030204" pitchFamily="18" charset="0"/>
                <a:cs typeface="Arial"/>
              </a:rPr>
              <a:t> </a:t>
            </a:r>
            <a:r>
              <a:rPr sz="1350" spc="-10" dirty="0">
                <a:latin typeface="Cambria" panose="02040503050406030204" pitchFamily="18" charset="0"/>
                <a:ea typeface="Cambria" panose="02040503050406030204" pitchFamily="18" charset="0"/>
                <a:cs typeface="Arial"/>
              </a:rPr>
              <a:t>process</a:t>
            </a:r>
            <a:endParaRPr sz="1350" dirty="0">
              <a:latin typeface="Cambria" panose="02040503050406030204" pitchFamily="18" charset="0"/>
              <a:ea typeface="Cambria" panose="02040503050406030204" pitchFamily="18" charset="0"/>
              <a:cs typeface="Arial"/>
            </a:endParaRPr>
          </a:p>
          <a:p>
            <a:pPr marL="411480" lvl="1" indent="-116205">
              <a:lnSpc>
                <a:spcPts val="1585"/>
              </a:lnSpc>
              <a:spcBef>
                <a:spcPts val="10"/>
              </a:spcBef>
              <a:buChar char="•"/>
              <a:tabLst>
                <a:tab pos="411480" algn="l"/>
              </a:tabLst>
            </a:pPr>
            <a:r>
              <a:rPr sz="1350" dirty="0">
                <a:latin typeface="Cambria" panose="02040503050406030204" pitchFamily="18" charset="0"/>
                <a:ea typeface="Cambria" panose="02040503050406030204" pitchFamily="18" charset="0"/>
                <a:cs typeface="Arial"/>
              </a:rPr>
              <a:t>Learning</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from</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experience</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(or</a:t>
            </a:r>
            <a:r>
              <a:rPr sz="1350" spc="-5" dirty="0">
                <a:latin typeface="Cambria" panose="02040503050406030204" pitchFamily="18" charset="0"/>
                <a:ea typeface="Cambria" panose="02040503050406030204" pitchFamily="18" charset="0"/>
                <a:cs typeface="Arial"/>
              </a:rPr>
              <a:t> </a:t>
            </a:r>
            <a:r>
              <a:rPr sz="1350" spc="-10" dirty="0">
                <a:latin typeface="Cambria" panose="02040503050406030204" pitchFamily="18" charset="0"/>
                <a:ea typeface="Cambria" panose="02040503050406030204" pitchFamily="18" charset="0"/>
                <a:cs typeface="Arial"/>
              </a:rPr>
              <a:t>training)</a:t>
            </a:r>
            <a:endParaRPr sz="1350" dirty="0">
              <a:latin typeface="Cambria" panose="02040503050406030204" pitchFamily="18" charset="0"/>
              <a:ea typeface="Cambria" panose="02040503050406030204" pitchFamily="18" charset="0"/>
              <a:cs typeface="Arial"/>
            </a:endParaRPr>
          </a:p>
          <a:p>
            <a:pPr marL="411480" lvl="1" indent="-116205">
              <a:lnSpc>
                <a:spcPts val="1580"/>
              </a:lnSpc>
              <a:buChar char="•"/>
              <a:tabLst>
                <a:tab pos="411480" algn="l"/>
              </a:tabLst>
            </a:pPr>
            <a:r>
              <a:rPr sz="1350" dirty="0">
                <a:latin typeface="Cambria" panose="02040503050406030204" pitchFamily="18" charset="0"/>
                <a:ea typeface="Cambria" panose="02040503050406030204" pitchFamily="18" charset="0"/>
                <a:cs typeface="Arial"/>
              </a:rPr>
              <a:t>Dealing</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with</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imprecise</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expressions</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of </a:t>
            </a:r>
            <a:r>
              <a:rPr sz="1350" spc="-20" dirty="0">
                <a:latin typeface="Cambria" panose="02040503050406030204" pitchFamily="18" charset="0"/>
                <a:ea typeface="Cambria" panose="02040503050406030204" pitchFamily="18" charset="0"/>
                <a:cs typeface="Arial"/>
              </a:rPr>
              <a:t>facts</a:t>
            </a:r>
            <a:endParaRPr sz="1350" dirty="0">
              <a:latin typeface="Cambria" panose="02040503050406030204" pitchFamily="18" charset="0"/>
              <a:ea typeface="Cambria" panose="02040503050406030204" pitchFamily="18" charset="0"/>
              <a:cs typeface="Arial"/>
            </a:endParaRPr>
          </a:p>
          <a:p>
            <a:pPr marL="411480" lvl="1" indent="-116205">
              <a:lnSpc>
                <a:spcPts val="1580"/>
              </a:lnSpc>
              <a:buChar char="•"/>
              <a:tabLst>
                <a:tab pos="411480" algn="l"/>
              </a:tabLst>
            </a:pPr>
            <a:r>
              <a:rPr sz="1350" dirty="0">
                <a:latin typeface="Cambria" panose="02040503050406030204" pitchFamily="18" charset="0"/>
                <a:ea typeface="Cambria" panose="02040503050406030204" pitchFamily="18" charset="0"/>
                <a:cs typeface="Arial"/>
              </a:rPr>
              <a:t>Finding</a:t>
            </a:r>
            <a:r>
              <a:rPr sz="1350" spc="-10"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solutions through processes similar</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to natural</a:t>
            </a:r>
            <a:r>
              <a:rPr sz="1350" spc="10" dirty="0">
                <a:latin typeface="Cambria" panose="02040503050406030204" pitchFamily="18" charset="0"/>
                <a:ea typeface="Cambria" panose="02040503050406030204" pitchFamily="18" charset="0"/>
                <a:cs typeface="Arial"/>
              </a:rPr>
              <a:t> </a:t>
            </a:r>
            <a:r>
              <a:rPr sz="1350" spc="-10" dirty="0">
                <a:latin typeface="Cambria" panose="02040503050406030204" pitchFamily="18" charset="0"/>
                <a:ea typeface="Cambria" panose="02040503050406030204" pitchFamily="18" charset="0"/>
                <a:cs typeface="Arial"/>
              </a:rPr>
              <a:t>evolution</a:t>
            </a:r>
            <a:endParaRPr sz="1350" dirty="0">
              <a:latin typeface="Cambria" panose="02040503050406030204" pitchFamily="18" charset="0"/>
              <a:ea typeface="Cambria" panose="02040503050406030204" pitchFamily="18" charset="0"/>
              <a:cs typeface="Arial"/>
            </a:endParaRPr>
          </a:p>
          <a:p>
            <a:pPr marL="411480" lvl="1" indent="-116205">
              <a:lnSpc>
                <a:spcPts val="1585"/>
              </a:lnSpc>
              <a:buChar char="•"/>
              <a:tabLst>
                <a:tab pos="411480" algn="l"/>
              </a:tabLst>
            </a:pPr>
            <a:r>
              <a:rPr lang="en-US" sz="1350" dirty="0">
                <a:latin typeface="Cambria" panose="02040503050406030204" pitchFamily="18" charset="0"/>
                <a:ea typeface="Cambria" panose="02040503050406030204" pitchFamily="18" charset="0"/>
                <a:cs typeface="Arial"/>
              </a:rPr>
              <a:t>H</a:t>
            </a:r>
            <a:r>
              <a:rPr sz="1350" dirty="0">
                <a:latin typeface="Cambria" panose="02040503050406030204" pitchFamily="18" charset="0"/>
                <a:ea typeface="Cambria" panose="02040503050406030204" pitchFamily="18" charset="0"/>
                <a:cs typeface="Arial"/>
              </a:rPr>
              <a:t>as</a:t>
            </a:r>
            <a:r>
              <a:rPr sz="1350" spc="-10"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the ability to</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interact</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and deal</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with other</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agents (including </a:t>
            </a:r>
            <a:r>
              <a:rPr sz="1350" spc="-10" dirty="0">
                <a:latin typeface="Cambria" panose="02040503050406030204" pitchFamily="18" charset="0"/>
                <a:ea typeface="Cambria" panose="02040503050406030204" pitchFamily="18" charset="0"/>
                <a:cs typeface="Arial"/>
              </a:rPr>
              <a:t>humans)</a:t>
            </a:r>
            <a:endParaRPr sz="1350" dirty="0">
              <a:latin typeface="Cambria" panose="02040503050406030204" pitchFamily="18" charset="0"/>
              <a:ea typeface="Cambria" panose="02040503050406030204" pitchFamily="18" charset="0"/>
              <a:cs typeface="Arial"/>
            </a:endParaRPr>
          </a:p>
          <a:p>
            <a:pPr marL="178435" indent="-116839">
              <a:lnSpc>
                <a:spcPts val="1764"/>
              </a:lnSpc>
              <a:spcBef>
                <a:spcPts val="204"/>
              </a:spcBef>
              <a:buChar char="•"/>
              <a:tabLst>
                <a:tab pos="178435" algn="l"/>
              </a:tabLst>
            </a:pPr>
            <a:r>
              <a:rPr sz="1600" b="1" dirty="0">
                <a:latin typeface="Cambria" panose="02040503050406030204" pitchFamily="18" charset="0"/>
                <a:ea typeface="Cambria" panose="02040503050406030204" pitchFamily="18" charset="0"/>
                <a:cs typeface="Arial"/>
              </a:rPr>
              <a:t>Recent</a:t>
            </a:r>
            <a:r>
              <a:rPr sz="1600" b="1" spc="75"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trend</a:t>
            </a:r>
            <a:r>
              <a:rPr sz="1600" b="1" spc="90"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a:t>
            </a:r>
            <a:r>
              <a:rPr sz="1600" b="1" dirty="0">
                <a:solidFill>
                  <a:srgbClr val="FF0000"/>
                </a:solidFill>
                <a:latin typeface="Cambria" panose="02040503050406030204" pitchFamily="18" charset="0"/>
                <a:ea typeface="Cambria" panose="02040503050406030204" pitchFamily="18" charset="0"/>
                <a:cs typeface="Arial"/>
              </a:rPr>
              <a:t>LLMs</a:t>
            </a:r>
            <a:r>
              <a:rPr sz="1600" b="1" spc="95" dirty="0">
                <a:solidFill>
                  <a:srgbClr val="FF0000"/>
                </a:solidFill>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&amp;</a:t>
            </a:r>
            <a:r>
              <a:rPr sz="1600" b="1" spc="90"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Multimodal</a:t>
            </a:r>
            <a:r>
              <a:rPr sz="1600" b="1" spc="80"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Foundation</a:t>
            </a:r>
            <a:r>
              <a:rPr sz="1600" b="1" spc="95" dirty="0">
                <a:latin typeface="Cambria" panose="02040503050406030204" pitchFamily="18" charset="0"/>
                <a:ea typeface="Cambria" panose="02040503050406030204" pitchFamily="18" charset="0"/>
                <a:cs typeface="Arial"/>
              </a:rPr>
              <a:t> </a:t>
            </a:r>
            <a:r>
              <a:rPr sz="1600" b="1" dirty="0">
                <a:latin typeface="Cambria" panose="02040503050406030204" pitchFamily="18" charset="0"/>
                <a:ea typeface="Cambria" panose="02040503050406030204" pitchFamily="18" charset="0"/>
                <a:cs typeface="Arial"/>
              </a:rPr>
              <a:t>Models</a:t>
            </a:r>
            <a:r>
              <a:rPr sz="1600" b="1" spc="90" dirty="0">
                <a:latin typeface="Cambria" panose="02040503050406030204" pitchFamily="18" charset="0"/>
                <a:ea typeface="Cambria" panose="02040503050406030204" pitchFamily="18" charset="0"/>
                <a:cs typeface="Arial"/>
              </a:rPr>
              <a:t> </a:t>
            </a:r>
            <a:r>
              <a:rPr sz="1600" b="1" spc="-50" dirty="0">
                <a:latin typeface="Cambria" panose="02040503050406030204" pitchFamily="18" charset="0"/>
                <a:ea typeface="Cambria" panose="02040503050406030204" pitchFamily="18" charset="0"/>
                <a:cs typeface="Arial"/>
              </a:rPr>
              <a:t>-</a:t>
            </a:r>
            <a:r>
              <a:rPr lang="en-US" sz="1600" b="1" dirty="0">
                <a:latin typeface="Cambria" panose="02040503050406030204" pitchFamily="18" charset="0"/>
                <a:ea typeface="Cambria" panose="02040503050406030204" pitchFamily="18" charset="0"/>
                <a:cs typeface="Arial"/>
              </a:rPr>
              <a:t> </a:t>
            </a:r>
            <a:r>
              <a:rPr sz="1600" b="1" spc="-10" dirty="0">
                <a:solidFill>
                  <a:srgbClr val="FF0000"/>
                </a:solidFill>
                <a:latin typeface="Cambria" panose="02040503050406030204" pitchFamily="18" charset="0"/>
                <a:ea typeface="Cambria" panose="02040503050406030204" pitchFamily="18" charset="0"/>
                <a:cs typeface="Arial"/>
              </a:rPr>
              <a:t>MFMs</a:t>
            </a:r>
            <a:r>
              <a:rPr sz="1600" b="1" spc="-10" dirty="0">
                <a:latin typeface="Cambria" panose="02040503050406030204" pitchFamily="18" charset="0"/>
                <a:ea typeface="Cambria" panose="02040503050406030204" pitchFamily="18" charset="0"/>
                <a:cs typeface="Arial"/>
              </a:rPr>
              <a:t>):</a:t>
            </a:r>
            <a:endParaRPr sz="1600" b="1" dirty="0">
              <a:latin typeface="Cambria" panose="02040503050406030204" pitchFamily="18" charset="0"/>
              <a:ea typeface="Cambria" panose="02040503050406030204" pitchFamily="18" charset="0"/>
              <a:cs typeface="Arial"/>
            </a:endParaRPr>
          </a:p>
          <a:p>
            <a:pPr marL="412115" lvl="1" indent="-116839">
              <a:lnSpc>
                <a:spcPts val="1864"/>
              </a:lnSpc>
              <a:buChar char="•"/>
              <a:tabLst>
                <a:tab pos="412115" algn="l"/>
              </a:tabLst>
            </a:pPr>
            <a:r>
              <a:rPr sz="1600" dirty="0">
                <a:latin typeface="Cambria" panose="02040503050406030204" pitchFamily="18" charset="0"/>
                <a:ea typeface="Cambria" panose="02040503050406030204" pitchFamily="18" charset="0"/>
                <a:cs typeface="Arial"/>
              </a:rPr>
              <a:t>More</a:t>
            </a:r>
            <a:r>
              <a:rPr sz="1600" spc="80" dirty="0">
                <a:latin typeface="Cambria" panose="02040503050406030204" pitchFamily="18" charset="0"/>
                <a:ea typeface="Cambria" panose="02040503050406030204" pitchFamily="18" charset="0"/>
                <a:cs typeface="Arial"/>
              </a:rPr>
              <a:t> </a:t>
            </a:r>
            <a:r>
              <a:rPr sz="1600" dirty="0">
                <a:latin typeface="Cambria" panose="02040503050406030204" pitchFamily="18" charset="0"/>
                <a:ea typeface="Cambria" panose="02040503050406030204" pitchFamily="18" charset="0"/>
                <a:cs typeface="Arial"/>
              </a:rPr>
              <a:t>sophisticated</a:t>
            </a:r>
            <a:r>
              <a:rPr sz="1600" spc="80" dirty="0">
                <a:latin typeface="Cambria" panose="02040503050406030204" pitchFamily="18" charset="0"/>
                <a:ea typeface="Cambria" panose="02040503050406030204" pitchFamily="18" charset="0"/>
                <a:cs typeface="Arial"/>
              </a:rPr>
              <a:t> </a:t>
            </a:r>
            <a:r>
              <a:rPr sz="1600" dirty="0">
                <a:latin typeface="Cambria" panose="02040503050406030204" pitchFamily="18" charset="0"/>
                <a:ea typeface="Cambria" panose="02040503050406030204" pitchFamily="18" charset="0"/>
                <a:cs typeface="Arial"/>
              </a:rPr>
              <a:t>interaction</a:t>
            </a:r>
            <a:r>
              <a:rPr sz="1600" spc="80" dirty="0">
                <a:latin typeface="Cambria" panose="02040503050406030204" pitchFamily="18" charset="0"/>
                <a:ea typeface="Cambria" panose="02040503050406030204" pitchFamily="18" charset="0"/>
                <a:cs typeface="Arial"/>
              </a:rPr>
              <a:t> </a:t>
            </a:r>
            <a:r>
              <a:rPr sz="1600" dirty="0">
                <a:latin typeface="Cambria" panose="02040503050406030204" pitchFamily="18" charset="0"/>
                <a:ea typeface="Cambria" panose="02040503050406030204" pitchFamily="18" charset="0"/>
                <a:cs typeface="Arial"/>
              </a:rPr>
              <a:t>with</a:t>
            </a:r>
            <a:r>
              <a:rPr sz="1600" spc="80" dirty="0">
                <a:latin typeface="Cambria" panose="02040503050406030204" pitchFamily="18" charset="0"/>
                <a:ea typeface="Cambria" panose="02040503050406030204" pitchFamily="18" charset="0"/>
                <a:cs typeface="Arial"/>
              </a:rPr>
              <a:t> </a:t>
            </a:r>
            <a:r>
              <a:rPr sz="1600" dirty="0">
                <a:latin typeface="Cambria" panose="02040503050406030204" pitchFamily="18" charset="0"/>
                <a:ea typeface="Cambria" panose="02040503050406030204" pitchFamily="18" charset="0"/>
                <a:cs typeface="Arial"/>
              </a:rPr>
              <a:t>the</a:t>
            </a:r>
            <a:r>
              <a:rPr sz="1600" spc="85" dirty="0">
                <a:latin typeface="Cambria" panose="02040503050406030204" pitchFamily="18" charset="0"/>
                <a:ea typeface="Cambria" panose="02040503050406030204" pitchFamily="18" charset="0"/>
                <a:cs typeface="Arial"/>
              </a:rPr>
              <a:t> </a:t>
            </a:r>
            <a:r>
              <a:rPr sz="1600" dirty="0">
                <a:latin typeface="Cambria" panose="02040503050406030204" pitchFamily="18" charset="0"/>
                <a:ea typeface="Cambria" panose="02040503050406030204" pitchFamily="18" charset="0"/>
                <a:cs typeface="Arial"/>
              </a:rPr>
              <a:t>user</a:t>
            </a:r>
            <a:r>
              <a:rPr sz="1600" spc="75" dirty="0">
                <a:latin typeface="Cambria" panose="02040503050406030204" pitchFamily="18" charset="0"/>
                <a:ea typeface="Cambria" panose="02040503050406030204" pitchFamily="18" charset="0"/>
                <a:cs typeface="Arial"/>
              </a:rPr>
              <a:t> </a:t>
            </a:r>
            <a:r>
              <a:rPr sz="1600" spc="-10" dirty="0">
                <a:latin typeface="Cambria" panose="02040503050406030204" pitchFamily="18" charset="0"/>
                <a:ea typeface="Cambria" panose="02040503050406030204" pitchFamily="18" charset="0"/>
                <a:cs typeface="Arial"/>
              </a:rPr>
              <a:t>through:</a:t>
            </a:r>
            <a:endParaRPr sz="1600" dirty="0">
              <a:latin typeface="Cambria" panose="02040503050406030204" pitchFamily="18" charset="0"/>
              <a:ea typeface="Cambria" panose="02040503050406030204" pitchFamily="18" charset="0"/>
              <a:cs typeface="Arial"/>
            </a:endParaRPr>
          </a:p>
          <a:p>
            <a:pPr marL="644525" lvl="2" indent="-116205">
              <a:lnSpc>
                <a:spcPts val="1585"/>
              </a:lnSpc>
              <a:buChar char="•"/>
              <a:tabLst>
                <a:tab pos="644525" algn="l"/>
              </a:tabLst>
            </a:pPr>
            <a:r>
              <a:rPr sz="1350" dirty="0">
                <a:latin typeface="Cambria" panose="02040503050406030204" pitchFamily="18" charset="0"/>
                <a:ea typeface="Cambria" panose="02040503050406030204" pitchFamily="18" charset="0"/>
                <a:cs typeface="Arial"/>
              </a:rPr>
              <a:t>natural language </a:t>
            </a:r>
            <a:r>
              <a:rPr sz="1350" spc="-10" dirty="0">
                <a:latin typeface="Cambria" panose="02040503050406030204" pitchFamily="18" charset="0"/>
                <a:ea typeface="Cambria" panose="02040503050406030204" pitchFamily="18" charset="0"/>
                <a:cs typeface="Arial"/>
              </a:rPr>
              <a:t>understanding</a:t>
            </a:r>
            <a:endParaRPr sz="1350" dirty="0">
              <a:latin typeface="Cambria" panose="02040503050406030204" pitchFamily="18" charset="0"/>
              <a:ea typeface="Cambria" panose="02040503050406030204" pitchFamily="18" charset="0"/>
              <a:cs typeface="Arial"/>
            </a:endParaRPr>
          </a:p>
          <a:p>
            <a:pPr marL="644525" lvl="2" indent="-116205">
              <a:lnSpc>
                <a:spcPts val="1585"/>
              </a:lnSpc>
              <a:buChar char="•"/>
              <a:tabLst>
                <a:tab pos="644525" algn="l"/>
              </a:tabLst>
            </a:pPr>
            <a:r>
              <a:rPr sz="1350" dirty="0">
                <a:latin typeface="Cambria" panose="02040503050406030204" pitchFamily="18" charset="0"/>
                <a:ea typeface="Cambria" panose="02040503050406030204" pitchFamily="18" charset="0"/>
                <a:cs typeface="Arial"/>
              </a:rPr>
              <a:t>speech recognition and </a:t>
            </a:r>
            <a:r>
              <a:rPr sz="1350" spc="-10" dirty="0">
                <a:latin typeface="Cambria" panose="02040503050406030204" pitchFamily="18" charset="0"/>
                <a:ea typeface="Cambria" panose="02040503050406030204" pitchFamily="18" charset="0"/>
                <a:cs typeface="Arial"/>
              </a:rPr>
              <a:t>synthesis</a:t>
            </a:r>
            <a:endParaRPr sz="1350" dirty="0">
              <a:latin typeface="Cambria" panose="02040503050406030204" pitchFamily="18" charset="0"/>
              <a:ea typeface="Cambria" panose="02040503050406030204" pitchFamily="18" charset="0"/>
              <a:cs typeface="Arial"/>
            </a:endParaRPr>
          </a:p>
          <a:p>
            <a:pPr marL="644525" lvl="2" indent="-116205">
              <a:lnSpc>
                <a:spcPct val="100000"/>
              </a:lnSpc>
              <a:spcBef>
                <a:spcPts val="10"/>
              </a:spcBef>
              <a:buChar char="•"/>
              <a:tabLst>
                <a:tab pos="644525" algn="l"/>
              </a:tabLst>
            </a:pPr>
            <a:r>
              <a:rPr sz="1350" dirty="0">
                <a:latin typeface="Cambria" panose="02040503050406030204" pitchFamily="18" charset="0"/>
                <a:ea typeface="Cambria" panose="02040503050406030204" pitchFamily="18" charset="0"/>
                <a:cs typeface="Arial"/>
              </a:rPr>
              <a:t>image</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analysis</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&amp;</a:t>
            </a:r>
            <a:r>
              <a:rPr sz="1350" spc="10" dirty="0">
                <a:latin typeface="Cambria" panose="02040503050406030204" pitchFamily="18" charset="0"/>
                <a:ea typeface="Cambria" panose="02040503050406030204" pitchFamily="18" charset="0"/>
                <a:cs typeface="Arial"/>
              </a:rPr>
              <a:t> </a:t>
            </a:r>
            <a:r>
              <a:rPr sz="1350" spc="-10" dirty="0">
                <a:latin typeface="Cambria" panose="02040503050406030204" pitchFamily="18" charset="0"/>
                <a:ea typeface="Cambria" panose="02040503050406030204" pitchFamily="18" charset="0"/>
                <a:cs typeface="Arial"/>
              </a:rPr>
              <a:t>synthesis</a:t>
            </a:r>
            <a:endParaRPr sz="1350" dirty="0">
              <a:latin typeface="Cambria" panose="02040503050406030204" pitchFamily="18" charset="0"/>
              <a:ea typeface="Cambria" panose="02040503050406030204" pitchFamily="18" charset="0"/>
              <a:cs typeface="Arial"/>
            </a:endParaRPr>
          </a:p>
          <a:p>
            <a:pPr marR="348615" algn="r">
              <a:lnSpc>
                <a:spcPct val="100000"/>
              </a:lnSpc>
              <a:spcBef>
                <a:spcPts val="425"/>
              </a:spcBef>
            </a:pPr>
            <a:r>
              <a:rPr sz="650" spc="-25" dirty="0">
                <a:solidFill>
                  <a:srgbClr val="898989"/>
                </a:solidFill>
                <a:latin typeface="Calibri"/>
                <a:cs typeface="Calibri"/>
              </a:rPr>
              <a:t>24</a:t>
            </a:r>
            <a:endParaRPr sz="650" dirty="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68D22-78BA-2507-437F-256036A873C2}"/>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97E40BC2-0A8B-0D8E-4F71-3E78CAAD5BB8}"/>
              </a:ext>
            </a:extLst>
          </p:cNvPr>
          <p:cNvSpPr txBox="1"/>
          <p:nvPr/>
        </p:nvSpPr>
        <p:spPr>
          <a:xfrm>
            <a:off x="432714" y="311150"/>
            <a:ext cx="6164936" cy="1070165"/>
          </a:xfrm>
          <a:prstGeom prst="rect">
            <a:avLst/>
          </a:prstGeom>
        </p:spPr>
        <p:txBody>
          <a:bodyPr vert="horz" wrap="square" lIns="0" tIns="114935" rIns="0" bIns="0" rtlCol="0">
            <a:spAutoFit/>
          </a:bodyPr>
          <a:lstStyle/>
          <a:p>
            <a:pPr marL="12700">
              <a:lnSpc>
                <a:spcPct val="100000"/>
              </a:lnSpc>
              <a:spcBef>
                <a:spcPts val="905"/>
              </a:spcBef>
            </a:pPr>
            <a:r>
              <a:rPr sz="2200" b="1" spc="-20" dirty="0">
                <a:solidFill>
                  <a:srgbClr val="FF0000"/>
                </a:solidFill>
                <a:latin typeface="Cambria"/>
                <a:cs typeface="Cambria"/>
              </a:rPr>
              <a:t>Characteristics </a:t>
            </a:r>
            <a:r>
              <a:rPr sz="2200" b="1" dirty="0">
                <a:solidFill>
                  <a:srgbClr val="FF0000"/>
                </a:solidFill>
                <a:latin typeface="Cambria"/>
                <a:cs typeface="Cambria"/>
              </a:rPr>
              <a:t>of</a:t>
            </a:r>
            <a:r>
              <a:rPr sz="2200" b="1" spc="-15" dirty="0">
                <a:solidFill>
                  <a:srgbClr val="FF0000"/>
                </a:solidFill>
                <a:latin typeface="Cambria"/>
                <a:cs typeface="Cambria"/>
              </a:rPr>
              <a:t> </a:t>
            </a:r>
            <a:r>
              <a:rPr sz="2200" b="1" spc="-10" dirty="0">
                <a:solidFill>
                  <a:srgbClr val="FF0000"/>
                </a:solidFill>
                <a:latin typeface="Cambria"/>
                <a:cs typeface="Cambria"/>
              </a:rPr>
              <a:t>intelligent</a:t>
            </a:r>
            <a:r>
              <a:rPr sz="2200" b="1" spc="-15" dirty="0">
                <a:solidFill>
                  <a:srgbClr val="FF0000"/>
                </a:solidFill>
                <a:latin typeface="Cambria"/>
                <a:cs typeface="Cambria"/>
              </a:rPr>
              <a:t> </a:t>
            </a:r>
            <a:r>
              <a:rPr sz="2200" b="1" spc="-10" dirty="0">
                <a:solidFill>
                  <a:srgbClr val="FF0000"/>
                </a:solidFill>
                <a:latin typeface="Cambria"/>
                <a:cs typeface="Cambria"/>
              </a:rPr>
              <a:t>systems</a:t>
            </a:r>
            <a:endParaRPr sz="2200" dirty="0">
              <a:latin typeface="Cambria"/>
              <a:cs typeface="Cambria"/>
            </a:endParaRPr>
          </a:p>
          <a:p>
            <a:pPr marL="411480" lvl="1" indent="-116205">
              <a:lnSpc>
                <a:spcPts val="1555"/>
              </a:lnSpc>
              <a:buChar char="•"/>
              <a:tabLst>
                <a:tab pos="411480" algn="l"/>
              </a:tabLst>
            </a:pPr>
            <a:endParaRPr lang="en-US" sz="1350" dirty="0">
              <a:solidFill>
                <a:srgbClr val="FF0000"/>
              </a:solidFill>
              <a:latin typeface="Cambria" panose="02040503050406030204" pitchFamily="18" charset="0"/>
              <a:ea typeface="Cambria" panose="02040503050406030204" pitchFamily="18" charset="0"/>
              <a:cs typeface="Arial"/>
            </a:endParaRPr>
          </a:p>
          <a:p>
            <a:pPr marL="411480" lvl="1" indent="-116205">
              <a:lnSpc>
                <a:spcPts val="1555"/>
              </a:lnSpc>
              <a:buChar char="•"/>
              <a:tabLst>
                <a:tab pos="411480" algn="l"/>
              </a:tabLst>
            </a:pPr>
            <a:r>
              <a:rPr sz="1350" dirty="0">
                <a:solidFill>
                  <a:schemeClr val="tx1"/>
                </a:solidFill>
                <a:latin typeface="Cambria" panose="02040503050406030204" pitchFamily="18" charset="0"/>
                <a:ea typeface="Cambria" panose="02040503050406030204" pitchFamily="18" charset="0"/>
                <a:cs typeface="Arial"/>
              </a:rPr>
              <a:t>Capability</a:t>
            </a:r>
            <a:r>
              <a:rPr sz="1350" spc="-15" dirty="0">
                <a:solidFill>
                  <a:schemeClr val="tx1"/>
                </a:solidFill>
                <a:latin typeface="Cambria" panose="02040503050406030204" pitchFamily="18" charset="0"/>
                <a:ea typeface="Cambria" panose="02040503050406030204" pitchFamily="18" charset="0"/>
                <a:cs typeface="Arial"/>
              </a:rPr>
              <a:t> </a:t>
            </a:r>
            <a:r>
              <a:rPr sz="1350" dirty="0">
                <a:solidFill>
                  <a:schemeClr val="tx1"/>
                </a:solidFill>
                <a:latin typeface="Cambria" panose="02040503050406030204" pitchFamily="18" charset="0"/>
                <a:ea typeface="Cambria" panose="02040503050406030204" pitchFamily="18" charset="0"/>
                <a:cs typeface="Arial"/>
              </a:rPr>
              <a:t>to extract</a:t>
            </a:r>
            <a:r>
              <a:rPr sz="1350" spc="-10" dirty="0">
                <a:solidFill>
                  <a:schemeClr val="tx1"/>
                </a:solidFill>
                <a:latin typeface="Cambria" panose="02040503050406030204" pitchFamily="18" charset="0"/>
                <a:ea typeface="Cambria" panose="02040503050406030204" pitchFamily="18" charset="0"/>
                <a:cs typeface="Arial"/>
              </a:rPr>
              <a:t> </a:t>
            </a:r>
            <a:r>
              <a:rPr sz="1350" dirty="0">
                <a:solidFill>
                  <a:schemeClr val="tx1"/>
                </a:solidFill>
                <a:latin typeface="Cambria" panose="02040503050406030204" pitchFamily="18" charset="0"/>
                <a:ea typeface="Cambria" panose="02040503050406030204" pitchFamily="18" charset="0"/>
                <a:cs typeface="Arial"/>
              </a:rPr>
              <a:t>and store </a:t>
            </a:r>
            <a:r>
              <a:rPr sz="1350" spc="-10" dirty="0">
                <a:solidFill>
                  <a:schemeClr val="tx1"/>
                </a:solidFill>
                <a:latin typeface="Cambria" panose="02040503050406030204" pitchFamily="18" charset="0"/>
                <a:ea typeface="Cambria" panose="02040503050406030204" pitchFamily="18" charset="0"/>
                <a:cs typeface="Arial"/>
              </a:rPr>
              <a:t>knowledge</a:t>
            </a:r>
            <a:endParaRPr sz="1350" dirty="0">
              <a:solidFill>
                <a:schemeClr val="tx1"/>
              </a:solidFill>
              <a:latin typeface="Cambria" panose="02040503050406030204" pitchFamily="18" charset="0"/>
              <a:ea typeface="Cambria" panose="02040503050406030204" pitchFamily="18" charset="0"/>
              <a:cs typeface="Arial"/>
            </a:endParaRPr>
          </a:p>
          <a:p>
            <a:pPr marL="411480" lvl="1" indent="-116205">
              <a:lnSpc>
                <a:spcPts val="1585"/>
              </a:lnSpc>
              <a:buChar char="•"/>
              <a:tabLst>
                <a:tab pos="411480" algn="l"/>
              </a:tabLst>
            </a:pPr>
            <a:r>
              <a:rPr sz="1350" dirty="0">
                <a:solidFill>
                  <a:schemeClr val="tx1"/>
                </a:solidFill>
                <a:latin typeface="Cambria" panose="02040503050406030204" pitchFamily="18" charset="0"/>
                <a:ea typeface="Cambria" panose="02040503050406030204" pitchFamily="18" charset="0"/>
                <a:cs typeface="Arial"/>
              </a:rPr>
              <a:t>Human</a:t>
            </a:r>
            <a:r>
              <a:rPr sz="1350" spc="5" dirty="0">
                <a:solidFill>
                  <a:schemeClr val="tx1"/>
                </a:solidFill>
                <a:latin typeface="Cambria" panose="02040503050406030204" pitchFamily="18" charset="0"/>
                <a:ea typeface="Cambria" panose="02040503050406030204" pitchFamily="18" charset="0"/>
                <a:cs typeface="Arial"/>
              </a:rPr>
              <a:t> </a:t>
            </a:r>
            <a:r>
              <a:rPr sz="1350" dirty="0">
                <a:solidFill>
                  <a:schemeClr val="tx1"/>
                </a:solidFill>
                <a:latin typeface="Cambria" panose="02040503050406030204" pitchFamily="18" charset="0"/>
                <a:ea typeface="Cambria" panose="02040503050406030204" pitchFamily="18" charset="0"/>
                <a:cs typeface="Arial"/>
              </a:rPr>
              <a:t>like</a:t>
            </a:r>
            <a:r>
              <a:rPr sz="1350" spc="5" dirty="0">
                <a:solidFill>
                  <a:schemeClr val="tx1"/>
                </a:solidFill>
                <a:latin typeface="Cambria" panose="02040503050406030204" pitchFamily="18" charset="0"/>
                <a:ea typeface="Cambria" panose="02040503050406030204" pitchFamily="18" charset="0"/>
                <a:cs typeface="Arial"/>
              </a:rPr>
              <a:t> </a:t>
            </a:r>
            <a:r>
              <a:rPr sz="1350" dirty="0">
                <a:solidFill>
                  <a:schemeClr val="tx1"/>
                </a:solidFill>
                <a:latin typeface="Cambria" panose="02040503050406030204" pitchFamily="18" charset="0"/>
                <a:ea typeface="Cambria" panose="02040503050406030204" pitchFamily="18" charset="0"/>
                <a:cs typeface="Arial"/>
              </a:rPr>
              <a:t>reasoning</a:t>
            </a:r>
            <a:r>
              <a:rPr sz="1350" spc="5" dirty="0">
                <a:solidFill>
                  <a:schemeClr val="tx1"/>
                </a:solidFill>
                <a:latin typeface="Cambria" panose="02040503050406030204" pitchFamily="18" charset="0"/>
                <a:ea typeface="Cambria" panose="02040503050406030204" pitchFamily="18" charset="0"/>
                <a:cs typeface="Arial"/>
              </a:rPr>
              <a:t> </a:t>
            </a:r>
            <a:r>
              <a:rPr sz="1350" spc="-10" dirty="0">
                <a:solidFill>
                  <a:schemeClr val="tx1"/>
                </a:solidFill>
                <a:latin typeface="Cambria" panose="02040503050406030204" pitchFamily="18" charset="0"/>
                <a:ea typeface="Cambria" panose="02040503050406030204" pitchFamily="18" charset="0"/>
                <a:cs typeface="Arial"/>
              </a:rPr>
              <a:t>process</a:t>
            </a:r>
            <a:endParaRPr sz="1350" dirty="0">
              <a:solidFill>
                <a:schemeClr val="tx1"/>
              </a:solidFill>
              <a:latin typeface="Cambria" panose="02040503050406030204" pitchFamily="18" charset="0"/>
              <a:ea typeface="Cambria" panose="02040503050406030204" pitchFamily="18" charset="0"/>
              <a:cs typeface="Arial"/>
            </a:endParaRPr>
          </a:p>
        </p:txBody>
      </p:sp>
      <p:grpSp>
        <p:nvGrpSpPr>
          <p:cNvPr id="2" name="object 9">
            <a:extLst>
              <a:ext uri="{FF2B5EF4-FFF2-40B4-BE49-F238E27FC236}">
                <a16:creationId xmlns:a16="http://schemas.microsoft.com/office/drawing/2014/main" id="{28A01F3F-B972-6500-6BEB-C146F7880A9B}"/>
              </a:ext>
            </a:extLst>
          </p:cNvPr>
          <p:cNvGrpSpPr/>
          <p:nvPr/>
        </p:nvGrpSpPr>
        <p:grpSpPr>
          <a:xfrm>
            <a:off x="730250" y="1648054"/>
            <a:ext cx="5453380" cy="1101725"/>
            <a:chOff x="1021471" y="2159695"/>
            <a:chExt cx="5453380" cy="1101725"/>
          </a:xfrm>
        </p:grpSpPr>
        <p:sp>
          <p:nvSpPr>
            <p:cNvPr id="3" name="object 10">
              <a:extLst>
                <a:ext uri="{FF2B5EF4-FFF2-40B4-BE49-F238E27FC236}">
                  <a16:creationId xmlns:a16="http://schemas.microsoft.com/office/drawing/2014/main" id="{C998C6EB-F74B-C4ED-65C1-78709857B6AD}"/>
                </a:ext>
              </a:extLst>
            </p:cNvPr>
            <p:cNvSpPr/>
            <p:nvPr/>
          </p:nvSpPr>
          <p:spPr>
            <a:xfrm>
              <a:off x="1031215" y="2169443"/>
              <a:ext cx="5433695" cy="1082675"/>
            </a:xfrm>
            <a:custGeom>
              <a:avLst/>
              <a:gdLst/>
              <a:ahLst/>
              <a:cxnLst/>
              <a:rect l="l" t="t" r="r" b="b"/>
              <a:pathLst>
                <a:path w="5433695" h="1082675">
                  <a:moveTo>
                    <a:pt x="5433377" y="0"/>
                  </a:moveTo>
                  <a:lnTo>
                    <a:pt x="0" y="0"/>
                  </a:lnTo>
                  <a:lnTo>
                    <a:pt x="0" y="1082163"/>
                  </a:lnTo>
                  <a:lnTo>
                    <a:pt x="5433377" y="1082163"/>
                  </a:lnTo>
                  <a:lnTo>
                    <a:pt x="5433377" y="0"/>
                  </a:lnTo>
                  <a:close/>
                </a:path>
              </a:pathLst>
            </a:custGeom>
            <a:solidFill>
              <a:srgbClr val="C5E0B4"/>
            </a:solidFill>
          </p:spPr>
          <p:txBody>
            <a:bodyPr wrap="square" lIns="0" tIns="0" rIns="0" bIns="0" rtlCol="0"/>
            <a:lstStyle/>
            <a:p>
              <a:endParaRPr/>
            </a:p>
          </p:txBody>
        </p:sp>
        <p:sp>
          <p:nvSpPr>
            <p:cNvPr id="4" name="object 11">
              <a:extLst>
                <a:ext uri="{FF2B5EF4-FFF2-40B4-BE49-F238E27FC236}">
                  <a16:creationId xmlns:a16="http://schemas.microsoft.com/office/drawing/2014/main" id="{2D016BA3-773A-DC66-BE9A-D6BC9E20A8B6}"/>
                </a:ext>
              </a:extLst>
            </p:cNvPr>
            <p:cNvSpPr/>
            <p:nvPr/>
          </p:nvSpPr>
          <p:spPr>
            <a:xfrm>
              <a:off x="1031215" y="2169439"/>
              <a:ext cx="5433695" cy="1082675"/>
            </a:xfrm>
            <a:custGeom>
              <a:avLst/>
              <a:gdLst/>
              <a:ahLst/>
              <a:cxnLst/>
              <a:rect l="l" t="t" r="r" b="b"/>
              <a:pathLst>
                <a:path w="5433695" h="1082675">
                  <a:moveTo>
                    <a:pt x="0" y="0"/>
                  </a:moveTo>
                  <a:lnTo>
                    <a:pt x="5433368" y="0"/>
                  </a:lnTo>
                  <a:lnTo>
                    <a:pt x="5433368" y="1082162"/>
                  </a:lnTo>
                  <a:lnTo>
                    <a:pt x="0" y="1082162"/>
                  </a:lnTo>
                  <a:lnTo>
                    <a:pt x="0" y="0"/>
                  </a:lnTo>
                  <a:close/>
                </a:path>
              </a:pathLst>
            </a:custGeom>
            <a:ln w="19488">
              <a:solidFill>
                <a:srgbClr val="002060"/>
              </a:solidFill>
            </a:ln>
          </p:spPr>
          <p:txBody>
            <a:bodyPr wrap="square" lIns="0" tIns="0" rIns="0" bIns="0" rtlCol="0"/>
            <a:lstStyle/>
            <a:p>
              <a:endParaRPr/>
            </a:p>
          </p:txBody>
        </p:sp>
      </p:grpSp>
      <p:sp>
        <p:nvSpPr>
          <p:cNvPr id="5" name="object 12">
            <a:extLst>
              <a:ext uri="{FF2B5EF4-FFF2-40B4-BE49-F238E27FC236}">
                <a16:creationId xmlns:a16="http://schemas.microsoft.com/office/drawing/2014/main" id="{AB756906-A0D4-4D34-065F-D450D95FDB77}"/>
              </a:ext>
            </a:extLst>
          </p:cNvPr>
          <p:cNvSpPr txBox="1"/>
          <p:nvPr/>
        </p:nvSpPr>
        <p:spPr>
          <a:xfrm>
            <a:off x="1035050" y="1758763"/>
            <a:ext cx="4229735" cy="880744"/>
          </a:xfrm>
          <a:prstGeom prst="rect">
            <a:avLst/>
          </a:prstGeom>
        </p:spPr>
        <p:txBody>
          <a:bodyPr vert="horz" wrap="square" lIns="0" tIns="14604" rIns="0" bIns="0" rtlCol="0">
            <a:spAutoFit/>
          </a:bodyPr>
          <a:lstStyle/>
          <a:p>
            <a:pPr marL="129539" indent="-116839">
              <a:lnSpc>
                <a:spcPct val="100000"/>
              </a:lnSpc>
              <a:spcBef>
                <a:spcPts val="114"/>
              </a:spcBef>
              <a:buChar char="•"/>
              <a:tabLst>
                <a:tab pos="129539" algn="l"/>
              </a:tabLst>
            </a:pPr>
            <a:r>
              <a:rPr sz="1600" dirty="0">
                <a:latin typeface="Cambria" panose="02040503050406030204" pitchFamily="18" charset="0"/>
                <a:ea typeface="Cambria" panose="02040503050406030204" pitchFamily="18" charset="0"/>
                <a:cs typeface="Arial"/>
              </a:rPr>
              <a:t>Knowledge</a:t>
            </a:r>
            <a:r>
              <a:rPr sz="1600" spc="135" dirty="0">
                <a:latin typeface="Cambria" panose="02040503050406030204" pitchFamily="18" charset="0"/>
                <a:ea typeface="Cambria" panose="02040503050406030204" pitchFamily="18" charset="0"/>
                <a:cs typeface="Arial"/>
              </a:rPr>
              <a:t> </a:t>
            </a:r>
            <a:r>
              <a:rPr sz="1600" dirty="0">
                <a:latin typeface="Cambria" panose="02040503050406030204" pitchFamily="18" charset="0"/>
                <a:ea typeface="Cambria" panose="02040503050406030204" pitchFamily="18" charset="0"/>
                <a:cs typeface="Arial"/>
              </a:rPr>
              <a:t>representation</a:t>
            </a:r>
            <a:r>
              <a:rPr sz="1600" spc="135" dirty="0">
                <a:latin typeface="Cambria" panose="02040503050406030204" pitchFamily="18" charset="0"/>
                <a:ea typeface="Cambria" panose="02040503050406030204" pitchFamily="18" charset="0"/>
                <a:cs typeface="Arial"/>
              </a:rPr>
              <a:t> </a:t>
            </a:r>
            <a:r>
              <a:rPr sz="1600" dirty="0">
                <a:latin typeface="Cambria" panose="02040503050406030204" pitchFamily="18" charset="0"/>
                <a:ea typeface="Cambria" panose="02040503050406030204" pitchFamily="18" charset="0"/>
                <a:cs typeface="Arial"/>
              </a:rPr>
              <a:t>and</a:t>
            </a:r>
            <a:r>
              <a:rPr sz="1600" spc="140" dirty="0">
                <a:latin typeface="Cambria" panose="02040503050406030204" pitchFamily="18" charset="0"/>
                <a:ea typeface="Cambria" panose="02040503050406030204" pitchFamily="18" charset="0"/>
                <a:cs typeface="Arial"/>
              </a:rPr>
              <a:t> </a:t>
            </a:r>
            <a:r>
              <a:rPr sz="1600" spc="-10" dirty="0">
                <a:latin typeface="Cambria" panose="02040503050406030204" pitchFamily="18" charset="0"/>
                <a:ea typeface="Cambria" panose="02040503050406030204" pitchFamily="18" charset="0"/>
                <a:cs typeface="Arial"/>
              </a:rPr>
              <a:t>reasoning:</a:t>
            </a:r>
            <a:endParaRPr sz="1600" dirty="0">
              <a:latin typeface="Cambria" panose="02040503050406030204" pitchFamily="18" charset="0"/>
              <a:ea typeface="Cambria" panose="02040503050406030204" pitchFamily="18" charset="0"/>
              <a:cs typeface="Arial"/>
            </a:endParaRPr>
          </a:p>
          <a:p>
            <a:pPr marL="361950" lvl="1" indent="-116205">
              <a:lnSpc>
                <a:spcPts val="1590"/>
              </a:lnSpc>
              <a:buChar char="•"/>
              <a:tabLst>
                <a:tab pos="361950" algn="l"/>
              </a:tabLst>
            </a:pPr>
            <a:r>
              <a:rPr sz="1350" dirty="0">
                <a:latin typeface="Cambria" panose="02040503050406030204" pitchFamily="18" charset="0"/>
                <a:ea typeface="Cambria" panose="02040503050406030204" pitchFamily="18" charset="0"/>
                <a:cs typeface="Arial"/>
              </a:rPr>
              <a:t>Logic-</a:t>
            </a:r>
            <a:r>
              <a:rPr sz="1350" spc="-10" dirty="0">
                <a:latin typeface="Cambria" panose="02040503050406030204" pitchFamily="18" charset="0"/>
                <a:ea typeface="Cambria" panose="02040503050406030204" pitchFamily="18" charset="0"/>
                <a:cs typeface="Arial"/>
              </a:rPr>
              <a:t>based</a:t>
            </a:r>
            <a:endParaRPr sz="1350" dirty="0">
              <a:latin typeface="Cambria" panose="02040503050406030204" pitchFamily="18" charset="0"/>
              <a:ea typeface="Cambria" panose="02040503050406030204" pitchFamily="18" charset="0"/>
              <a:cs typeface="Arial"/>
            </a:endParaRPr>
          </a:p>
          <a:p>
            <a:pPr marL="361950" lvl="1" indent="-116205">
              <a:lnSpc>
                <a:spcPts val="1590"/>
              </a:lnSpc>
              <a:buChar char="•"/>
              <a:tabLst>
                <a:tab pos="361950" algn="l"/>
              </a:tabLst>
            </a:pPr>
            <a:r>
              <a:rPr sz="1350" dirty="0">
                <a:latin typeface="Cambria" panose="02040503050406030204" pitchFamily="18" charset="0"/>
                <a:ea typeface="Cambria" panose="02040503050406030204" pitchFamily="18" charset="0"/>
                <a:cs typeface="Arial"/>
              </a:rPr>
              <a:t>Rule-based</a:t>
            </a:r>
            <a:r>
              <a:rPr sz="1350" spc="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expert </a:t>
            </a:r>
            <a:r>
              <a:rPr sz="1350" spc="-10" dirty="0">
                <a:latin typeface="Cambria" panose="02040503050406030204" pitchFamily="18" charset="0"/>
                <a:ea typeface="Cambria" panose="02040503050406030204" pitchFamily="18" charset="0"/>
                <a:cs typeface="Arial"/>
              </a:rPr>
              <a:t>systems</a:t>
            </a:r>
            <a:endParaRPr sz="1350" dirty="0">
              <a:latin typeface="Cambria" panose="02040503050406030204" pitchFamily="18" charset="0"/>
              <a:ea typeface="Cambria" panose="02040503050406030204" pitchFamily="18" charset="0"/>
              <a:cs typeface="Arial"/>
            </a:endParaRPr>
          </a:p>
          <a:p>
            <a:pPr marL="361950" lvl="1" indent="-116205">
              <a:lnSpc>
                <a:spcPts val="1614"/>
              </a:lnSpc>
              <a:buChar char="•"/>
              <a:tabLst>
                <a:tab pos="361950" algn="l"/>
              </a:tabLst>
            </a:pPr>
            <a:r>
              <a:rPr sz="1350" dirty="0">
                <a:latin typeface="Cambria" panose="02040503050406030204" pitchFamily="18" charset="0"/>
                <a:ea typeface="Cambria" panose="02040503050406030204" pitchFamily="18" charset="0"/>
                <a:cs typeface="Arial"/>
              </a:rPr>
              <a:t>Constraint</a:t>
            </a:r>
            <a:r>
              <a:rPr sz="1350" spc="-15" dirty="0">
                <a:latin typeface="Cambria" panose="02040503050406030204" pitchFamily="18" charset="0"/>
                <a:ea typeface="Cambria" panose="02040503050406030204" pitchFamily="18" charset="0"/>
                <a:cs typeface="Arial"/>
              </a:rPr>
              <a:t> </a:t>
            </a:r>
            <a:r>
              <a:rPr sz="1350" dirty="0">
                <a:latin typeface="Cambria" panose="02040503050406030204" pitchFamily="18" charset="0"/>
                <a:ea typeface="Cambria" panose="02040503050406030204" pitchFamily="18" charset="0"/>
                <a:cs typeface="Arial"/>
              </a:rPr>
              <a:t>Satisfaction and Optimi</a:t>
            </a:r>
            <a:r>
              <a:rPr lang="en-US" sz="1350" dirty="0">
                <a:latin typeface="Cambria" panose="02040503050406030204" pitchFamily="18" charset="0"/>
                <a:ea typeface="Cambria" panose="02040503050406030204" pitchFamily="18" charset="0"/>
                <a:cs typeface="Arial"/>
              </a:rPr>
              <a:t>z</a:t>
            </a:r>
            <a:r>
              <a:rPr sz="1350" dirty="0">
                <a:latin typeface="Cambria" panose="02040503050406030204" pitchFamily="18" charset="0"/>
                <a:ea typeface="Cambria" panose="02040503050406030204" pitchFamily="18" charset="0"/>
                <a:cs typeface="Arial"/>
              </a:rPr>
              <a:t>ation</a:t>
            </a:r>
            <a:r>
              <a:rPr sz="1350" spc="5" dirty="0">
                <a:latin typeface="Cambria" panose="02040503050406030204" pitchFamily="18" charset="0"/>
                <a:ea typeface="Cambria" panose="02040503050406030204" pitchFamily="18" charset="0"/>
                <a:cs typeface="Arial"/>
              </a:rPr>
              <a:t> </a:t>
            </a:r>
            <a:r>
              <a:rPr sz="1350" spc="-10" dirty="0">
                <a:latin typeface="Cambria" panose="02040503050406030204" pitchFamily="18" charset="0"/>
                <a:ea typeface="Cambria" panose="02040503050406030204" pitchFamily="18" charset="0"/>
                <a:cs typeface="Arial"/>
              </a:rPr>
              <a:t>Problems</a:t>
            </a:r>
            <a:endParaRPr sz="1350" dirty="0">
              <a:latin typeface="Cambria" panose="02040503050406030204" pitchFamily="18" charset="0"/>
              <a:ea typeface="Cambria" panose="02040503050406030204" pitchFamily="18" charset="0"/>
              <a:cs typeface="Arial"/>
            </a:endParaRPr>
          </a:p>
        </p:txBody>
      </p:sp>
    </p:spTree>
    <p:extLst>
      <p:ext uri="{BB962C8B-B14F-4D97-AF65-F5344CB8AC3E}">
        <p14:creationId xmlns:p14="http://schemas.microsoft.com/office/powerpoint/2010/main" val="35954537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2FEFB-E5B4-2959-CAB5-13928854BD47}"/>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D87EBEFF-3E84-3E6F-540A-7FB2F9049FFB}"/>
              </a:ext>
            </a:extLst>
          </p:cNvPr>
          <p:cNvSpPr txBox="1"/>
          <p:nvPr/>
        </p:nvSpPr>
        <p:spPr>
          <a:xfrm>
            <a:off x="432714" y="311150"/>
            <a:ext cx="6164936" cy="864980"/>
          </a:xfrm>
          <a:prstGeom prst="rect">
            <a:avLst/>
          </a:prstGeom>
        </p:spPr>
        <p:txBody>
          <a:bodyPr vert="horz" wrap="square" lIns="0" tIns="114935" rIns="0" bIns="0" rtlCol="0">
            <a:spAutoFit/>
          </a:bodyPr>
          <a:lstStyle/>
          <a:p>
            <a:pPr marL="12700">
              <a:lnSpc>
                <a:spcPct val="100000"/>
              </a:lnSpc>
              <a:spcBef>
                <a:spcPts val="905"/>
              </a:spcBef>
            </a:pPr>
            <a:r>
              <a:rPr sz="2200" b="1" spc="-20" dirty="0">
                <a:solidFill>
                  <a:srgbClr val="FF0000"/>
                </a:solidFill>
                <a:latin typeface="Cambria"/>
                <a:cs typeface="Cambria"/>
              </a:rPr>
              <a:t>Characteristics </a:t>
            </a:r>
            <a:r>
              <a:rPr sz="2200" b="1" dirty="0">
                <a:solidFill>
                  <a:srgbClr val="FF0000"/>
                </a:solidFill>
                <a:latin typeface="Cambria"/>
                <a:cs typeface="Cambria"/>
              </a:rPr>
              <a:t>of</a:t>
            </a:r>
            <a:r>
              <a:rPr sz="2200" b="1" spc="-15" dirty="0">
                <a:solidFill>
                  <a:srgbClr val="FF0000"/>
                </a:solidFill>
                <a:latin typeface="Cambria"/>
                <a:cs typeface="Cambria"/>
              </a:rPr>
              <a:t> </a:t>
            </a:r>
            <a:r>
              <a:rPr sz="2200" b="1" spc="-10" dirty="0">
                <a:solidFill>
                  <a:srgbClr val="FF0000"/>
                </a:solidFill>
                <a:latin typeface="Cambria"/>
                <a:cs typeface="Cambria"/>
              </a:rPr>
              <a:t>intelligent</a:t>
            </a:r>
            <a:r>
              <a:rPr sz="2200" b="1" spc="-15" dirty="0">
                <a:solidFill>
                  <a:srgbClr val="FF0000"/>
                </a:solidFill>
                <a:latin typeface="Cambria"/>
                <a:cs typeface="Cambria"/>
              </a:rPr>
              <a:t> </a:t>
            </a:r>
            <a:r>
              <a:rPr sz="2200" b="1" spc="-10" dirty="0">
                <a:solidFill>
                  <a:srgbClr val="FF0000"/>
                </a:solidFill>
                <a:latin typeface="Cambria"/>
                <a:cs typeface="Cambria"/>
              </a:rPr>
              <a:t>systems</a:t>
            </a:r>
            <a:endParaRPr sz="2200" dirty="0">
              <a:latin typeface="Cambria"/>
              <a:cs typeface="Cambria"/>
            </a:endParaRPr>
          </a:p>
          <a:p>
            <a:pPr marL="411480" lvl="1" indent="-116205">
              <a:lnSpc>
                <a:spcPts val="1580"/>
              </a:lnSpc>
              <a:buChar char="•"/>
              <a:tabLst>
                <a:tab pos="411480" algn="l"/>
              </a:tabLst>
            </a:pPr>
            <a:endParaRPr lang="en-US" sz="1350" dirty="0">
              <a:solidFill>
                <a:srgbClr val="FF0000"/>
              </a:solidFill>
              <a:latin typeface="Cambria" panose="02040503050406030204" pitchFamily="18" charset="0"/>
              <a:ea typeface="Cambria" panose="02040503050406030204" pitchFamily="18" charset="0"/>
              <a:cs typeface="Arial"/>
            </a:endParaRPr>
          </a:p>
          <a:p>
            <a:pPr marL="411480" lvl="1" indent="-116205">
              <a:lnSpc>
                <a:spcPts val="1580"/>
              </a:lnSpc>
              <a:buChar char="•"/>
              <a:tabLst>
                <a:tab pos="411480" algn="l"/>
              </a:tabLst>
            </a:pPr>
            <a:r>
              <a:rPr lang="en-US" sz="1350" dirty="0">
                <a:solidFill>
                  <a:schemeClr val="tx1"/>
                </a:solidFill>
                <a:latin typeface="Cambria" panose="02040503050406030204" pitchFamily="18" charset="0"/>
                <a:ea typeface="Cambria" panose="02040503050406030204" pitchFamily="18" charset="0"/>
                <a:cs typeface="Arial"/>
              </a:rPr>
              <a:t>Dealing</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with</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imprecise</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expressions</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of </a:t>
            </a:r>
            <a:r>
              <a:rPr lang="en-US" sz="1350" spc="-20" dirty="0">
                <a:solidFill>
                  <a:schemeClr val="tx1"/>
                </a:solidFill>
                <a:latin typeface="Cambria" panose="02040503050406030204" pitchFamily="18" charset="0"/>
                <a:ea typeface="Cambria" panose="02040503050406030204" pitchFamily="18" charset="0"/>
                <a:cs typeface="Arial"/>
              </a:rPr>
              <a:t>facts</a:t>
            </a:r>
            <a:endParaRPr lang="en-US" sz="1350" dirty="0">
              <a:solidFill>
                <a:schemeClr val="tx1"/>
              </a:solidFill>
              <a:latin typeface="Cambria" panose="02040503050406030204" pitchFamily="18" charset="0"/>
              <a:ea typeface="Cambria" panose="02040503050406030204" pitchFamily="18" charset="0"/>
              <a:cs typeface="Arial"/>
            </a:endParaRPr>
          </a:p>
        </p:txBody>
      </p:sp>
      <p:grpSp>
        <p:nvGrpSpPr>
          <p:cNvPr id="2" name="object 20">
            <a:extLst>
              <a:ext uri="{FF2B5EF4-FFF2-40B4-BE49-F238E27FC236}">
                <a16:creationId xmlns:a16="http://schemas.microsoft.com/office/drawing/2014/main" id="{4089A0FB-1A3F-B197-875C-2CCA5BD0E235}"/>
              </a:ext>
            </a:extLst>
          </p:cNvPr>
          <p:cNvGrpSpPr/>
          <p:nvPr/>
        </p:nvGrpSpPr>
        <p:grpSpPr>
          <a:xfrm>
            <a:off x="730250" y="1232485"/>
            <a:ext cx="5275758" cy="1288076"/>
            <a:chOff x="1003337" y="1951973"/>
            <a:chExt cx="5453380" cy="1101725"/>
          </a:xfrm>
        </p:grpSpPr>
        <p:sp>
          <p:nvSpPr>
            <p:cNvPr id="3" name="object 21">
              <a:extLst>
                <a:ext uri="{FF2B5EF4-FFF2-40B4-BE49-F238E27FC236}">
                  <a16:creationId xmlns:a16="http://schemas.microsoft.com/office/drawing/2014/main" id="{95A082DA-106A-6BB7-6C45-CF0F08654DEA}"/>
                </a:ext>
              </a:extLst>
            </p:cNvPr>
            <p:cNvSpPr/>
            <p:nvPr/>
          </p:nvSpPr>
          <p:spPr>
            <a:xfrm>
              <a:off x="1013081" y="1961720"/>
              <a:ext cx="5433695" cy="1082675"/>
            </a:xfrm>
            <a:custGeom>
              <a:avLst/>
              <a:gdLst/>
              <a:ahLst/>
              <a:cxnLst/>
              <a:rect l="l" t="t" r="r" b="b"/>
              <a:pathLst>
                <a:path w="5433695" h="1082675">
                  <a:moveTo>
                    <a:pt x="5433377" y="0"/>
                  </a:moveTo>
                  <a:lnTo>
                    <a:pt x="0" y="0"/>
                  </a:lnTo>
                  <a:lnTo>
                    <a:pt x="0" y="1082164"/>
                  </a:lnTo>
                  <a:lnTo>
                    <a:pt x="5433377" y="1082164"/>
                  </a:lnTo>
                  <a:lnTo>
                    <a:pt x="5433377" y="0"/>
                  </a:lnTo>
                  <a:close/>
                </a:path>
              </a:pathLst>
            </a:custGeom>
            <a:solidFill>
              <a:srgbClr val="C5E0B4"/>
            </a:solidFill>
          </p:spPr>
          <p:txBody>
            <a:bodyPr wrap="square" lIns="0" tIns="0" rIns="0" bIns="0" rtlCol="0"/>
            <a:lstStyle/>
            <a:p>
              <a:endParaRPr/>
            </a:p>
          </p:txBody>
        </p:sp>
        <p:sp>
          <p:nvSpPr>
            <p:cNvPr id="4" name="object 22">
              <a:extLst>
                <a:ext uri="{FF2B5EF4-FFF2-40B4-BE49-F238E27FC236}">
                  <a16:creationId xmlns:a16="http://schemas.microsoft.com/office/drawing/2014/main" id="{8208923B-2E64-D2AF-8386-44CABDE7B5DE}"/>
                </a:ext>
              </a:extLst>
            </p:cNvPr>
            <p:cNvSpPr/>
            <p:nvPr/>
          </p:nvSpPr>
          <p:spPr>
            <a:xfrm>
              <a:off x="1013081" y="1961717"/>
              <a:ext cx="5433695" cy="1082675"/>
            </a:xfrm>
            <a:custGeom>
              <a:avLst/>
              <a:gdLst/>
              <a:ahLst/>
              <a:cxnLst/>
              <a:rect l="l" t="t" r="r" b="b"/>
              <a:pathLst>
                <a:path w="5433695" h="1082675">
                  <a:moveTo>
                    <a:pt x="0" y="0"/>
                  </a:moveTo>
                  <a:lnTo>
                    <a:pt x="5433368" y="0"/>
                  </a:lnTo>
                  <a:lnTo>
                    <a:pt x="5433368" y="1082162"/>
                  </a:lnTo>
                  <a:lnTo>
                    <a:pt x="0" y="1082162"/>
                  </a:lnTo>
                  <a:lnTo>
                    <a:pt x="0" y="0"/>
                  </a:lnTo>
                  <a:close/>
                </a:path>
              </a:pathLst>
            </a:custGeom>
            <a:ln w="19488">
              <a:solidFill>
                <a:srgbClr val="002060"/>
              </a:solidFill>
            </a:ln>
          </p:spPr>
          <p:txBody>
            <a:bodyPr wrap="square" lIns="0" tIns="0" rIns="0" bIns="0" rtlCol="0"/>
            <a:lstStyle/>
            <a:p>
              <a:endParaRPr/>
            </a:p>
          </p:txBody>
        </p:sp>
      </p:grpSp>
      <p:sp>
        <p:nvSpPr>
          <p:cNvPr id="5" name="object 23">
            <a:extLst>
              <a:ext uri="{FF2B5EF4-FFF2-40B4-BE49-F238E27FC236}">
                <a16:creationId xmlns:a16="http://schemas.microsoft.com/office/drawing/2014/main" id="{B5C4AC87-7116-11AC-4531-902D71DA3ABE}"/>
              </a:ext>
            </a:extLst>
          </p:cNvPr>
          <p:cNvSpPr txBox="1"/>
          <p:nvPr/>
        </p:nvSpPr>
        <p:spPr>
          <a:xfrm>
            <a:off x="937346" y="1243873"/>
            <a:ext cx="5059045" cy="1204112"/>
          </a:xfrm>
          <a:prstGeom prst="rect">
            <a:avLst/>
          </a:prstGeom>
        </p:spPr>
        <p:txBody>
          <a:bodyPr vert="horz" wrap="square" lIns="0" tIns="17145" rIns="0" bIns="0" rtlCol="0">
            <a:spAutoFit/>
          </a:bodyPr>
          <a:lstStyle/>
          <a:p>
            <a:pPr marL="128270" indent="-115570">
              <a:lnSpc>
                <a:spcPts val="2270"/>
              </a:lnSpc>
              <a:spcBef>
                <a:spcPts val="135"/>
              </a:spcBef>
              <a:buChar char="•"/>
              <a:tabLst>
                <a:tab pos="128270" algn="l"/>
              </a:tabLst>
            </a:pPr>
            <a:r>
              <a:rPr sz="1200" dirty="0">
                <a:latin typeface="Cambria" panose="02040503050406030204" pitchFamily="18" charset="0"/>
                <a:ea typeface="Cambria" panose="02040503050406030204" pitchFamily="18" charset="0"/>
                <a:cs typeface="Arial"/>
              </a:rPr>
              <a:t>Machine</a:t>
            </a:r>
            <a:r>
              <a:rPr sz="1200" spc="-35" dirty="0">
                <a:latin typeface="Cambria" panose="02040503050406030204" pitchFamily="18" charset="0"/>
                <a:ea typeface="Cambria" panose="02040503050406030204" pitchFamily="18" charset="0"/>
                <a:cs typeface="Arial"/>
              </a:rPr>
              <a:t> </a:t>
            </a:r>
            <a:r>
              <a:rPr lang="en-US" sz="1200" spc="-10" dirty="0">
                <a:latin typeface="Cambria" panose="02040503050406030204" pitchFamily="18" charset="0"/>
                <a:ea typeface="Cambria" panose="02040503050406030204" pitchFamily="18" charset="0"/>
                <a:cs typeface="Arial"/>
              </a:rPr>
              <a:t>L</a:t>
            </a:r>
            <a:r>
              <a:rPr sz="1200" spc="-10" dirty="0">
                <a:latin typeface="Cambria" panose="02040503050406030204" pitchFamily="18" charset="0"/>
                <a:ea typeface="Cambria" panose="02040503050406030204" pitchFamily="18" charset="0"/>
                <a:cs typeface="Arial"/>
              </a:rPr>
              <a:t>earning</a:t>
            </a:r>
            <a:endParaRPr lang="en-US" sz="1200" spc="-10" dirty="0">
              <a:latin typeface="Cambria" panose="02040503050406030204" pitchFamily="18" charset="0"/>
              <a:ea typeface="Cambria" panose="02040503050406030204" pitchFamily="18" charset="0"/>
              <a:cs typeface="Arial"/>
            </a:endParaRPr>
          </a:p>
          <a:p>
            <a:pPr marL="128270" indent="-115570">
              <a:lnSpc>
                <a:spcPts val="2270"/>
              </a:lnSpc>
              <a:spcBef>
                <a:spcPts val="135"/>
              </a:spcBef>
              <a:buChar char="•"/>
              <a:tabLst>
                <a:tab pos="128270" algn="l"/>
              </a:tabLst>
            </a:pPr>
            <a:r>
              <a:rPr sz="1200" dirty="0">
                <a:latin typeface="Cambria" panose="02040503050406030204" pitchFamily="18" charset="0"/>
                <a:ea typeface="Cambria" panose="02040503050406030204" pitchFamily="18" charset="0"/>
                <a:cs typeface="Arial"/>
              </a:rPr>
              <a:t>Deep</a:t>
            </a:r>
            <a:r>
              <a:rPr sz="1200" spc="65" dirty="0">
                <a:latin typeface="Cambria" panose="02040503050406030204" pitchFamily="18" charset="0"/>
                <a:ea typeface="Cambria" panose="02040503050406030204" pitchFamily="18" charset="0"/>
                <a:cs typeface="Arial"/>
              </a:rPr>
              <a:t> </a:t>
            </a:r>
            <a:r>
              <a:rPr lang="en-US" sz="1200" spc="-10" dirty="0">
                <a:latin typeface="Cambria" panose="02040503050406030204" pitchFamily="18" charset="0"/>
                <a:ea typeface="Cambria" panose="02040503050406030204" pitchFamily="18" charset="0"/>
                <a:cs typeface="Arial"/>
              </a:rPr>
              <a:t>L</a:t>
            </a:r>
            <a:r>
              <a:rPr sz="1200" spc="-10" dirty="0">
                <a:latin typeface="Cambria" panose="02040503050406030204" pitchFamily="18" charset="0"/>
                <a:ea typeface="Cambria" panose="02040503050406030204" pitchFamily="18" charset="0"/>
                <a:cs typeface="Arial"/>
              </a:rPr>
              <a:t>earning</a:t>
            </a:r>
            <a:endParaRPr lang="en-US" sz="1200" spc="-10" dirty="0">
              <a:latin typeface="Cambria" panose="02040503050406030204" pitchFamily="18" charset="0"/>
              <a:ea typeface="Cambria" panose="02040503050406030204" pitchFamily="18" charset="0"/>
              <a:cs typeface="Arial"/>
            </a:endParaRPr>
          </a:p>
          <a:p>
            <a:pPr marL="128270" indent="-115570">
              <a:lnSpc>
                <a:spcPts val="2270"/>
              </a:lnSpc>
              <a:spcBef>
                <a:spcPts val="135"/>
              </a:spcBef>
              <a:buChar char="•"/>
              <a:tabLst>
                <a:tab pos="128270" algn="l"/>
              </a:tabLst>
            </a:pPr>
            <a:r>
              <a:rPr lang="en-US" sz="1200" dirty="0">
                <a:latin typeface="Cambria" panose="02040503050406030204" pitchFamily="18" charset="0"/>
                <a:ea typeface="Cambria" panose="02040503050406030204" pitchFamily="18" charset="0"/>
                <a:cs typeface="Arial"/>
              </a:rPr>
              <a:t>Deep </a:t>
            </a:r>
            <a:r>
              <a:rPr sz="1200" dirty="0">
                <a:latin typeface="Cambria" panose="02040503050406030204" pitchFamily="18" charset="0"/>
                <a:ea typeface="Cambria" panose="02040503050406030204" pitchFamily="18" charset="0"/>
                <a:cs typeface="Arial"/>
              </a:rPr>
              <a:t>Reinforcement</a:t>
            </a:r>
            <a:r>
              <a:rPr sz="1200" spc="210" dirty="0">
                <a:latin typeface="Cambria" panose="02040503050406030204" pitchFamily="18" charset="0"/>
                <a:ea typeface="Cambria" panose="02040503050406030204" pitchFamily="18" charset="0"/>
                <a:cs typeface="Arial"/>
              </a:rPr>
              <a:t> </a:t>
            </a:r>
            <a:r>
              <a:rPr lang="en-US" sz="1200" spc="-10" dirty="0">
                <a:latin typeface="Cambria" panose="02040503050406030204" pitchFamily="18" charset="0"/>
                <a:ea typeface="Cambria" panose="02040503050406030204" pitchFamily="18" charset="0"/>
                <a:cs typeface="Arial"/>
              </a:rPr>
              <a:t>L</a:t>
            </a:r>
            <a:r>
              <a:rPr sz="1200" spc="-10" dirty="0">
                <a:latin typeface="Cambria" panose="02040503050406030204" pitchFamily="18" charset="0"/>
                <a:ea typeface="Cambria" panose="02040503050406030204" pitchFamily="18" charset="0"/>
                <a:cs typeface="Arial"/>
              </a:rPr>
              <a:t>earning</a:t>
            </a:r>
            <a:endParaRPr lang="en-US" sz="1200" spc="-10" dirty="0">
              <a:latin typeface="Cambria" panose="02040503050406030204" pitchFamily="18" charset="0"/>
              <a:ea typeface="Cambria" panose="02040503050406030204" pitchFamily="18" charset="0"/>
              <a:cs typeface="Arial"/>
            </a:endParaRPr>
          </a:p>
          <a:p>
            <a:pPr marL="128270" indent="-115570">
              <a:lnSpc>
                <a:spcPts val="2270"/>
              </a:lnSpc>
              <a:spcBef>
                <a:spcPts val="135"/>
              </a:spcBef>
              <a:buChar char="•"/>
              <a:tabLst>
                <a:tab pos="128270" algn="l"/>
              </a:tabLst>
            </a:pPr>
            <a:r>
              <a:rPr lang="en-US" sz="1200" dirty="0">
                <a:latin typeface="Cambria" panose="02040503050406030204" pitchFamily="18" charset="0"/>
                <a:ea typeface="Cambria" panose="02040503050406030204" pitchFamily="18" charset="0"/>
                <a:cs typeface="Arial"/>
              </a:rPr>
              <a:t>In-Context Learning (LLMs)</a:t>
            </a:r>
            <a:endParaRPr sz="1200" dirty="0">
              <a:latin typeface="Cambria" panose="02040503050406030204" pitchFamily="18" charset="0"/>
              <a:ea typeface="Cambria" panose="02040503050406030204" pitchFamily="18" charset="0"/>
              <a:cs typeface="Arial"/>
            </a:endParaRPr>
          </a:p>
        </p:txBody>
      </p:sp>
      <p:pic>
        <p:nvPicPr>
          <p:cNvPr id="10242" name="Picture 2" descr="Deep reinforcement learning scheme. A deep neural network learns the... |  Download Scientific Diagram">
            <a:extLst>
              <a:ext uri="{FF2B5EF4-FFF2-40B4-BE49-F238E27FC236}">
                <a16:creationId xmlns:a16="http://schemas.microsoft.com/office/drawing/2014/main" id="{42396A19-5528-8675-29B2-DF74F9711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625" y="2594697"/>
            <a:ext cx="4921250" cy="2518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0350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1309F-E516-17E5-69E5-1C6EA8A37246}"/>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CD95BE76-72B1-B02A-4900-AB190B4083FF}"/>
              </a:ext>
            </a:extLst>
          </p:cNvPr>
          <p:cNvSpPr txBox="1"/>
          <p:nvPr/>
        </p:nvSpPr>
        <p:spPr>
          <a:xfrm>
            <a:off x="432714" y="311150"/>
            <a:ext cx="6164936" cy="864980"/>
          </a:xfrm>
          <a:prstGeom prst="rect">
            <a:avLst/>
          </a:prstGeom>
        </p:spPr>
        <p:txBody>
          <a:bodyPr vert="horz" wrap="square" lIns="0" tIns="114935" rIns="0" bIns="0" rtlCol="0">
            <a:spAutoFit/>
          </a:bodyPr>
          <a:lstStyle/>
          <a:p>
            <a:pPr marL="12700">
              <a:lnSpc>
                <a:spcPct val="100000"/>
              </a:lnSpc>
              <a:spcBef>
                <a:spcPts val="905"/>
              </a:spcBef>
            </a:pPr>
            <a:r>
              <a:rPr sz="2200" b="1" spc="-20" dirty="0">
                <a:solidFill>
                  <a:srgbClr val="FF0000"/>
                </a:solidFill>
                <a:latin typeface="Cambria"/>
                <a:cs typeface="Cambria"/>
              </a:rPr>
              <a:t>Characteristics </a:t>
            </a:r>
            <a:r>
              <a:rPr sz="2200" b="1" dirty="0">
                <a:solidFill>
                  <a:srgbClr val="FF0000"/>
                </a:solidFill>
                <a:latin typeface="Cambria"/>
                <a:cs typeface="Cambria"/>
              </a:rPr>
              <a:t>of</a:t>
            </a:r>
            <a:r>
              <a:rPr sz="2200" b="1" spc="-15" dirty="0">
                <a:solidFill>
                  <a:srgbClr val="FF0000"/>
                </a:solidFill>
                <a:latin typeface="Cambria"/>
                <a:cs typeface="Cambria"/>
              </a:rPr>
              <a:t> </a:t>
            </a:r>
            <a:r>
              <a:rPr sz="2200" b="1" spc="-10" dirty="0">
                <a:solidFill>
                  <a:srgbClr val="FF0000"/>
                </a:solidFill>
                <a:latin typeface="Cambria"/>
                <a:cs typeface="Cambria"/>
              </a:rPr>
              <a:t>intelligent</a:t>
            </a:r>
            <a:r>
              <a:rPr sz="2200" b="1" spc="-15" dirty="0">
                <a:solidFill>
                  <a:srgbClr val="FF0000"/>
                </a:solidFill>
                <a:latin typeface="Cambria"/>
                <a:cs typeface="Cambria"/>
              </a:rPr>
              <a:t> </a:t>
            </a:r>
            <a:r>
              <a:rPr sz="2200" b="1" spc="-10" dirty="0">
                <a:solidFill>
                  <a:srgbClr val="FF0000"/>
                </a:solidFill>
                <a:latin typeface="Cambria"/>
                <a:cs typeface="Cambria"/>
              </a:rPr>
              <a:t>systems</a:t>
            </a:r>
            <a:endParaRPr sz="2200" dirty="0">
              <a:latin typeface="Cambria"/>
              <a:cs typeface="Cambria"/>
            </a:endParaRPr>
          </a:p>
          <a:p>
            <a:pPr marL="411480" lvl="1" indent="-116205">
              <a:lnSpc>
                <a:spcPts val="1585"/>
              </a:lnSpc>
              <a:spcBef>
                <a:spcPts val="10"/>
              </a:spcBef>
              <a:buChar char="•"/>
              <a:tabLst>
                <a:tab pos="411480" algn="l"/>
              </a:tabLst>
            </a:pPr>
            <a:endParaRPr lang="en-US" sz="1350" dirty="0">
              <a:solidFill>
                <a:srgbClr val="FF0000"/>
              </a:solidFill>
              <a:latin typeface="Cambria" panose="02040503050406030204" pitchFamily="18" charset="0"/>
              <a:ea typeface="Cambria" panose="02040503050406030204" pitchFamily="18" charset="0"/>
              <a:cs typeface="Arial"/>
            </a:endParaRPr>
          </a:p>
          <a:p>
            <a:pPr marL="411480" lvl="1" indent="-116205">
              <a:lnSpc>
                <a:spcPts val="1585"/>
              </a:lnSpc>
              <a:spcBef>
                <a:spcPts val="10"/>
              </a:spcBef>
              <a:buChar char="•"/>
              <a:tabLst>
                <a:tab pos="411480" algn="l"/>
              </a:tabLst>
            </a:pPr>
            <a:r>
              <a:rPr sz="1350" dirty="0">
                <a:solidFill>
                  <a:schemeClr val="tx1"/>
                </a:solidFill>
                <a:latin typeface="Cambria" panose="02040503050406030204" pitchFamily="18" charset="0"/>
                <a:ea typeface="Cambria" panose="02040503050406030204" pitchFamily="18" charset="0"/>
                <a:cs typeface="Arial"/>
              </a:rPr>
              <a:t>Learning</a:t>
            </a:r>
            <a:r>
              <a:rPr sz="1350" spc="-5" dirty="0">
                <a:solidFill>
                  <a:schemeClr val="tx1"/>
                </a:solidFill>
                <a:latin typeface="Cambria" panose="02040503050406030204" pitchFamily="18" charset="0"/>
                <a:ea typeface="Cambria" panose="02040503050406030204" pitchFamily="18" charset="0"/>
                <a:cs typeface="Arial"/>
              </a:rPr>
              <a:t> </a:t>
            </a:r>
            <a:r>
              <a:rPr sz="1350" dirty="0">
                <a:solidFill>
                  <a:schemeClr val="tx1"/>
                </a:solidFill>
                <a:latin typeface="Cambria" panose="02040503050406030204" pitchFamily="18" charset="0"/>
                <a:ea typeface="Cambria" panose="02040503050406030204" pitchFamily="18" charset="0"/>
                <a:cs typeface="Arial"/>
              </a:rPr>
              <a:t>from</a:t>
            </a:r>
            <a:r>
              <a:rPr sz="1350" spc="-5" dirty="0">
                <a:solidFill>
                  <a:schemeClr val="tx1"/>
                </a:solidFill>
                <a:latin typeface="Cambria" panose="02040503050406030204" pitchFamily="18" charset="0"/>
                <a:ea typeface="Cambria" panose="02040503050406030204" pitchFamily="18" charset="0"/>
                <a:cs typeface="Arial"/>
              </a:rPr>
              <a:t> </a:t>
            </a:r>
            <a:r>
              <a:rPr sz="1350" dirty="0">
                <a:solidFill>
                  <a:schemeClr val="tx1"/>
                </a:solidFill>
                <a:latin typeface="Cambria" panose="02040503050406030204" pitchFamily="18" charset="0"/>
                <a:ea typeface="Cambria" panose="02040503050406030204" pitchFamily="18" charset="0"/>
                <a:cs typeface="Arial"/>
              </a:rPr>
              <a:t>experience</a:t>
            </a:r>
            <a:r>
              <a:rPr sz="1350" spc="-5" dirty="0">
                <a:solidFill>
                  <a:schemeClr val="tx1"/>
                </a:solidFill>
                <a:latin typeface="Cambria" panose="02040503050406030204" pitchFamily="18" charset="0"/>
                <a:ea typeface="Cambria" panose="02040503050406030204" pitchFamily="18" charset="0"/>
                <a:cs typeface="Arial"/>
              </a:rPr>
              <a:t> </a:t>
            </a:r>
            <a:r>
              <a:rPr sz="1350" dirty="0">
                <a:solidFill>
                  <a:schemeClr val="tx1"/>
                </a:solidFill>
                <a:latin typeface="Cambria" panose="02040503050406030204" pitchFamily="18" charset="0"/>
                <a:ea typeface="Cambria" panose="02040503050406030204" pitchFamily="18" charset="0"/>
                <a:cs typeface="Arial"/>
              </a:rPr>
              <a:t>(or</a:t>
            </a:r>
            <a:r>
              <a:rPr sz="1350" spc="-5" dirty="0">
                <a:solidFill>
                  <a:schemeClr val="tx1"/>
                </a:solidFill>
                <a:latin typeface="Cambria" panose="02040503050406030204" pitchFamily="18" charset="0"/>
                <a:ea typeface="Cambria" panose="02040503050406030204" pitchFamily="18" charset="0"/>
                <a:cs typeface="Arial"/>
              </a:rPr>
              <a:t> </a:t>
            </a:r>
            <a:r>
              <a:rPr sz="1350" spc="-10" dirty="0">
                <a:solidFill>
                  <a:schemeClr val="tx1"/>
                </a:solidFill>
                <a:latin typeface="Cambria" panose="02040503050406030204" pitchFamily="18" charset="0"/>
                <a:ea typeface="Cambria" panose="02040503050406030204" pitchFamily="18" charset="0"/>
                <a:cs typeface="Arial"/>
              </a:rPr>
              <a:t>training)</a:t>
            </a:r>
            <a:endParaRPr sz="1350" dirty="0">
              <a:solidFill>
                <a:schemeClr val="tx1"/>
              </a:solidFill>
              <a:latin typeface="Cambria" panose="02040503050406030204" pitchFamily="18" charset="0"/>
              <a:ea typeface="Cambria" panose="02040503050406030204" pitchFamily="18" charset="0"/>
              <a:cs typeface="Arial"/>
            </a:endParaRPr>
          </a:p>
        </p:txBody>
      </p:sp>
      <p:grpSp>
        <p:nvGrpSpPr>
          <p:cNvPr id="2" name="object 20">
            <a:extLst>
              <a:ext uri="{FF2B5EF4-FFF2-40B4-BE49-F238E27FC236}">
                <a16:creationId xmlns:a16="http://schemas.microsoft.com/office/drawing/2014/main" id="{5865310D-8A85-F982-68DB-67F8A1E40B26}"/>
              </a:ext>
            </a:extLst>
          </p:cNvPr>
          <p:cNvGrpSpPr/>
          <p:nvPr/>
        </p:nvGrpSpPr>
        <p:grpSpPr>
          <a:xfrm>
            <a:off x="788491" y="1385275"/>
            <a:ext cx="5385103" cy="907076"/>
            <a:chOff x="1003337" y="1951973"/>
            <a:chExt cx="5453380" cy="1101725"/>
          </a:xfrm>
        </p:grpSpPr>
        <p:sp>
          <p:nvSpPr>
            <p:cNvPr id="3" name="object 21">
              <a:extLst>
                <a:ext uri="{FF2B5EF4-FFF2-40B4-BE49-F238E27FC236}">
                  <a16:creationId xmlns:a16="http://schemas.microsoft.com/office/drawing/2014/main" id="{1DC3604E-DF91-CE22-1205-88D24C563BFB}"/>
                </a:ext>
              </a:extLst>
            </p:cNvPr>
            <p:cNvSpPr/>
            <p:nvPr/>
          </p:nvSpPr>
          <p:spPr>
            <a:xfrm>
              <a:off x="1013081" y="1961720"/>
              <a:ext cx="5433695" cy="1082675"/>
            </a:xfrm>
            <a:custGeom>
              <a:avLst/>
              <a:gdLst/>
              <a:ahLst/>
              <a:cxnLst/>
              <a:rect l="l" t="t" r="r" b="b"/>
              <a:pathLst>
                <a:path w="5433695" h="1082675">
                  <a:moveTo>
                    <a:pt x="5433377" y="0"/>
                  </a:moveTo>
                  <a:lnTo>
                    <a:pt x="0" y="0"/>
                  </a:lnTo>
                  <a:lnTo>
                    <a:pt x="0" y="1082164"/>
                  </a:lnTo>
                  <a:lnTo>
                    <a:pt x="5433377" y="1082164"/>
                  </a:lnTo>
                  <a:lnTo>
                    <a:pt x="5433377" y="0"/>
                  </a:lnTo>
                  <a:close/>
                </a:path>
              </a:pathLst>
            </a:custGeom>
            <a:solidFill>
              <a:srgbClr val="C5E0B4"/>
            </a:solidFill>
          </p:spPr>
          <p:txBody>
            <a:bodyPr wrap="square" lIns="0" tIns="0" rIns="0" bIns="0" rtlCol="0"/>
            <a:lstStyle/>
            <a:p>
              <a:endParaRPr/>
            </a:p>
          </p:txBody>
        </p:sp>
        <p:sp>
          <p:nvSpPr>
            <p:cNvPr id="4" name="object 22">
              <a:extLst>
                <a:ext uri="{FF2B5EF4-FFF2-40B4-BE49-F238E27FC236}">
                  <a16:creationId xmlns:a16="http://schemas.microsoft.com/office/drawing/2014/main" id="{B0968A67-AF8F-C1DB-C57D-13AE2DB30455}"/>
                </a:ext>
              </a:extLst>
            </p:cNvPr>
            <p:cNvSpPr/>
            <p:nvPr/>
          </p:nvSpPr>
          <p:spPr>
            <a:xfrm>
              <a:off x="1013081" y="1961717"/>
              <a:ext cx="5433695" cy="1082675"/>
            </a:xfrm>
            <a:custGeom>
              <a:avLst/>
              <a:gdLst/>
              <a:ahLst/>
              <a:cxnLst/>
              <a:rect l="l" t="t" r="r" b="b"/>
              <a:pathLst>
                <a:path w="5433695" h="1082675">
                  <a:moveTo>
                    <a:pt x="0" y="0"/>
                  </a:moveTo>
                  <a:lnTo>
                    <a:pt x="5433368" y="0"/>
                  </a:lnTo>
                  <a:lnTo>
                    <a:pt x="5433368" y="1082162"/>
                  </a:lnTo>
                  <a:lnTo>
                    <a:pt x="0" y="1082162"/>
                  </a:lnTo>
                  <a:lnTo>
                    <a:pt x="0" y="0"/>
                  </a:lnTo>
                  <a:close/>
                </a:path>
              </a:pathLst>
            </a:custGeom>
            <a:ln w="19488">
              <a:solidFill>
                <a:srgbClr val="002060"/>
              </a:solidFill>
            </a:ln>
          </p:spPr>
          <p:txBody>
            <a:bodyPr wrap="square" lIns="0" tIns="0" rIns="0" bIns="0" rtlCol="0"/>
            <a:lstStyle/>
            <a:p>
              <a:endParaRPr/>
            </a:p>
          </p:txBody>
        </p:sp>
      </p:grpSp>
      <p:sp>
        <p:nvSpPr>
          <p:cNvPr id="5" name="object 23">
            <a:extLst>
              <a:ext uri="{FF2B5EF4-FFF2-40B4-BE49-F238E27FC236}">
                <a16:creationId xmlns:a16="http://schemas.microsoft.com/office/drawing/2014/main" id="{67D97DF1-3926-3370-797B-2F30DE984F9A}"/>
              </a:ext>
            </a:extLst>
          </p:cNvPr>
          <p:cNvSpPr txBox="1"/>
          <p:nvPr/>
        </p:nvSpPr>
        <p:spPr>
          <a:xfrm>
            <a:off x="1114550" y="1452992"/>
            <a:ext cx="5059045" cy="748282"/>
          </a:xfrm>
          <a:prstGeom prst="rect">
            <a:avLst/>
          </a:prstGeom>
        </p:spPr>
        <p:txBody>
          <a:bodyPr vert="horz" wrap="square" lIns="0" tIns="17145" rIns="0" bIns="0" rtlCol="0">
            <a:spAutoFit/>
          </a:bodyPr>
          <a:lstStyle/>
          <a:p>
            <a:pPr marL="177800" indent="-115570">
              <a:lnSpc>
                <a:spcPts val="2270"/>
              </a:lnSpc>
              <a:spcBef>
                <a:spcPts val="430"/>
              </a:spcBef>
              <a:buChar char="•"/>
              <a:tabLst>
                <a:tab pos="177800" algn="l"/>
              </a:tabLst>
            </a:pPr>
            <a:r>
              <a:rPr lang="en-US" sz="1900" dirty="0">
                <a:latin typeface="Cambria" panose="02040503050406030204" pitchFamily="18" charset="0"/>
                <a:ea typeface="Cambria" panose="02040503050406030204" pitchFamily="18" charset="0"/>
                <a:cs typeface="Arial"/>
              </a:rPr>
              <a:t>Fuzzy</a:t>
            </a:r>
            <a:r>
              <a:rPr lang="en-US" sz="1900" spc="-30" dirty="0">
                <a:latin typeface="Cambria" panose="02040503050406030204" pitchFamily="18" charset="0"/>
                <a:ea typeface="Cambria" panose="02040503050406030204" pitchFamily="18" charset="0"/>
                <a:cs typeface="Arial"/>
              </a:rPr>
              <a:t> </a:t>
            </a:r>
            <a:r>
              <a:rPr lang="en-US" sz="1900" spc="-10" dirty="0">
                <a:latin typeface="Cambria" panose="02040503050406030204" pitchFamily="18" charset="0"/>
                <a:ea typeface="Cambria" panose="02040503050406030204" pitchFamily="18" charset="0"/>
                <a:cs typeface="Arial"/>
              </a:rPr>
              <a:t>logic</a:t>
            </a:r>
            <a:endParaRPr lang="en-US" sz="1900" dirty="0">
              <a:latin typeface="Cambria" panose="02040503050406030204" pitchFamily="18" charset="0"/>
              <a:ea typeface="Cambria" panose="02040503050406030204" pitchFamily="18" charset="0"/>
              <a:cs typeface="Arial"/>
            </a:endParaRPr>
          </a:p>
          <a:p>
            <a:pPr marL="410845" lvl="1" indent="-115570">
              <a:lnSpc>
                <a:spcPts val="1730"/>
              </a:lnSpc>
              <a:buChar char="•"/>
              <a:tabLst>
                <a:tab pos="410845" algn="l"/>
              </a:tabLst>
            </a:pPr>
            <a:r>
              <a:rPr lang="en-US" sz="1450" dirty="0">
                <a:latin typeface="Cambria" panose="02040503050406030204" pitchFamily="18" charset="0"/>
                <a:ea typeface="Cambria" panose="02040503050406030204" pitchFamily="18" charset="0"/>
                <a:cs typeface="Arial"/>
              </a:rPr>
              <a:t>Fuzzy</a:t>
            </a:r>
            <a:r>
              <a:rPr lang="en-US" sz="1450" spc="105" dirty="0">
                <a:latin typeface="Cambria" panose="02040503050406030204" pitchFamily="18" charset="0"/>
                <a:ea typeface="Cambria" panose="02040503050406030204" pitchFamily="18" charset="0"/>
                <a:cs typeface="Arial"/>
              </a:rPr>
              <a:t> </a:t>
            </a:r>
            <a:r>
              <a:rPr lang="en-US" sz="1450" spc="-10" dirty="0">
                <a:latin typeface="Cambria" panose="02040503050406030204" pitchFamily="18" charset="0"/>
                <a:ea typeface="Cambria" panose="02040503050406030204" pitchFamily="18" charset="0"/>
                <a:cs typeface="Arial"/>
              </a:rPr>
              <a:t>systems</a:t>
            </a:r>
            <a:endParaRPr lang="en-US" sz="1450" dirty="0">
              <a:latin typeface="Cambria" panose="02040503050406030204" pitchFamily="18" charset="0"/>
              <a:ea typeface="Cambria" panose="02040503050406030204" pitchFamily="18" charset="0"/>
              <a:cs typeface="Arial"/>
            </a:endParaRPr>
          </a:p>
          <a:p>
            <a:pPr marL="410845" lvl="1" indent="-115570">
              <a:lnSpc>
                <a:spcPts val="1735"/>
              </a:lnSpc>
              <a:buChar char="•"/>
              <a:tabLst>
                <a:tab pos="410845" algn="l"/>
              </a:tabLst>
            </a:pPr>
            <a:r>
              <a:rPr lang="en-US" sz="1450" dirty="0">
                <a:latin typeface="Cambria" panose="02040503050406030204" pitchFamily="18" charset="0"/>
                <a:ea typeface="Cambria" panose="02040503050406030204" pitchFamily="18" charset="0"/>
                <a:cs typeface="Arial"/>
              </a:rPr>
              <a:t>Rough</a:t>
            </a:r>
            <a:r>
              <a:rPr lang="en-US" sz="1450" spc="7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set</a:t>
            </a:r>
            <a:r>
              <a:rPr lang="en-US" sz="1450" spc="80" dirty="0">
                <a:latin typeface="Cambria" panose="02040503050406030204" pitchFamily="18" charset="0"/>
                <a:ea typeface="Cambria" panose="02040503050406030204" pitchFamily="18" charset="0"/>
                <a:cs typeface="Arial"/>
              </a:rPr>
              <a:t> </a:t>
            </a:r>
            <a:r>
              <a:rPr lang="en-US" sz="1450" spc="-10" dirty="0">
                <a:latin typeface="Cambria" panose="02040503050406030204" pitchFamily="18" charset="0"/>
                <a:ea typeface="Cambria" panose="02040503050406030204" pitchFamily="18" charset="0"/>
                <a:cs typeface="Arial"/>
              </a:rPr>
              <a:t>theory</a:t>
            </a:r>
            <a:endParaRPr sz="1450" dirty="0">
              <a:latin typeface="Cambria" panose="02040503050406030204" pitchFamily="18" charset="0"/>
              <a:ea typeface="Cambria" panose="02040503050406030204" pitchFamily="18" charset="0"/>
              <a:cs typeface="Arial"/>
            </a:endParaRPr>
          </a:p>
        </p:txBody>
      </p:sp>
      <p:pic>
        <p:nvPicPr>
          <p:cNvPr id="8194" name="Picture 2" descr="What is Fuzzy Logic? Advantages and Disadvantages">
            <a:extLst>
              <a:ext uri="{FF2B5EF4-FFF2-40B4-BE49-F238E27FC236}">
                <a16:creationId xmlns:a16="http://schemas.microsoft.com/office/drawing/2014/main" id="{4450634D-C308-3143-B1D9-2E0208BD53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361" y="2670909"/>
            <a:ext cx="3244850" cy="182556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Rough-Set-Theory-Based Classification with Optimized k-Means Discretization">
            <a:extLst>
              <a:ext uri="{FF2B5EF4-FFF2-40B4-BE49-F238E27FC236}">
                <a16:creationId xmlns:a16="http://schemas.microsoft.com/office/drawing/2014/main" id="{ADB5FD4F-118D-1EFC-B55E-9C39DF32EA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2211" y="2520950"/>
            <a:ext cx="2451566" cy="2284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0916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BC50-86AD-97C0-34BF-2FE2EEC76B21}"/>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C6929BB6-4FED-D3FE-FA38-32EF14A712FE}"/>
              </a:ext>
            </a:extLst>
          </p:cNvPr>
          <p:cNvSpPr txBox="1"/>
          <p:nvPr/>
        </p:nvSpPr>
        <p:spPr>
          <a:xfrm>
            <a:off x="432714" y="311150"/>
            <a:ext cx="6164936" cy="864980"/>
          </a:xfrm>
          <a:prstGeom prst="rect">
            <a:avLst/>
          </a:prstGeom>
        </p:spPr>
        <p:txBody>
          <a:bodyPr vert="horz" wrap="square" lIns="0" tIns="114935" rIns="0" bIns="0" rtlCol="0">
            <a:spAutoFit/>
          </a:bodyPr>
          <a:lstStyle/>
          <a:p>
            <a:pPr marL="12700">
              <a:lnSpc>
                <a:spcPct val="100000"/>
              </a:lnSpc>
              <a:spcBef>
                <a:spcPts val="905"/>
              </a:spcBef>
            </a:pPr>
            <a:r>
              <a:rPr sz="2200" b="1" spc="-20" dirty="0">
                <a:solidFill>
                  <a:srgbClr val="FF0000"/>
                </a:solidFill>
                <a:latin typeface="Cambria"/>
                <a:cs typeface="Cambria"/>
              </a:rPr>
              <a:t>Characteristics </a:t>
            </a:r>
            <a:r>
              <a:rPr sz="2200" b="1" dirty="0">
                <a:solidFill>
                  <a:srgbClr val="FF0000"/>
                </a:solidFill>
                <a:latin typeface="Cambria"/>
                <a:cs typeface="Cambria"/>
              </a:rPr>
              <a:t>of</a:t>
            </a:r>
            <a:r>
              <a:rPr sz="2200" b="1" spc="-15" dirty="0">
                <a:solidFill>
                  <a:srgbClr val="FF0000"/>
                </a:solidFill>
                <a:latin typeface="Cambria"/>
                <a:cs typeface="Cambria"/>
              </a:rPr>
              <a:t> </a:t>
            </a:r>
            <a:r>
              <a:rPr sz="2200" b="1" spc="-10" dirty="0">
                <a:solidFill>
                  <a:srgbClr val="FF0000"/>
                </a:solidFill>
                <a:latin typeface="Cambria"/>
                <a:cs typeface="Cambria"/>
              </a:rPr>
              <a:t>intelligent</a:t>
            </a:r>
            <a:r>
              <a:rPr sz="2200" b="1" spc="-15" dirty="0">
                <a:solidFill>
                  <a:srgbClr val="FF0000"/>
                </a:solidFill>
                <a:latin typeface="Cambria"/>
                <a:cs typeface="Cambria"/>
              </a:rPr>
              <a:t> </a:t>
            </a:r>
            <a:r>
              <a:rPr sz="2200" b="1" spc="-10" dirty="0">
                <a:solidFill>
                  <a:srgbClr val="FF0000"/>
                </a:solidFill>
                <a:latin typeface="Cambria"/>
                <a:cs typeface="Cambria"/>
              </a:rPr>
              <a:t>systems</a:t>
            </a:r>
            <a:endParaRPr sz="2200" dirty="0">
              <a:latin typeface="Cambria"/>
              <a:cs typeface="Cambria"/>
            </a:endParaRPr>
          </a:p>
          <a:p>
            <a:pPr marL="411480" lvl="1" indent="-116205">
              <a:lnSpc>
                <a:spcPts val="1580"/>
              </a:lnSpc>
              <a:buChar char="•"/>
              <a:tabLst>
                <a:tab pos="411480" algn="l"/>
              </a:tabLst>
            </a:pPr>
            <a:endParaRPr lang="en-US" sz="1350" dirty="0">
              <a:solidFill>
                <a:srgbClr val="FF0000"/>
              </a:solidFill>
              <a:latin typeface="Cambria" panose="02040503050406030204" pitchFamily="18" charset="0"/>
              <a:ea typeface="Cambria" panose="02040503050406030204" pitchFamily="18" charset="0"/>
              <a:cs typeface="Arial"/>
            </a:endParaRPr>
          </a:p>
          <a:p>
            <a:pPr marL="411480" lvl="1" indent="-116205">
              <a:lnSpc>
                <a:spcPts val="1580"/>
              </a:lnSpc>
              <a:buChar char="•"/>
              <a:tabLst>
                <a:tab pos="411480" algn="l"/>
              </a:tabLst>
            </a:pPr>
            <a:r>
              <a:rPr lang="en-US" sz="1350" dirty="0">
                <a:solidFill>
                  <a:schemeClr val="tx1"/>
                </a:solidFill>
                <a:latin typeface="Cambria" panose="02040503050406030204" pitchFamily="18" charset="0"/>
                <a:ea typeface="Cambria" panose="02040503050406030204" pitchFamily="18" charset="0"/>
                <a:cs typeface="Arial"/>
              </a:rPr>
              <a:t>Finding</a:t>
            </a:r>
            <a:r>
              <a:rPr lang="en-US" sz="1350" spc="-10"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solutions through processes similar</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to natural</a:t>
            </a:r>
            <a:r>
              <a:rPr lang="en-US" sz="1350" spc="10" dirty="0">
                <a:solidFill>
                  <a:schemeClr val="tx1"/>
                </a:solidFill>
                <a:latin typeface="Cambria" panose="02040503050406030204" pitchFamily="18" charset="0"/>
                <a:ea typeface="Cambria" panose="02040503050406030204" pitchFamily="18" charset="0"/>
                <a:cs typeface="Arial"/>
              </a:rPr>
              <a:t> </a:t>
            </a:r>
            <a:r>
              <a:rPr lang="en-US" sz="1350" spc="-10" dirty="0">
                <a:solidFill>
                  <a:schemeClr val="tx1"/>
                </a:solidFill>
                <a:latin typeface="Cambria" panose="02040503050406030204" pitchFamily="18" charset="0"/>
                <a:ea typeface="Cambria" panose="02040503050406030204" pitchFamily="18" charset="0"/>
                <a:cs typeface="Arial"/>
              </a:rPr>
              <a:t>evolution</a:t>
            </a:r>
            <a:endParaRPr lang="en-US" sz="1350" dirty="0">
              <a:solidFill>
                <a:schemeClr val="tx1"/>
              </a:solidFill>
              <a:latin typeface="Cambria" panose="02040503050406030204" pitchFamily="18" charset="0"/>
              <a:ea typeface="Cambria" panose="02040503050406030204" pitchFamily="18" charset="0"/>
              <a:cs typeface="Arial"/>
            </a:endParaRPr>
          </a:p>
        </p:txBody>
      </p:sp>
      <p:grpSp>
        <p:nvGrpSpPr>
          <p:cNvPr id="2" name="object 20">
            <a:extLst>
              <a:ext uri="{FF2B5EF4-FFF2-40B4-BE49-F238E27FC236}">
                <a16:creationId xmlns:a16="http://schemas.microsoft.com/office/drawing/2014/main" id="{4616C288-D420-31FF-3D37-234089EDDD9E}"/>
              </a:ext>
            </a:extLst>
          </p:cNvPr>
          <p:cNvGrpSpPr/>
          <p:nvPr/>
        </p:nvGrpSpPr>
        <p:grpSpPr>
          <a:xfrm>
            <a:off x="788492" y="1385275"/>
            <a:ext cx="5275758" cy="1516676"/>
            <a:chOff x="1003337" y="1951973"/>
            <a:chExt cx="5453380" cy="1101725"/>
          </a:xfrm>
        </p:grpSpPr>
        <p:sp>
          <p:nvSpPr>
            <p:cNvPr id="3" name="object 21">
              <a:extLst>
                <a:ext uri="{FF2B5EF4-FFF2-40B4-BE49-F238E27FC236}">
                  <a16:creationId xmlns:a16="http://schemas.microsoft.com/office/drawing/2014/main" id="{DE1706B8-48D1-18C7-D1FE-4E53B2052D25}"/>
                </a:ext>
              </a:extLst>
            </p:cNvPr>
            <p:cNvSpPr/>
            <p:nvPr/>
          </p:nvSpPr>
          <p:spPr>
            <a:xfrm>
              <a:off x="1013081" y="1961720"/>
              <a:ext cx="5433695" cy="1082675"/>
            </a:xfrm>
            <a:custGeom>
              <a:avLst/>
              <a:gdLst/>
              <a:ahLst/>
              <a:cxnLst/>
              <a:rect l="l" t="t" r="r" b="b"/>
              <a:pathLst>
                <a:path w="5433695" h="1082675">
                  <a:moveTo>
                    <a:pt x="5433377" y="0"/>
                  </a:moveTo>
                  <a:lnTo>
                    <a:pt x="0" y="0"/>
                  </a:lnTo>
                  <a:lnTo>
                    <a:pt x="0" y="1082164"/>
                  </a:lnTo>
                  <a:lnTo>
                    <a:pt x="5433377" y="1082164"/>
                  </a:lnTo>
                  <a:lnTo>
                    <a:pt x="5433377" y="0"/>
                  </a:lnTo>
                  <a:close/>
                </a:path>
              </a:pathLst>
            </a:custGeom>
            <a:solidFill>
              <a:srgbClr val="C5E0B4"/>
            </a:solidFill>
          </p:spPr>
          <p:txBody>
            <a:bodyPr wrap="square" lIns="0" tIns="0" rIns="0" bIns="0" rtlCol="0"/>
            <a:lstStyle/>
            <a:p>
              <a:endParaRPr/>
            </a:p>
          </p:txBody>
        </p:sp>
        <p:sp>
          <p:nvSpPr>
            <p:cNvPr id="4" name="object 22">
              <a:extLst>
                <a:ext uri="{FF2B5EF4-FFF2-40B4-BE49-F238E27FC236}">
                  <a16:creationId xmlns:a16="http://schemas.microsoft.com/office/drawing/2014/main" id="{BE764F96-0A62-D312-2338-BB0F74DFFFBC}"/>
                </a:ext>
              </a:extLst>
            </p:cNvPr>
            <p:cNvSpPr/>
            <p:nvPr/>
          </p:nvSpPr>
          <p:spPr>
            <a:xfrm>
              <a:off x="1013081" y="1961717"/>
              <a:ext cx="5433695" cy="1082675"/>
            </a:xfrm>
            <a:custGeom>
              <a:avLst/>
              <a:gdLst/>
              <a:ahLst/>
              <a:cxnLst/>
              <a:rect l="l" t="t" r="r" b="b"/>
              <a:pathLst>
                <a:path w="5433695" h="1082675">
                  <a:moveTo>
                    <a:pt x="0" y="0"/>
                  </a:moveTo>
                  <a:lnTo>
                    <a:pt x="5433368" y="0"/>
                  </a:lnTo>
                  <a:lnTo>
                    <a:pt x="5433368" y="1082162"/>
                  </a:lnTo>
                  <a:lnTo>
                    <a:pt x="0" y="1082162"/>
                  </a:lnTo>
                  <a:lnTo>
                    <a:pt x="0" y="0"/>
                  </a:lnTo>
                  <a:close/>
                </a:path>
              </a:pathLst>
            </a:custGeom>
            <a:ln w="19488">
              <a:solidFill>
                <a:srgbClr val="002060"/>
              </a:solidFill>
            </a:ln>
          </p:spPr>
          <p:txBody>
            <a:bodyPr wrap="square" lIns="0" tIns="0" rIns="0" bIns="0" rtlCol="0"/>
            <a:lstStyle/>
            <a:p>
              <a:endParaRPr/>
            </a:p>
          </p:txBody>
        </p:sp>
      </p:grpSp>
      <p:sp>
        <p:nvSpPr>
          <p:cNvPr id="5" name="object 23">
            <a:extLst>
              <a:ext uri="{FF2B5EF4-FFF2-40B4-BE49-F238E27FC236}">
                <a16:creationId xmlns:a16="http://schemas.microsoft.com/office/drawing/2014/main" id="{DD1414D8-9695-E6BD-F499-68A1AEFC68C2}"/>
              </a:ext>
            </a:extLst>
          </p:cNvPr>
          <p:cNvSpPr txBox="1"/>
          <p:nvPr/>
        </p:nvSpPr>
        <p:spPr>
          <a:xfrm>
            <a:off x="797919" y="1467336"/>
            <a:ext cx="5059045" cy="1363835"/>
          </a:xfrm>
          <a:prstGeom prst="rect">
            <a:avLst/>
          </a:prstGeom>
        </p:spPr>
        <p:txBody>
          <a:bodyPr vert="horz" wrap="square" lIns="0" tIns="17145" rIns="0" bIns="0" rtlCol="0">
            <a:spAutoFit/>
          </a:bodyPr>
          <a:lstStyle/>
          <a:p>
            <a:pPr marL="261620" lvl="1">
              <a:lnSpc>
                <a:spcPts val="2270"/>
              </a:lnSpc>
              <a:spcBef>
                <a:spcPts val="215"/>
              </a:spcBef>
              <a:tabLst>
                <a:tab pos="377190" algn="l"/>
              </a:tabLst>
            </a:pPr>
            <a:r>
              <a:rPr lang="en-US" sz="1900" dirty="0">
                <a:latin typeface="Cambria" panose="02040503050406030204" pitchFamily="18" charset="0"/>
                <a:ea typeface="Cambria" panose="02040503050406030204" pitchFamily="18" charset="0"/>
                <a:cs typeface="Arial"/>
              </a:rPr>
              <a:t>Soft</a:t>
            </a:r>
            <a:r>
              <a:rPr lang="en-US" sz="1900" spc="-70" dirty="0">
                <a:latin typeface="Cambria" panose="02040503050406030204" pitchFamily="18" charset="0"/>
                <a:ea typeface="Cambria" panose="02040503050406030204" pitchFamily="18" charset="0"/>
                <a:cs typeface="Arial"/>
              </a:rPr>
              <a:t> </a:t>
            </a:r>
            <a:r>
              <a:rPr lang="en-US" sz="1900" dirty="0">
                <a:latin typeface="Cambria" panose="02040503050406030204" pitchFamily="18" charset="0"/>
                <a:ea typeface="Cambria" panose="02040503050406030204" pitchFamily="18" charset="0"/>
                <a:cs typeface="Arial"/>
              </a:rPr>
              <a:t>computing/computational</a:t>
            </a:r>
            <a:r>
              <a:rPr lang="en-US" sz="1900" spc="-60" dirty="0">
                <a:latin typeface="Cambria" panose="02040503050406030204" pitchFamily="18" charset="0"/>
                <a:ea typeface="Cambria" panose="02040503050406030204" pitchFamily="18" charset="0"/>
                <a:cs typeface="Arial"/>
              </a:rPr>
              <a:t> </a:t>
            </a:r>
            <a:r>
              <a:rPr lang="en-US" sz="1900" spc="-10" dirty="0">
                <a:latin typeface="Cambria" panose="02040503050406030204" pitchFamily="18" charset="0"/>
                <a:ea typeface="Cambria" panose="02040503050406030204" pitchFamily="18" charset="0"/>
                <a:cs typeface="Arial"/>
              </a:rPr>
              <a:t>intelligence</a:t>
            </a:r>
            <a:endParaRPr lang="en-US" sz="1900" dirty="0">
              <a:latin typeface="Cambria" panose="02040503050406030204" pitchFamily="18" charset="0"/>
              <a:ea typeface="Cambria" panose="02040503050406030204" pitchFamily="18" charset="0"/>
              <a:cs typeface="Arial"/>
            </a:endParaRPr>
          </a:p>
          <a:p>
            <a:pPr marL="86995">
              <a:lnSpc>
                <a:spcPts val="1695"/>
              </a:lnSpc>
              <a:buSzPct val="110344"/>
              <a:tabLst>
                <a:tab pos="494665" algn="l"/>
              </a:tabLst>
            </a:pPr>
            <a:r>
              <a:rPr lang="en-US" sz="1450" dirty="0">
                <a:latin typeface="Cambria" panose="02040503050406030204" pitchFamily="18" charset="0"/>
                <a:ea typeface="Cambria" panose="02040503050406030204" pitchFamily="18" charset="0"/>
                <a:cs typeface="Arial"/>
              </a:rPr>
              <a:t>	•</a:t>
            </a:r>
            <a:r>
              <a:rPr lang="en-US" sz="1450" spc="8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Evolutionary</a:t>
            </a:r>
            <a:r>
              <a:rPr lang="en-US" sz="1450" spc="120"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computing</a:t>
            </a:r>
            <a:r>
              <a:rPr lang="en-US" sz="1450" spc="114" dirty="0">
                <a:latin typeface="Cambria" panose="02040503050406030204" pitchFamily="18" charset="0"/>
                <a:ea typeface="Cambria" panose="02040503050406030204" pitchFamily="18" charset="0"/>
                <a:cs typeface="Arial"/>
              </a:rPr>
              <a:t> </a:t>
            </a:r>
            <a:r>
              <a:rPr lang="en-US" sz="1450" spc="-20" dirty="0">
                <a:latin typeface="Cambria" panose="02040503050406030204" pitchFamily="18" charset="0"/>
                <a:ea typeface="Cambria" panose="02040503050406030204" pitchFamily="18" charset="0"/>
                <a:cs typeface="Arial"/>
              </a:rPr>
              <a:t>(EC)</a:t>
            </a:r>
            <a:endParaRPr lang="en-US" sz="1450" dirty="0">
              <a:latin typeface="Cambria" panose="02040503050406030204" pitchFamily="18" charset="0"/>
              <a:ea typeface="Cambria" panose="02040503050406030204" pitchFamily="18" charset="0"/>
              <a:cs typeface="Arial"/>
            </a:endParaRPr>
          </a:p>
          <a:p>
            <a:pPr marL="610870" lvl="1" indent="-115570">
              <a:lnSpc>
                <a:spcPts val="1705"/>
              </a:lnSpc>
              <a:buChar char="•"/>
              <a:tabLst>
                <a:tab pos="610870" algn="l"/>
              </a:tabLst>
            </a:pPr>
            <a:r>
              <a:rPr lang="en-US" sz="1450" dirty="0">
                <a:latin typeface="Cambria" panose="02040503050406030204" pitchFamily="18" charset="0"/>
                <a:ea typeface="Cambria" panose="02040503050406030204" pitchFamily="18" charset="0"/>
                <a:cs typeface="Arial"/>
              </a:rPr>
              <a:t>Genetic</a:t>
            </a:r>
            <a:r>
              <a:rPr lang="en-US" sz="1450" spc="14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algorithm</a:t>
            </a:r>
            <a:r>
              <a:rPr lang="en-US" sz="1450" spc="15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(GA)/Differential</a:t>
            </a:r>
            <a:r>
              <a:rPr lang="en-US" sz="1450" spc="14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Evolution</a:t>
            </a:r>
            <a:r>
              <a:rPr lang="en-US" sz="1450" spc="150" dirty="0">
                <a:latin typeface="Cambria" panose="02040503050406030204" pitchFamily="18" charset="0"/>
                <a:ea typeface="Cambria" panose="02040503050406030204" pitchFamily="18" charset="0"/>
                <a:cs typeface="Arial"/>
              </a:rPr>
              <a:t> </a:t>
            </a:r>
            <a:r>
              <a:rPr lang="en-US" sz="1450" spc="-20" dirty="0">
                <a:latin typeface="Cambria" panose="02040503050406030204" pitchFamily="18" charset="0"/>
                <a:ea typeface="Cambria" panose="02040503050406030204" pitchFamily="18" charset="0"/>
                <a:cs typeface="Arial"/>
              </a:rPr>
              <a:t>(DE)</a:t>
            </a:r>
            <a:endParaRPr lang="en-US" sz="1450" dirty="0">
              <a:latin typeface="Cambria" panose="02040503050406030204" pitchFamily="18" charset="0"/>
              <a:ea typeface="Cambria" panose="02040503050406030204" pitchFamily="18" charset="0"/>
              <a:cs typeface="Arial"/>
            </a:endParaRPr>
          </a:p>
          <a:p>
            <a:pPr marL="610870" marR="43180" lvl="1" indent="-115570">
              <a:lnSpc>
                <a:spcPts val="1410"/>
              </a:lnSpc>
              <a:spcBef>
                <a:spcPts val="330"/>
              </a:spcBef>
              <a:buChar char="•"/>
              <a:tabLst>
                <a:tab pos="612140" algn="l"/>
              </a:tabLst>
            </a:pPr>
            <a:r>
              <a:rPr lang="en-US" sz="1450" dirty="0">
                <a:latin typeface="Cambria" panose="02040503050406030204" pitchFamily="18" charset="0"/>
                <a:ea typeface="Cambria" panose="02040503050406030204" pitchFamily="18" charset="0"/>
                <a:cs typeface="Arial"/>
              </a:rPr>
              <a:t>Particle</a:t>
            </a:r>
            <a:r>
              <a:rPr lang="en-US" sz="1450" spc="140"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Swarm</a:t>
            </a:r>
            <a:r>
              <a:rPr lang="en-US" sz="1450" spc="150"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Optimization</a:t>
            </a:r>
            <a:r>
              <a:rPr lang="en-US" sz="1450" spc="14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(PSO)/Ant</a:t>
            </a:r>
            <a:r>
              <a:rPr lang="en-US" sz="1450" spc="140"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Colony</a:t>
            </a:r>
            <a:r>
              <a:rPr lang="en-US" sz="1450" spc="145" dirty="0">
                <a:latin typeface="Cambria" panose="02040503050406030204" pitchFamily="18" charset="0"/>
                <a:ea typeface="Cambria" panose="02040503050406030204" pitchFamily="18" charset="0"/>
                <a:cs typeface="Arial"/>
              </a:rPr>
              <a:t> </a:t>
            </a:r>
            <a:r>
              <a:rPr lang="en-US" sz="1450" spc="-10" dirty="0">
                <a:latin typeface="Cambria" panose="02040503050406030204" pitchFamily="18" charset="0"/>
                <a:ea typeface="Cambria" panose="02040503050406030204" pitchFamily="18" charset="0"/>
                <a:cs typeface="Arial"/>
              </a:rPr>
              <a:t>Optimization  (ACO)</a:t>
            </a:r>
            <a:endParaRPr lang="en-US" sz="1450" dirty="0">
              <a:latin typeface="Cambria" panose="02040503050406030204" pitchFamily="18" charset="0"/>
              <a:ea typeface="Cambria" panose="02040503050406030204" pitchFamily="18" charset="0"/>
              <a:cs typeface="Arial"/>
            </a:endParaRPr>
          </a:p>
          <a:p>
            <a:pPr marL="610870" lvl="1" indent="-115570">
              <a:lnSpc>
                <a:spcPts val="1695"/>
              </a:lnSpc>
              <a:buChar char="•"/>
              <a:tabLst>
                <a:tab pos="610870" algn="l"/>
              </a:tabLst>
            </a:pPr>
            <a:r>
              <a:rPr lang="en-US" sz="1450" dirty="0">
                <a:latin typeface="Cambria" panose="02040503050406030204" pitchFamily="18" charset="0"/>
                <a:ea typeface="Cambria" panose="02040503050406030204" pitchFamily="18" charset="0"/>
                <a:cs typeface="Arial"/>
              </a:rPr>
              <a:t>Artificial</a:t>
            </a:r>
            <a:r>
              <a:rPr lang="en-US" sz="1450" spc="12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Neural</a:t>
            </a:r>
            <a:r>
              <a:rPr lang="en-US" sz="1450" spc="12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Networks</a:t>
            </a:r>
            <a:r>
              <a:rPr lang="en-US" sz="1450" spc="135" dirty="0">
                <a:latin typeface="Cambria" panose="02040503050406030204" pitchFamily="18" charset="0"/>
                <a:ea typeface="Cambria" panose="02040503050406030204" pitchFamily="18" charset="0"/>
                <a:cs typeface="Arial"/>
              </a:rPr>
              <a:t> </a:t>
            </a:r>
            <a:r>
              <a:rPr lang="en-US" sz="1450" spc="-20" dirty="0">
                <a:latin typeface="Cambria" panose="02040503050406030204" pitchFamily="18" charset="0"/>
                <a:ea typeface="Cambria" panose="02040503050406030204" pitchFamily="18" charset="0"/>
                <a:cs typeface="Arial"/>
              </a:rPr>
              <a:t>(ANN)</a:t>
            </a:r>
            <a:endParaRPr lang="en-US" sz="1450" dirty="0">
              <a:latin typeface="Cambria" panose="02040503050406030204" pitchFamily="18" charset="0"/>
              <a:ea typeface="Cambria" panose="02040503050406030204" pitchFamily="18" charset="0"/>
              <a:cs typeface="Arial"/>
            </a:endParaRPr>
          </a:p>
        </p:txBody>
      </p:sp>
      <p:sp>
        <p:nvSpPr>
          <p:cNvPr id="7" name="AutoShape 2" descr="Hình 2. Sơ đồ vòng lặp Genetic Algorithm">
            <a:extLst>
              <a:ext uri="{FF2B5EF4-FFF2-40B4-BE49-F238E27FC236}">
                <a16:creationId xmlns:a16="http://schemas.microsoft.com/office/drawing/2014/main" id="{81A5DAA2-587D-BED6-C42A-69BEEEDEAEEB}"/>
              </a:ext>
            </a:extLst>
          </p:cNvPr>
          <p:cNvSpPr>
            <a:spLocks noChangeAspect="1" noChangeArrowheads="1"/>
          </p:cNvSpPr>
          <p:nvPr/>
        </p:nvSpPr>
        <p:spPr bwMode="auto">
          <a:xfrm>
            <a:off x="3625850" y="2520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001"/>
          </a:p>
        </p:txBody>
      </p:sp>
      <p:pic>
        <p:nvPicPr>
          <p:cNvPr id="9" name="Picture 8">
            <a:extLst>
              <a:ext uri="{FF2B5EF4-FFF2-40B4-BE49-F238E27FC236}">
                <a16:creationId xmlns:a16="http://schemas.microsoft.com/office/drawing/2014/main" id="{DBACB958-869C-B9B9-5136-2887773CA368}"/>
              </a:ext>
            </a:extLst>
          </p:cNvPr>
          <p:cNvPicPr>
            <a:picLocks noChangeAspect="1"/>
          </p:cNvPicPr>
          <p:nvPr/>
        </p:nvPicPr>
        <p:blipFill>
          <a:blip r:embed="rId3"/>
          <a:stretch>
            <a:fillRect/>
          </a:stretch>
        </p:blipFill>
        <p:spPr>
          <a:xfrm>
            <a:off x="869574" y="2996282"/>
            <a:ext cx="2716907" cy="2301901"/>
          </a:xfrm>
          <a:prstGeom prst="rect">
            <a:avLst/>
          </a:prstGeom>
        </p:spPr>
      </p:pic>
      <p:pic>
        <p:nvPicPr>
          <p:cNvPr id="9220" name="Picture 4" descr="Particle Swarm Optimization Architecture Illustration. | Download  Scientific Diagram">
            <a:extLst>
              <a:ext uri="{FF2B5EF4-FFF2-40B4-BE49-F238E27FC236}">
                <a16:creationId xmlns:a16="http://schemas.microsoft.com/office/drawing/2014/main" id="{FBADE9EF-F6E2-B1D9-217F-7EE34DC1AEF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25850" y="3209370"/>
            <a:ext cx="3429000" cy="1847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5955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FFF10-742F-89DC-CA4B-F8744AD07F48}"/>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0EAEE63-29C3-B8B8-E799-C003F0468923}"/>
              </a:ext>
            </a:extLst>
          </p:cNvPr>
          <p:cNvSpPr txBox="1"/>
          <p:nvPr/>
        </p:nvSpPr>
        <p:spPr>
          <a:xfrm>
            <a:off x="432714" y="311150"/>
            <a:ext cx="6164936" cy="864980"/>
          </a:xfrm>
          <a:prstGeom prst="rect">
            <a:avLst/>
          </a:prstGeom>
        </p:spPr>
        <p:txBody>
          <a:bodyPr vert="horz" wrap="square" lIns="0" tIns="114935" rIns="0" bIns="0" rtlCol="0">
            <a:spAutoFit/>
          </a:bodyPr>
          <a:lstStyle/>
          <a:p>
            <a:pPr marL="12700">
              <a:lnSpc>
                <a:spcPct val="100000"/>
              </a:lnSpc>
              <a:spcBef>
                <a:spcPts val="905"/>
              </a:spcBef>
            </a:pPr>
            <a:r>
              <a:rPr sz="2200" b="1" spc="-20" dirty="0">
                <a:solidFill>
                  <a:srgbClr val="FF0000"/>
                </a:solidFill>
                <a:latin typeface="Cambria"/>
                <a:cs typeface="Cambria"/>
              </a:rPr>
              <a:t>Characteristics </a:t>
            </a:r>
            <a:r>
              <a:rPr sz="2200" b="1" dirty="0">
                <a:solidFill>
                  <a:srgbClr val="FF0000"/>
                </a:solidFill>
                <a:latin typeface="Cambria"/>
                <a:cs typeface="Cambria"/>
              </a:rPr>
              <a:t>of</a:t>
            </a:r>
            <a:r>
              <a:rPr sz="2200" b="1" spc="-15" dirty="0">
                <a:solidFill>
                  <a:srgbClr val="FF0000"/>
                </a:solidFill>
                <a:latin typeface="Cambria"/>
                <a:cs typeface="Cambria"/>
              </a:rPr>
              <a:t> </a:t>
            </a:r>
            <a:r>
              <a:rPr sz="2200" b="1" spc="-10" dirty="0">
                <a:solidFill>
                  <a:srgbClr val="FF0000"/>
                </a:solidFill>
                <a:latin typeface="Cambria"/>
                <a:cs typeface="Cambria"/>
              </a:rPr>
              <a:t>intelligent</a:t>
            </a:r>
            <a:r>
              <a:rPr sz="2200" b="1" spc="-15" dirty="0">
                <a:solidFill>
                  <a:srgbClr val="FF0000"/>
                </a:solidFill>
                <a:latin typeface="Cambria"/>
                <a:cs typeface="Cambria"/>
              </a:rPr>
              <a:t> </a:t>
            </a:r>
            <a:r>
              <a:rPr sz="2200" b="1" spc="-10" dirty="0">
                <a:solidFill>
                  <a:srgbClr val="FF0000"/>
                </a:solidFill>
                <a:latin typeface="Cambria"/>
                <a:cs typeface="Cambria"/>
              </a:rPr>
              <a:t>systems</a:t>
            </a:r>
            <a:endParaRPr sz="2200" dirty="0">
              <a:latin typeface="Cambria"/>
              <a:cs typeface="Cambria"/>
            </a:endParaRPr>
          </a:p>
          <a:p>
            <a:pPr marL="411480" lvl="1" indent="-116205">
              <a:lnSpc>
                <a:spcPts val="1585"/>
              </a:lnSpc>
              <a:buChar char="•"/>
              <a:tabLst>
                <a:tab pos="411480" algn="l"/>
              </a:tabLst>
            </a:pPr>
            <a:endParaRPr lang="en-US" sz="1350" dirty="0">
              <a:solidFill>
                <a:srgbClr val="FF0000"/>
              </a:solidFill>
              <a:latin typeface="Cambria" panose="02040503050406030204" pitchFamily="18" charset="0"/>
              <a:ea typeface="Cambria" panose="02040503050406030204" pitchFamily="18" charset="0"/>
              <a:cs typeface="Arial"/>
            </a:endParaRPr>
          </a:p>
          <a:p>
            <a:pPr marL="411480" lvl="1" indent="-116205">
              <a:lnSpc>
                <a:spcPts val="1585"/>
              </a:lnSpc>
              <a:buChar char="•"/>
              <a:tabLst>
                <a:tab pos="411480" algn="l"/>
              </a:tabLst>
            </a:pPr>
            <a:r>
              <a:rPr lang="en-US" sz="1350" dirty="0">
                <a:solidFill>
                  <a:schemeClr val="tx1"/>
                </a:solidFill>
                <a:latin typeface="Cambria" panose="02040503050406030204" pitchFamily="18" charset="0"/>
                <a:ea typeface="Cambria" panose="02040503050406030204" pitchFamily="18" charset="0"/>
                <a:cs typeface="Arial"/>
              </a:rPr>
              <a:t>Has</a:t>
            </a:r>
            <a:r>
              <a:rPr lang="en-US" sz="1350" spc="-10"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the ability to</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interact</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and deal</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with other</a:t>
            </a:r>
            <a:r>
              <a:rPr lang="en-US" sz="1350" spc="-5" dirty="0">
                <a:solidFill>
                  <a:schemeClr val="tx1"/>
                </a:solidFill>
                <a:latin typeface="Cambria" panose="02040503050406030204" pitchFamily="18" charset="0"/>
                <a:ea typeface="Cambria" panose="02040503050406030204" pitchFamily="18" charset="0"/>
                <a:cs typeface="Arial"/>
              </a:rPr>
              <a:t> </a:t>
            </a:r>
            <a:r>
              <a:rPr lang="en-US" sz="1350" dirty="0">
                <a:solidFill>
                  <a:schemeClr val="tx1"/>
                </a:solidFill>
                <a:latin typeface="Cambria" panose="02040503050406030204" pitchFamily="18" charset="0"/>
                <a:ea typeface="Cambria" panose="02040503050406030204" pitchFamily="18" charset="0"/>
                <a:cs typeface="Arial"/>
              </a:rPr>
              <a:t>agents (including </a:t>
            </a:r>
            <a:r>
              <a:rPr lang="en-US" sz="1350" spc="-10" dirty="0">
                <a:solidFill>
                  <a:schemeClr val="tx1"/>
                </a:solidFill>
                <a:latin typeface="Cambria" panose="02040503050406030204" pitchFamily="18" charset="0"/>
                <a:ea typeface="Cambria" panose="02040503050406030204" pitchFamily="18" charset="0"/>
                <a:cs typeface="Arial"/>
              </a:rPr>
              <a:t>humans)</a:t>
            </a:r>
            <a:endParaRPr lang="en-US" sz="1350" dirty="0">
              <a:solidFill>
                <a:schemeClr val="tx1"/>
              </a:solidFill>
              <a:latin typeface="Cambria" panose="02040503050406030204" pitchFamily="18" charset="0"/>
              <a:ea typeface="Cambria" panose="02040503050406030204" pitchFamily="18" charset="0"/>
              <a:cs typeface="Arial"/>
            </a:endParaRPr>
          </a:p>
        </p:txBody>
      </p:sp>
      <p:grpSp>
        <p:nvGrpSpPr>
          <p:cNvPr id="2" name="object 20">
            <a:extLst>
              <a:ext uri="{FF2B5EF4-FFF2-40B4-BE49-F238E27FC236}">
                <a16:creationId xmlns:a16="http://schemas.microsoft.com/office/drawing/2014/main" id="{416613D3-DC4B-1168-B5B9-CECC6EB0A65F}"/>
              </a:ext>
            </a:extLst>
          </p:cNvPr>
          <p:cNvGrpSpPr/>
          <p:nvPr/>
        </p:nvGrpSpPr>
        <p:grpSpPr>
          <a:xfrm>
            <a:off x="788492" y="1385275"/>
            <a:ext cx="3370758" cy="1364276"/>
            <a:chOff x="1003337" y="1951973"/>
            <a:chExt cx="5453380" cy="1101725"/>
          </a:xfrm>
        </p:grpSpPr>
        <p:sp>
          <p:nvSpPr>
            <p:cNvPr id="3" name="object 21">
              <a:extLst>
                <a:ext uri="{FF2B5EF4-FFF2-40B4-BE49-F238E27FC236}">
                  <a16:creationId xmlns:a16="http://schemas.microsoft.com/office/drawing/2014/main" id="{0E5C5085-B3F2-FAD0-DFDE-2A840D52F724}"/>
                </a:ext>
              </a:extLst>
            </p:cNvPr>
            <p:cNvSpPr/>
            <p:nvPr/>
          </p:nvSpPr>
          <p:spPr>
            <a:xfrm>
              <a:off x="1013081" y="1961720"/>
              <a:ext cx="5433695" cy="1082675"/>
            </a:xfrm>
            <a:custGeom>
              <a:avLst/>
              <a:gdLst/>
              <a:ahLst/>
              <a:cxnLst/>
              <a:rect l="l" t="t" r="r" b="b"/>
              <a:pathLst>
                <a:path w="5433695" h="1082675">
                  <a:moveTo>
                    <a:pt x="5433377" y="0"/>
                  </a:moveTo>
                  <a:lnTo>
                    <a:pt x="0" y="0"/>
                  </a:lnTo>
                  <a:lnTo>
                    <a:pt x="0" y="1082164"/>
                  </a:lnTo>
                  <a:lnTo>
                    <a:pt x="5433377" y="1082164"/>
                  </a:lnTo>
                  <a:lnTo>
                    <a:pt x="5433377" y="0"/>
                  </a:lnTo>
                  <a:close/>
                </a:path>
              </a:pathLst>
            </a:custGeom>
            <a:solidFill>
              <a:srgbClr val="C5E0B4"/>
            </a:solidFill>
          </p:spPr>
          <p:txBody>
            <a:bodyPr wrap="square" lIns="0" tIns="0" rIns="0" bIns="0" rtlCol="0"/>
            <a:lstStyle/>
            <a:p>
              <a:endParaRPr/>
            </a:p>
          </p:txBody>
        </p:sp>
        <p:sp>
          <p:nvSpPr>
            <p:cNvPr id="4" name="object 22">
              <a:extLst>
                <a:ext uri="{FF2B5EF4-FFF2-40B4-BE49-F238E27FC236}">
                  <a16:creationId xmlns:a16="http://schemas.microsoft.com/office/drawing/2014/main" id="{6E8BFF15-8722-3EA1-2775-6DE2A3AFE8BF}"/>
                </a:ext>
              </a:extLst>
            </p:cNvPr>
            <p:cNvSpPr/>
            <p:nvPr/>
          </p:nvSpPr>
          <p:spPr>
            <a:xfrm>
              <a:off x="1013081" y="1961717"/>
              <a:ext cx="5433695" cy="1082675"/>
            </a:xfrm>
            <a:custGeom>
              <a:avLst/>
              <a:gdLst/>
              <a:ahLst/>
              <a:cxnLst/>
              <a:rect l="l" t="t" r="r" b="b"/>
              <a:pathLst>
                <a:path w="5433695" h="1082675">
                  <a:moveTo>
                    <a:pt x="0" y="0"/>
                  </a:moveTo>
                  <a:lnTo>
                    <a:pt x="5433368" y="0"/>
                  </a:lnTo>
                  <a:lnTo>
                    <a:pt x="5433368" y="1082162"/>
                  </a:lnTo>
                  <a:lnTo>
                    <a:pt x="0" y="1082162"/>
                  </a:lnTo>
                  <a:lnTo>
                    <a:pt x="0" y="0"/>
                  </a:lnTo>
                  <a:close/>
                </a:path>
              </a:pathLst>
            </a:custGeom>
            <a:ln w="19488">
              <a:solidFill>
                <a:srgbClr val="002060"/>
              </a:solidFill>
            </a:ln>
          </p:spPr>
          <p:txBody>
            <a:bodyPr wrap="square" lIns="0" tIns="0" rIns="0" bIns="0" rtlCol="0"/>
            <a:lstStyle/>
            <a:p>
              <a:endParaRPr/>
            </a:p>
          </p:txBody>
        </p:sp>
      </p:grpSp>
      <p:sp>
        <p:nvSpPr>
          <p:cNvPr id="5" name="object 23">
            <a:extLst>
              <a:ext uri="{FF2B5EF4-FFF2-40B4-BE49-F238E27FC236}">
                <a16:creationId xmlns:a16="http://schemas.microsoft.com/office/drawing/2014/main" id="{ADBBD9BD-ED08-1607-2DA0-068B43974278}"/>
              </a:ext>
            </a:extLst>
          </p:cNvPr>
          <p:cNvSpPr txBox="1"/>
          <p:nvPr/>
        </p:nvSpPr>
        <p:spPr>
          <a:xfrm>
            <a:off x="985659" y="1449049"/>
            <a:ext cx="5059045" cy="1197123"/>
          </a:xfrm>
          <a:prstGeom prst="rect">
            <a:avLst/>
          </a:prstGeom>
        </p:spPr>
        <p:txBody>
          <a:bodyPr vert="horz" wrap="square" lIns="0" tIns="17145" rIns="0" bIns="0" rtlCol="0">
            <a:spAutoFit/>
          </a:bodyPr>
          <a:lstStyle/>
          <a:p>
            <a:pPr marL="128270" indent="-115570">
              <a:lnSpc>
                <a:spcPts val="2265"/>
              </a:lnSpc>
              <a:spcBef>
                <a:spcPts val="135"/>
              </a:spcBef>
              <a:buChar char="•"/>
              <a:tabLst>
                <a:tab pos="128270" algn="l"/>
              </a:tabLst>
            </a:pPr>
            <a:r>
              <a:rPr lang="en-US" sz="1900" spc="-10" dirty="0">
                <a:latin typeface="Cambria" panose="02040503050406030204" pitchFamily="18" charset="0"/>
                <a:ea typeface="Cambria" panose="02040503050406030204" pitchFamily="18" charset="0"/>
                <a:cs typeface="Arial"/>
              </a:rPr>
              <a:t>Multi-</a:t>
            </a:r>
            <a:r>
              <a:rPr lang="en-US" sz="1900" dirty="0">
                <a:latin typeface="Cambria" panose="02040503050406030204" pitchFamily="18" charset="0"/>
                <a:ea typeface="Cambria" panose="02040503050406030204" pitchFamily="18" charset="0"/>
                <a:cs typeface="Arial"/>
              </a:rPr>
              <a:t>agent</a:t>
            </a:r>
            <a:r>
              <a:rPr lang="en-US" sz="1900" spc="5" dirty="0">
                <a:latin typeface="Cambria" panose="02040503050406030204" pitchFamily="18" charset="0"/>
                <a:ea typeface="Cambria" panose="02040503050406030204" pitchFamily="18" charset="0"/>
                <a:cs typeface="Arial"/>
              </a:rPr>
              <a:t> </a:t>
            </a:r>
            <a:r>
              <a:rPr lang="en-US" sz="1900" spc="-10" dirty="0">
                <a:latin typeface="Cambria" panose="02040503050406030204" pitchFamily="18" charset="0"/>
                <a:ea typeface="Cambria" panose="02040503050406030204" pitchFamily="18" charset="0"/>
                <a:cs typeface="Arial"/>
              </a:rPr>
              <a:t>systems</a:t>
            </a:r>
            <a:endParaRPr lang="en-US" sz="1900" dirty="0">
              <a:latin typeface="Cambria" panose="02040503050406030204" pitchFamily="18" charset="0"/>
              <a:ea typeface="Cambria" panose="02040503050406030204" pitchFamily="18" charset="0"/>
              <a:cs typeface="Arial"/>
            </a:endParaRPr>
          </a:p>
          <a:p>
            <a:pPr marL="361315" lvl="1" indent="-115570">
              <a:lnSpc>
                <a:spcPts val="1700"/>
              </a:lnSpc>
              <a:buChar char="•"/>
              <a:tabLst>
                <a:tab pos="361315" algn="l"/>
              </a:tabLst>
            </a:pPr>
            <a:r>
              <a:rPr lang="en-US" sz="1450" dirty="0">
                <a:latin typeface="Cambria" panose="02040503050406030204" pitchFamily="18" charset="0"/>
                <a:ea typeface="Cambria" panose="02040503050406030204" pitchFamily="18" charset="0"/>
                <a:cs typeface="Arial"/>
              </a:rPr>
              <a:t>Agent</a:t>
            </a:r>
            <a:r>
              <a:rPr lang="en-US" sz="1450" spc="95" dirty="0">
                <a:latin typeface="Cambria" panose="02040503050406030204" pitchFamily="18" charset="0"/>
                <a:ea typeface="Cambria" panose="02040503050406030204" pitchFamily="18" charset="0"/>
                <a:cs typeface="Arial"/>
              </a:rPr>
              <a:t> </a:t>
            </a:r>
            <a:r>
              <a:rPr lang="en-US" sz="1450" spc="-10" dirty="0">
                <a:latin typeface="Cambria" panose="02040503050406030204" pitchFamily="18" charset="0"/>
                <a:ea typeface="Cambria" panose="02040503050406030204" pitchFamily="18" charset="0"/>
                <a:cs typeface="Arial"/>
              </a:rPr>
              <a:t>communication</a:t>
            </a:r>
            <a:endParaRPr lang="en-US" sz="1450" dirty="0">
              <a:latin typeface="Cambria" panose="02040503050406030204" pitchFamily="18" charset="0"/>
              <a:ea typeface="Cambria" panose="02040503050406030204" pitchFamily="18" charset="0"/>
              <a:cs typeface="Arial"/>
            </a:endParaRPr>
          </a:p>
          <a:p>
            <a:pPr marL="361315" lvl="1" indent="-115570">
              <a:lnSpc>
                <a:spcPts val="1714"/>
              </a:lnSpc>
              <a:buChar char="•"/>
              <a:tabLst>
                <a:tab pos="361315" algn="l"/>
              </a:tabLst>
            </a:pPr>
            <a:r>
              <a:rPr lang="en-US" sz="1450" dirty="0">
                <a:latin typeface="Cambria" panose="02040503050406030204" pitchFamily="18" charset="0"/>
                <a:ea typeface="Cambria" panose="02040503050406030204" pitchFamily="18" charset="0"/>
                <a:cs typeface="Arial"/>
              </a:rPr>
              <a:t>Automated</a:t>
            </a:r>
            <a:r>
              <a:rPr lang="en-US" sz="1450" spc="170" dirty="0">
                <a:latin typeface="Cambria" panose="02040503050406030204" pitchFamily="18" charset="0"/>
                <a:ea typeface="Cambria" panose="02040503050406030204" pitchFamily="18" charset="0"/>
                <a:cs typeface="Arial"/>
              </a:rPr>
              <a:t> </a:t>
            </a:r>
            <a:r>
              <a:rPr lang="en-US" sz="1450" spc="-10" dirty="0">
                <a:latin typeface="Cambria" panose="02040503050406030204" pitchFamily="18" charset="0"/>
                <a:ea typeface="Cambria" panose="02040503050406030204" pitchFamily="18" charset="0"/>
                <a:cs typeface="Arial"/>
              </a:rPr>
              <a:t>negotiation</a:t>
            </a:r>
            <a:endParaRPr lang="en-US" sz="1450" dirty="0">
              <a:latin typeface="Cambria" panose="02040503050406030204" pitchFamily="18" charset="0"/>
              <a:ea typeface="Cambria" panose="02040503050406030204" pitchFamily="18" charset="0"/>
              <a:cs typeface="Arial"/>
            </a:endParaRPr>
          </a:p>
          <a:p>
            <a:pPr marL="128270" indent="-115570">
              <a:lnSpc>
                <a:spcPts val="1705"/>
              </a:lnSpc>
              <a:spcBef>
                <a:spcPts val="135"/>
              </a:spcBef>
              <a:buChar char="•"/>
              <a:tabLst>
                <a:tab pos="128270" algn="l"/>
              </a:tabLst>
            </a:pPr>
            <a:r>
              <a:rPr lang="en-US" sz="1450" dirty="0">
                <a:latin typeface="Cambria" panose="02040503050406030204" pitchFamily="18" charset="0"/>
                <a:ea typeface="Cambria" panose="02040503050406030204" pitchFamily="18" charset="0"/>
                <a:cs typeface="Arial"/>
              </a:rPr>
              <a:t>Natural</a:t>
            </a:r>
            <a:r>
              <a:rPr lang="en-US" sz="1450" spc="120"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language</a:t>
            </a:r>
            <a:r>
              <a:rPr lang="en-US" sz="1450" spc="125"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processing</a:t>
            </a:r>
            <a:r>
              <a:rPr lang="en-US" sz="1450" spc="125" dirty="0">
                <a:latin typeface="Cambria" panose="02040503050406030204" pitchFamily="18" charset="0"/>
                <a:ea typeface="Cambria" panose="02040503050406030204" pitchFamily="18" charset="0"/>
                <a:cs typeface="Arial"/>
              </a:rPr>
              <a:t> </a:t>
            </a:r>
            <a:r>
              <a:rPr lang="en-US" sz="1450" spc="-10" dirty="0">
                <a:latin typeface="Cambria" panose="02040503050406030204" pitchFamily="18" charset="0"/>
                <a:ea typeface="Cambria" panose="02040503050406030204" pitchFamily="18" charset="0"/>
                <a:cs typeface="Arial"/>
              </a:rPr>
              <a:t>(NLP)</a:t>
            </a:r>
            <a:endParaRPr lang="en-US" sz="1450" dirty="0">
              <a:latin typeface="Cambria" panose="02040503050406030204" pitchFamily="18" charset="0"/>
              <a:ea typeface="Cambria" panose="02040503050406030204" pitchFamily="18" charset="0"/>
              <a:cs typeface="Arial"/>
            </a:endParaRPr>
          </a:p>
          <a:p>
            <a:pPr marL="128270" indent="-115570">
              <a:lnSpc>
                <a:spcPts val="1705"/>
              </a:lnSpc>
              <a:buChar char="•"/>
              <a:tabLst>
                <a:tab pos="128270" algn="l"/>
              </a:tabLst>
            </a:pPr>
            <a:r>
              <a:rPr lang="en-US" sz="1450" dirty="0">
                <a:latin typeface="Cambria" panose="02040503050406030204" pitchFamily="18" charset="0"/>
                <a:ea typeface="Cambria" panose="02040503050406030204" pitchFamily="18" charset="0"/>
                <a:cs typeface="Arial"/>
              </a:rPr>
              <a:t>NL-based</a:t>
            </a:r>
            <a:r>
              <a:rPr lang="en-US" sz="1450" spc="160" dirty="0">
                <a:latin typeface="Cambria" panose="02040503050406030204" pitchFamily="18" charset="0"/>
                <a:ea typeface="Cambria" panose="02040503050406030204" pitchFamily="18" charset="0"/>
                <a:cs typeface="Arial"/>
              </a:rPr>
              <a:t> </a:t>
            </a:r>
            <a:r>
              <a:rPr lang="en-US" sz="1450" dirty="0">
                <a:latin typeface="Cambria" panose="02040503050406030204" pitchFamily="18" charset="0"/>
                <a:ea typeface="Cambria" panose="02040503050406030204" pitchFamily="18" charset="0"/>
                <a:cs typeface="Arial"/>
              </a:rPr>
              <a:t>conversational</a:t>
            </a:r>
            <a:r>
              <a:rPr lang="en-US" sz="1450" spc="150" dirty="0">
                <a:latin typeface="Cambria" panose="02040503050406030204" pitchFamily="18" charset="0"/>
                <a:ea typeface="Cambria" panose="02040503050406030204" pitchFamily="18" charset="0"/>
                <a:cs typeface="Arial"/>
              </a:rPr>
              <a:t> </a:t>
            </a:r>
            <a:r>
              <a:rPr lang="en-US" sz="1450" spc="-10" dirty="0">
                <a:latin typeface="Cambria" panose="02040503050406030204" pitchFamily="18" charset="0"/>
                <a:ea typeface="Cambria" panose="02040503050406030204" pitchFamily="18" charset="0"/>
                <a:cs typeface="Arial"/>
              </a:rPr>
              <a:t>agents</a:t>
            </a:r>
            <a:endParaRPr lang="en-US" sz="1450" dirty="0">
              <a:latin typeface="Cambria" panose="02040503050406030204" pitchFamily="18" charset="0"/>
              <a:ea typeface="Cambria" panose="02040503050406030204" pitchFamily="18" charset="0"/>
              <a:cs typeface="Arial"/>
            </a:endParaRPr>
          </a:p>
        </p:txBody>
      </p:sp>
      <p:pic>
        <p:nvPicPr>
          <p:cNvPr id="11266" name="Picture 2" descr="Agentic AI: Single vs Multi-Agent Systems | Towards Data Science">
            <a:extLst>
              <a:ext uri="{FF2B5EF4-FFF2-40B4-BE49-F238E27FC236}">
                <a16:creationId xmlns:a16="http://schemas.microsoft.com/office/drawing/2014/main" id="{0B511424-0CD0-A18C-966F-2D4CFAFE64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5505" y="2832884"/>
            <a:ext cx="4815201" cy="2465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9230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5710786" y="3648149"/>
            <a:ext cx="103505" cy="124460"/>
          </a:xfrm>
          <a:prstGeom prst="rect">
            <a:avLst/>
          </a:prstGeom>
        </p:spPr>
        <p:txBody>
          <a:bodyPr vert="horz" wrap="square" lIns="0" tIns="12065" rIns="0" bIns="0" rtlCol="0">
            <a:spAutoFit/>
          </a:bodyPr>
          <a:lstStyle/>
          <a:p>
            <a:pPr marL="12700">
              <a:lnSpc>
                <a:spcPct val="100000"/>
              </a:lnSpc>
              <a:spcBef>
                <a:spcPts val="95"/>
              </a:spcBef>
            </a:pPr>
            <a:r>
              <a:rPr sz="650" spc="-25" dirty="0">
                <a:solidFill>
                  <a:srgbClr val="898989"/>
                </a:solidFill>
                <a:latin typeface="Calibri"/>
                <a:cs typeface="Calibri"/>
              </a:rPr>
              <a:t>30</a:t>
            </a:r>
            <a:endParaRPr sz="650">
              <a:latin typeface="Calibri"/>
              <a:cs typeface="Calibri"/>
            </a:endParaRPr>
          </a:p>
        </p:txBody>
      </p:sp>
      <p:sp>
        <p:nvSpPr>
          <p:cNvPr id="15" name="object 15"/>
          <p:cNvSpPr txBox="1"/>
          <p:nvPr/>
        </p:nvSpPr>
        <p:spPr>
          <a:xfrm>
            <a:off x="305909" y="473181"/>
            <a:ext cx="5025390" cy="360680"/>
          </a:xfrm>
          <a:prstGeom prst="rect">
            <a:avLst/>
          </a:prstGeom>
        </p:spPr>
        <p:txBody>
          <a:bodyPr vert="horz" wrap="square" lIns="0" tIns="12065" rIns="0" bIns="0" rtlCol="0">
            <a:spAutoFit/>
          </a:bodyPr>
          <a:lstStyle/>
          <a:p>
            <a:pPr marL="12700">
              <a:lnSpc>
                <a:spcPct val="100000"/>
              </a:lnSpc>
              <a:spcBef>
                <a:spcPts val="95"/>
              </a:spcBef>
            </a:pPr>
            <a:r>
              <a:rPr lang="en-US" sz="2200" b="1" spc="-10" dirty="0">
                <a:solidFill>
                  <a:srgbClr val="FF0000"/>
                </a:solidFill>
                <a:latin typeface="Cambria"/>
                <a:cs typeface="Cambria"/>
              </a:rPr>
              <a:t>I</a:t>
            </a:r>
            <a:r>
              <a:rPr sz="2200" b="1" spc="-10" dirty="0">
                <a:solidFill>
                  <a:srgbClr val="FF0000"/>
                </a:solidFill>
                <a:latin typeface="Cambria"/>
                <a:cs typeface="Cambria"/>
              </a:rPr>
              <a:t>ntelligent</a:t>
            </a:r>
            <a:r>
              <a:rPr sz="2200" b="1" spc="-55" dirty="0">
                <a:solidFill>
                  <a:srgbClr val="FF0000"/>
                </a:solidFill>
                <a:latin typeface="Cambria"/>
                <a:cs typeface="Cambria"/>
              </a:rPr>
              <a:t> </a:t>
            </a:r>
            <a:r>
              <a:rPr lang="en-US" sz="2200" b="1" dirty="0">
                <a:solidFill>
                  <a:srgbClr val="FF0000"/>
                </a:solidFill>
                <a:latin typeface="Cambria"/>
                <a:cs typeface="Cambria"/>
              </a:rPr>
              <a:t>A</a:t>
            </a:r>
            <a:r>
              <a:rPr sz="2200" b="1" dirty="0">
                <a:solidFill>
                  <a:srgbClr val="FF0000"/>
                </a:solidFill>
                <a:latin typeface="Cambria"/>
                <a:cs typeface="Cambria"/>
              </a:rPr>
              <a:t>gent</a:t>
            </a:r>
            <a:r>
              <a:rPr sz="2200" b="1" spc="-55" dirty="0">
                <a:solidFill>
                  <a:srgbClr val="FF0000"/>
                </a:solidFill>
                <a:latin typeface="Cambria"/>
                <a:cs typeface="Cambria"/>
              </a:rPr>
              <a:t> </a:t>
            </a:r>
            <a:r>
              <a:rPr sz="2200" b="1" dirty="0">
                <a:solidFill>
                  <a:srgbClr val="FF0000"/>
                </a:solidFill>
                <a:latin typeface="Cambria"/>
                <a:cs typeface="Cambria"/>
              </a:rPr>
              <a:t>(IA</a:t>
            </a:r>
            <a:r>
              <a:rPr lang="en-US" sz="2200" b="1" dirty="0">
                <a:solidFill>
                  <a:srgbClr val="FF0000"/>
                </a:solidFill>
                <a:latin typeface="Cambria"/>
                <a:cs typeface="Cambria"/>
              </a:rPr>
              <a:t>)</a:t>
            </a:r>
            <a:endParaRPr sz="2200" dirty="0">
              <a:latin typeface="Cambria"/>
              <a:cs typeface="Cambria"/>
            </a:endParaRPr>
          </a:p>
        </p:txBody>
      </p:sp>
      <p:sp>
        <p:nvSpPr>
          <p:cNvPr id="16" name="object 16"/>
          <p:cNvSpPr txBox="1"/>
          <p:nvPr/>
        </p:nvSpPr>
        <p:spPr>
          <a:xfrm>
            <a:off x="577850" y="996950"/>
            <a:ext cx="4856480" cy="1141095"/>
          </a:xfrm>
          <a:prstGeom prst="rect">
            <a:avLst/>
          </a:prstGeom>
        </p:spPr>
        <p:txBody>
          <a:bodyPr vert="horz" wrap="square" lIns="0" tIns="52704" rIns="0" bIns="0" rtlCol="0">
            <a:spAutoFit/>
          </a:bodyPr>
          <a:lstStyle/>
          <a:p>
            <a:pPr marL="12700">
              <a:lnSpc>
                <a:spcPct val="100000"/>
              </a:lnSpc>
              <a:spcBef>
                <a:spcPts val="414"/>
              </a:spcBef>
              <a:tabLst>
                <a:tab pos="245745" algn="l"/>
              </a:tabLst>
            </a:pPr>
            <a:r>
              <a:rPr sz="1350" b="1" dirty="0">
                <a:latin typeface="Cambria"/>
                <a:cs typeface="Cambria"/>
              </a:rPr>
              <a:t>What</a:t>
            </a:r>
            <a:r>
              <a:rPr sz="1350" b="1" spc="-10" dirty="0">
                <a:latin typeface="Cambria"/>
                <a:cs typeface="Cambria"/>
              </a:rPr>
              <a:t> </a:t>
            </a:r>
            <a:r>
              <a:rPr sz="1350" b="1" dirty="0">
                <a:latin typeface="Cambria"/>
                <a:cs typeface="Cambria"/>
              </a:rPr>
              <a:t>is</a:t>
            </a:r>
            <a:r>
              <a:rPr sz="1350" b="1" spc="-5" dirty="0">
                <a:latin typeface="Cambria"/>
                <a:cs typeface="Cambria"/>
              </a:rPr>
              <a:t> </a:t>
            </a:r>
            <a:r>
              <a:rPr sz="1350" b="1" dirty="0">
                <a:latin typeface="Cambria"/>
                <a:cs typeface="Cambria"/>
              </a:rPr>
              <a:t>an</a:t>
            </a:r>
            <a:r>
              <a:rPr sz="1350" b="1" spc="5" dirty="0">
                <a:latin typeface="Cambria"/>
                <a:cs typeface="Cambria"/>
              </a:rPr>
              <a:t> </a:t>
            </a:r>
            <a:r>
              <a:rPr sz="1350" b="1" dirty="0">
                <a:latin typeface="Cambria"/>
                <a:cs typeface="Cambria"/>
              </a:rPr>
              <a:t>intelligent</a:t>
            </a:r>
            <a:r>
              <a:rPr sz="1350" b="1" spc="-5" dirty="0">
                <a:latin typeface="Cambria"/>
                <a:cs typeface="Cambria"/>
              </a:rPr>
              <a:t> </a:t>
            </a:r>
            <a:r>
              <a:rPr sz="1350" b="1" spc="-10" dirty="0">
                <a:latin typeface="Cambria"/>
                <a:cs typeface="Cambria"/>
              </a:rPr>
              <a:t>agent?</a:t>
            </a:r>
            <a:endParaRPr sz="1350" dirty="0">
              <a:latin typeface="Cambria"/>
              <a:cs typeface="Cambria"/>
            </a:endParaRPr>
          </a:p>
          <a:p>
            <a:pPr marL="245745" marR="5080" indent="-233679">
              <a:lnSpc>
                <a:spcPts val="1490"/>
              </a:lnSpc>
              <a:spcBef>
                <a:spcPts val="470"/>
              </a:spcBef>
              <a:buFont typeface="Arial"/>
              <a:buChar char="•"/>
              <a:tabLst>
                <a:tab pos="245745" algn="l"/>
              </a:tabLst>
            </a:pPr>
            <a:r>
              <a:rPr sz="1350" dirty="0">
                <a:latin typeface="Cambria"/>
                <a:cs typeface="Cambria"/>
              </a:rPr>
              <a:t>A</a:t>
            </a:r>
            <a:r>
              <a:rPr sz="1350" spc="245" dirty="0">
                <a:latin typeface="Cambria"/>
                <a:cs typeface="Cambria"/>
              </a:rPr>
              <a:t> </a:t>
            </a:r>
            <a:r>
              <a:rPr sz="1350" dirty="0">
                <a:latin typeface="Cambria"/>
                <a:cs typeface="Cambria"/>
              </a:rPr>
              <a:t>computer</a:t>
            </a:r>
            <a:r>
              <a:rPr sz="1350" spc="240" dirty="0">
                <a:latin typeface="Cambria"/>
                <a:cs typeface="Cambria"/>
              </a:rPr>
              <a:t> </a:t>
            </a:r>
            <a:r>
              <a:rPr sz="1350" dirty="0">
                <a:latin typeface="Cambria"/>
                <a:cs typeface="Cambria"/>
              </a:rPr>
              <a:t>system</a:t>
            </a:r>
            <a:r>
              <a:rPr sz="1350" spc="245" dirty="0">
                <a:latin typeface="Cambria"/>
                <a:cs typeface="Cambria"/>
              </a:rPr>
              <a:t> </a:t>
            </a:r>
            <a:r>
              <a:rPr sz="1350" dirty="0">
                <a:latin typeface="Cambria"/>
                <a:cs typeface="Cambria"/>
              </a:rPr>
              <a:t>that</a:t>
            </a:r>
            <a:r>
              <a:rPr sz="1350" spc="240" dirty="0">
                <a:latin typeface="Cambria"/>
                <a:cs typeface="Cambria"/>
              </a:rPr>
              <a:t> </a:t>
            </a:r>
            <a:r>
              <a:rPr sz="1350" dirty="0">
                <a:latin typeface="Cambria"/>
                <a:cs typeface="Cambria"/>
              </a:rPr>
              <a:t>is</a:t>
            </a:r>
            <a:r>
              <a:rPr sz="1350" spc="245" dirty="0">
                <a:latin typeface="Cambria"/>
                <a:cs typeface="Cambria"/>
              </a:rPr>
              <a:t> </a:t>
            </a:r>
            <a:r>
              <a:rPr sz="1350" dirty="0">
                <a:latin typeface="Cambria"/>
                <a:cs typeface="Cambria"/>
              </a:rPr>
              <a:t>capable</a:t>
            </a:r>
            <a:r>
              <a:rPr sz="1350" spc="245" dirty="0">
                <a:latin typeface="Cambria"/>
                <a:cs typeface="Cambria"/>
              </a:rPr>
              <a:t> </a:t>
            </a:r>
            <a:r>
              <a:rPr sz="1350" dirty="0">
                <a:latin typeface="Cambria"/>
                <a:cs typeface="Cambria"/>
              </a:rPr>
              <a:t>of</a:t>
            </a:r>
            <a:r>
              <a:rPr sz="1350" spc="240" dirty="0">
                <a:latin typeface="Cambria"/>
                <a:cs typeface="Cambria"/>
              </a:rPr>
              <a:t> </a:t>
            </a:r>
            <a:r>
              <a:rPr sz="1350" i="1" dirty="0">
                <a:latin typeface="Cambria"/>
                <a:cs typeface="Cambria"/>
              </a:rPr>
              <a:t>autonomous</a:t>
            </a:r>
            <a:r>
              <a:rPr sz="1350" i="1" spc="245" dirty="0">
                <a:latin typeface="Cambria"/>
                <a:cs typeface="Cambria"/>
              </a:rPr>
              <a:t> </a:t>
            </a:r>
            <a:r>
              <a:rPr sz="1350" i="1" dirty="0">
                <a:latin typeface="Cambria"/>
                <a:cs typeface="Cambria"/>
              </a:rPr>
              <a:t>action</a:t>
            </a:r>
            <a:r>
              <a:rPr sz="1350" i="1" spc="250" dirty="0">
                <a:latin typeface="Cambria"/>
                <a:cs typeface="Cambria"/>
              </a:rPr>
              <a:t> </a:t>
            </a:r>
            <a:r>
              <a:rPr sz="1350" spc="-25" dirty="0">
                <a:latin typeface="Cambria"/>
                <a:cs typeface="Cambria"/>
              </a:rPr>
              <a:t>in </a:t>
            </a:r>
            <a:r>
              <a:rPr sz="1350" dirty="0">
                <a:latin typeface="Cambria"/>
                <a:cs typeface="Cambria"/>
              </a:rPr>
              <a:t>some</a:t>
            </a:r>
            <a:r>
              <a:rPr sz="1350" spc="-10" dirty="0">
                <a:latin typeface="Cambria"/>
                <a:cs typeface="Cambria"/>
              </a:rPr>
              <a:t> </a:t>
            </a:r>
            <a:r>
              <a:rPr sz="1350" i="1" dirty="0">
                <a:latin typeface="Cambria"/>
                <a:cs typeface="Cambria"/>
              </a:rPr>
              <a:t>environment</a:t>
            </a:r>
            <a:r>
              <a:rPr sz="1350" i="1" spc="-10" dirty="0">
                <a:latin typeface="Cambria"/>
                <a:cs typeface="Cambria"/>
              </a:rPr>
              <a:t> </a:t>
            </a:r>
            <a:r>
              <a:rPr sz="1350" dirty="0">
                <a:latin typeface="Cambria"/>
                <a:cs typeface="Cambria"/>
              </a:rPr>
              <a:t>in</a:t>
            </a:r>
            <a:r>
              <a:rPr sz="1350" spc="-10" dirty="0">
                <a:latin typeface="Cambria"/>
                <a:cs typeface="Cambria"/>
              </a:rPr>
              <a:t> </a:t>
            </a:r>
            <a:r>
              <a:rPr sz="1350" dirty="0">
                <a:latin typeface="Cambria"/>
                <a:cs typeface="Cambria"/>
              </a:rPr>
              <a:t>order</a:t>
            </a:r>
            <a:r>
              <a:rPr sz="1350" spc="-5" dirty="0">
                <a:latin typeface="Cambria"/>
                <a:cs typeface="Cambria"/>
              </a:rPr>
              <a:t> </a:t>
            </a:r>
            <a:r>
              <a:rPr sz="1350" dirty="0">
                <a:latin typeface="Cambria"/>
                <a:cs typeface="Cambria"/>
              </a:rPr>
              <a:t>to</a:t>
            </a:r>
            <a:r>
              <a:rPr sz="1350" spc="-10" dirty="0">
                <a:latin typeface="Cambria"/>
                <a:cs typeface="Cambria"/>
              </a:rPr>
              <a:t> </a:t>
            </a:r>
            <a:r>
              <a:rPr sz="1350" dirty="0">
                <a:latin typeface="Cambria"/>
                <a:cs typeface="Cambria"/>
              </a:rPr>
              <a:t>meet</a:t>
            </a:r>
            <a:r>
              <a:rPr sz="1350" spc="-10" dirty="0">
                <a:latin typeface="Cambria"/>
                <a:cs typeface="Cambria"/>
              </a:rPr>
              <a:t> </a:t>
            </a:r>
            <a:r>
              <a:rPr sz="1350" dirty="0">
                <a:latin typeface="Cambria"/>
                <a:cs typeface="Cambria"/>
              </a:rPr>
              <a:t>its </a:t>
            </a:r>
            <a:r>
              <a:rPr sz="1350" i="1" dirty="0">
                <a:latin typeface="Cambria"/>
                <a:cs typeface="Cambria"/>
              </a:rPr>
              <a:t>design</a:t>
            </a:r>
            <a:r>
              <a:rPr sz="1350" i="1" spc="-5" dirty="0">
                <a:latin typeface="Cambria"/>
                <a:cs typeface="Cambria"/>
              </a:rPr>
              <a:t> </a:t>
            </a:r>
            <a:r>
              <a:rPr sz="1350" i="1" spc="-10" dirty="0">
                <a:latin typeface="Cambria"/>
                <a:cs typeface="Cambria"/>
              </a:rPr>
              <a:t>objectives.</a:t>
            </a:r>
            <a:endParaRPr sz="1350" dirty="0">
              <a:latin typeface="Cambria"/>
              <a:cs typeface="Cambria"/>
            </a:endParaRPr>
          </a:p>
          <a:p>
            <a:pPr marL="751840" marR="5080" lvl="1" indent="-233679">
              <a:lnSpc>
                <a:spcPts val="1490"/>
              </a:lnSpc>
              <a:spcBef>
                <a:spcPts val="445"/>
              </a:spcBef>
              <a:buFont typeface="Arial"/>
              <a:buChar char="•"/>
              <a:tabLst>
                <a:tab pos="751840" algn="l"/>
              </a:tabLst>
            </a:pPr>
            <a:r>
              <a:rPr sz="1350" b="1" dirty="0" err="1">
                <a:latin typeface="Cambria"/>
                <a:cs typeface="Cambria"/>
              </a:rPr>
              <a:t>Autonomy</a:t>
            </a:r>
            <a:r>
              <a:rPr lang="en-US" sz="1350" b="1" spc="360" dirty="0" err="1">
                <a:latin typeface="Cambria"/>
                <a:cs typeface="Cambria"/>
              </a:rPr>
              <a:t>:</a:t>
            </a:r>
            <a:r>
              <a:rPr sz="1350" dirty="0" err="1">
                <a:latin typeface="Cambria"/>
                <a:cs typeface="Cambria"/>
              </a:rPr>
              <a:t>ability</a:t>
            </a:r>
            <a:r>
              <a:rPr sz="1350" spc="370" dirty="0">
                <a:latin typeface="Cambria"/>
                <a:cs typeface="Cambria"/>
              </a:rPr>
              <a:t> </a:t>
            </a:r>
            <a:r>
              <a:rPr sz="1350" dirty="0">
                <a:latin typeface="Cambria"/>
                <a:cs typeface="Cambria"/>
              </a:rPr>
              <a:t>to</a:t>
            </a:r>
            <a:r>
              <a:rPr sz="1350" spc="360" dirty="0">
                <a:latin typeface="Cambria"/>
                <a:cs typeface="Cambria"/>
              </a:rPr>
              <a:t> </a:t>
            </a:r>
            <a:r>
              <a:rPr sz="1350" dirty="0">
                <a:latin typeface="Cambria"/>
                <a:cs typeface="Cambria"/>
              </a:rPr>
              <a:t>act</a:t>
            </a:r>
            <a:r>
              <a:rPr sz="1350" spc="360" dirty="0">
                <a:latin typeface="Cambria"/>
                <a:cs typeface="Cambria"/>
              </a:rPr>
              <a:t> </a:t>
            </a:r>
            <a:r>
              <a:rPr sz="1350" dirty="0">
                <a:latin typeface="Cambria"/>
                <a:cs typeface="Cambria"/>
              </a:rPr>
              <a:t>independently,</a:t>
            </a:r>
            <a:r>
              <a:rPr sz="1350" spc="355" dirty="0">
                <a:latin typeface="Cambria"/>
                <a:cs typeface="Cambria"/>
              </a:rPr>
              <a:t> </a:t>
            </a:r>
            <a:r>
              <a:rPr sz="1350" spc="-10" dirty="0">
                <a:latin typeface="Cambria"/>
                <a:cs typeface="Cambria"/>
              </a:rPr>
              <a:t>exhibiting </a:t>
            </a:r>
            <a:r>
              <a:rPr sz="1350" dirty="0">
                <a:latin typeface="Cambria"/>
                <a:cs typeface="Cambria"/>
              </a:rPr>
              <a:t>control</a:t>
            </a:r>
            <a:r>
              <a:rPr sz="1350" spc="-35" dirty="0">
                <a:latin typeface="Cambria"/>
                <a:cs typeface="Cambria"/>
              </a:rPr>
              <a:t> </a:t>
            </a:r>
            <a:r>
              <a:rPr sz="1350" dirty="0">
                <a:latin typeface="Cambria"/>
                <a:cs typeface="Cambria"/>
              </a:rPr>
              <a:t>over</a:t>
            </a:r>
            <a:r>
              <a:rPr sz="1350" spc="-25" dirty="0">
                <a:latin typeface="Cambria"/>
                <a:cs typeface="Cambria"/>
              </a:rPr>
              <a:t> </a:t>
            </a:r>
            <a:r>
              <a:rPr sz="1350" dirty="0">
                <a:latin typeface="Cambria"/>
                <a:cs typeface="Cambria"/>
              </a:rPr>
              <a:t>one’s</a:t>
            </a:r>
            <a:r>
              <a:rPr sz="1350" spc="-25" dirty="0">
                <a:latin typeface="Cambria"/>
                <a:cs typeface="Cambria"/>
              </a:rPr>
              <a:t> </a:t>
            </a:r>
            <a:r>
              <a:rPr sz="1350" dirty="0">
                <a:latin typeface="Cambria"/>
                <a:cs typeface="Cambria"/>
              </a:rPr>
              <a:t>internal</a:t>
            </a:r>
            <a:r>
              <a:rPr sz="1350" spc="-30" dirty="0">
                <a:latin typeface="Cambria"/>
                <a:cs typeface="Cambria"/>
              </a:rPr>
              <a:t> </a:t>
            </a:r>
            <a:r>
              <a:rPr sz="1350" spc="-20" dirty="0">
                <a:latin typeface="Cambria"/>
                <a:cs typeface="Cambria"/>
              </a:rPr>
              <a:t>state</a:t>
            </a:r>
            <a:endParaRPr sz="1350" dirty="0">
              <a:latin typeface="Cambria"/>
              <a:cs typeface="Cambria"/>
            </a:endParaRPr>
          </a:p>
        </p:txBody>
      </p:sp>
      <p:sp>
        <p:nvSpPr>
          <p:cNvPr id="17" name="object 17"/>
          <p:cNvSpPr/>
          <p:nvPr/>
        </p:nvSpPr>
        <p:spPr>
          <a:xfrm>
            <a:off x="2092931" y="2282918"/>
            <a:ext cx="2962275" cy="1483995"/>
          </a:xfrm>
          <a:custGeom>
            <a:avLst/>
            <a:gdLst/>
            <a:ahLst/>
            <a:cxnLst/>
            <a:rect l="l" t="t" r="r" b="b"/>
            <a:pathLst>
              <a:path w="2962275" h="1483995">
                <a:moveTo>
                  <a:pt x="0" y="1483510"/>
                </a:moveTo>
                <a:lnTo>
                  <a:pt x="1615655" y="1483510"/>
                </a:lnTo>
                <a:lnTo>
                  <a:pt x="1615655" y="0"/>
                </a:lnTo>
                <a:lnTo>
                  <a:pt x="0" y="0"/>
                </a:lnTo>
                <a:lnTo>
                  <a:pt x="0" y="1483510"/>
                </a:lnTo>
                <a:close/>
              </a:path>
              <a:path w="2962275" h="1483995">
                <a:moveTo>
                  <a:pt x="2383075" y="1483510"/>
                </a:moveTo>
                <a:lnTo>
                  <a:pt x="2962015" y="1483510"/>
                </a:lnTo>
                <a:lnTo>
                  <a:pt x="2962015" y="0"/>
                </a:lnTo>
                <a:lnTo>
                  <a:pt x="2383075" y="0"/>
                </a:lnTo>
                <a:lnTo>
                  <a:pt x="2383075" y="1483510"/>
                </a:lnTo>
                <a:close/>
              </a:path>
            </a:pathLst>
          </a:custGeom>
          <a:ln w="7137">
            <a:solidFill>
              <a:srgbClr val="000000"/>
            </a:solidFill>
          </a:ln>
        </p:spPr>
        <p:txBody>
          <a:bodyPr wrap="square" lIns="0" tIns="0" rIns="0" bIns="0" rtlCol="0"/>
          <a:lstStyle/>
          <a:p>
            <a:endParaRPr/>
          </a:p>
        </p:txBody>
      </p:sp>
      <p:sp>
        <p:nvSpPr>
          <p:cNvPr id="18" name="object 18"/>
          <p:cNvSpPr txBox="1"/>
          <p:nvPr/>
        </p:nvSpPr>
        <p:spPr>
          <a:xfrm>
            <a:off x="2159041" y="2312555"/>
            <a:ext cx="448945" cy="232410"/>
          </a:xfrm>
          <a:prstGeom prst="rect">
            <a:avLst/>
          </a:prstGeom>
        </p:spPr>
        <p:txBody>
          <a:bodyPr vert="horz" wrap="square" lIns="0" tIns="13335" rIns="0" bIns="0" rtlCol="0">
            <a:spAutoFit/>
          </a:bodyPr>
          <a:lstStyle/>
          <a:p>
            <a:pPr marL="12700">
              <a:lnSpc>
                <a:spcPct val="100000"/>
              </a:lnSpc>
              <a:spcBef>
                <a:spcPts val="105"/>
              </a:spcBef>
            </a:pPr>
            <a:r>
              <a:rPr sz="1350" b="1" spc="-10" dirty="0">
                <a:latin typeface="Calibri"/>
                <a:cs typeface="Calibri"/>
              </a:rPr>
              <a:t>Agent</a:t>
            </a:r>
            <a:endParaRPr sz="1350">
              <a:latin typeface="Calibri"/>
              <a:cs typeface="Calibri"/>
            </a:endParaRPr>
          </a:p>
        </p:txBody>
      </p:sp>
      <p:sp>
        <p:nvSpPr>
          <p:cNvPr id="19" name="object 19"/>
          <p:cNvSpPr/>
          <p:nvPr/>
        </p:nvSpPr>
        <p:spPr>
          <a:xfrm>
            <a:off x="2698795" y="2795429"/>
            <a:ext cx="471805" cy="485775"/>
          </a:xfrm>
          <a:custGeom>
            <a:avLst/>
            <a:gdLst/>
            <a:ahLst/>
            <a:cxnLst/>
            <a:rect l="l" t="t" r="r" b="b"/>
            <a:pathLst>
              <a:path w="471804" h="485775">
                <a:moveTo>
                  <a:pt x="0" y="485502"/>
                </a:moveTo>
                <a:lnTo>
                  <a:pt x="471226" y="485502"/>
                </a:lnTo>
                <a:lnTo>
                  <a:pt x="471226" y="0"/>
                </a:lnTo>
                <a:lnTo>
                  <a:pt x="0" y="0"/>
                </a:lnTo>
                <a:lnTo>
                  <a:pt x="0" y="485502"/>
                </a:lnTo>
                <a:close/>
              </a:path>
            </a:pathLst>
          </a:custGeom>
          <a:ln w="7137">
            <a:solidFill>
              <a:srgbClr val="000000"/>
            </a:solidFill>
          </a:ln>
        </p:spPr>
        <p:txBody>
          <a:bodyPr wrap="square" lIns="0" tIns="0" rIns="0" bIns="0" rtlCol="0"/>
          <a:lstStyle/>
          <a:p>
            <a:endParaRPr/>
          </a:p>
        </p:txBody>
      </p:sp>
      <p:sp>
        <p:nvSpPr>
          <p:cNvPr id="20" name="object 20"/>
          <p:cNvSpPr txBox="1"/>
          <p:nvPr/>
        </p:nvSpPr>
        <p:spPr>
          <a:xfrm>
            <a:off x="2884081" y="2908490"/>
            <a:ext cx="105410" cy="232410"/>
          </a:xfrm>
          <a:prstGeom prst="rect">
            <a:avLst/>
          </a:prstGeom>
        </p:spPr>
        <p:txBody>
          <a:bodyPr vert="horz" wrap="square" lIns="0" tIns="13335" rIns="0" bIns="0" rtlCol="0">
            <a:spAutoFit/>
          </a:bodyPr>
          <a:lstStyle/>
          <a:p>
            <a:pPr marL="12700">
              <a:lnSpc>
                <a:spcPct val="100000"/>
              </a:lnSpc>
              <a:spcBef>
                <a:spcPts val="105"/>
              </a:spcBef>
            </a:pPr>
            <a:r>
              <a:rPr sz="1350" b="1" spc="-50" dirty="0">
                <a:latin typeface="Calibri"/>
                <a:cs typeface="Calibri"/>
              </a:rPr>
              <a:t>?</a:t>
            </a:r>
            <a:endParaRPr sz="1350">
              <a:latin typeface="Calibri"/>
              <a:cs typeface="Calibri"/>
            </a:endParaRPr>
          </a:p>
        </p:txBody>
      </p:sp>
      <p:grpSp>
        <p:nvGrpSpPr>
          <p:cNvPr id="21" name="object 21"/>
          <p:cNvGrpSpPr/>
          <p:nvPr/>
        </p:nvGrpSpPr>
        <p:grpSpPr>
          <a:xfrm>
            <a:off x="3170036" y="2440634"/>
            <a:ext cx="1431925" cy="1191260"/>
            <a:chOff x="3770121" y="2655151"/>
            <a:chExt cx="1431925" cy="1191260"/>
          </a:xfrm>
        </p:grpSpPr>
        <p:sp>
          <p:nvSpPr>
            <p:cNvPr id="22" name="object 22"/>
            <p:cNvSpPr/>
            <p:nvPr/>
          </p:nvSpPr>
          <p:spPr>
            <a:xfrm>
              <a:off x="3855515" y="2686259"/>
              <a:ext cx="1339215" cy="0"/>
            </a:xfrm>
            <a:custGeom>
              <a:avLst/>
              <a:gdLst/>
              <a:ahLst/>
              <a:cxnLst/>
              <a:rect l="l" t="t" r="r" b="b"/>
              <a:pathLst>
                <a:path w="1339214">
                  <a:moveTo>
                    <a:pt x="1338938" y="0"/>
                  </a:moveTo>
                  <a:lnTo>
                    <a:pt x="0" y="0"/>
                  </a:lnTo>
                </a:path>
              </a:pathLst>
            </a:custGeom>
            <a:ln w="7143">
              <a:solidFill>
                <a:srgbClr val="000000"/>
              </a:solidFill>
            </a:ln>
          </p:spPr>
          <p:txBody>
            <a:bodyPr wrap="square" lIns="0" tIns="0" rIns="0" bIns="0" rtlCol="0"/>
            <a:lstStyle/>
            <a:p>
              <a:endParaRPr/>
            </a:p>
          </p:txBody>
        </p:sp>
        <p:sp>
          <p:nvSpPr>
            <p:cNvPr id="23" name="object 23"/>
            <p:cNvSpPr/>
            <p:nvPr/>
          </p:nvSpPr>
          <p:spPr>
            <a:xfrm>
              <a:off x="3770121" y="2655151"/>
              <a:ext cx="93345" cy="62230"/>
            </a:xfrm>
            <a:custGeom>
              <a:avLst/>
              <a:gdLst/>
              <a:ahLst/>
              <a:cxnLst/>
              <a:rect l="l" t="t" r="r" b="b"/>
              <a:pathLst>
                <a:path w="93345" h="62229">
                  <a:moveTo>
                    <a:pt x="93192" y="0"/>
                  </a:moveTo>
                  <a:lnTo>
                    <a:pt x="0" y="31114"/>
                  </a:lnTo>
                  <a:lnTo>
                    <a:pt x="93192" y="62230"/>
                  </a:lnTo>
                  <a:lnTo>
                    <a:pt x="93192" y="0"/>
                  </a:lnTo>
                  <a:close/>
                </a:path>
              </a:pathLst>
            </a:custGeom>
            <a:solidFill>
              <a:srgbClr val="000000"/>
            </a:solidFill>
          </p:spPr>
          <p:txBody>
            <a:bodyPr wrap="square" lIns="0" tIns="0" rIns="0" bIns="0" rtlCol="0"/>
            <a:lstStyle/>
            <a:p>
              <a:endParaRPr/>
            </a:p>
          </p:txBody>
        </p:sp>
        <p:sp>
          <p:nvSpPr>
            <p:cNvPr id="24" name="object 24"/>
            <p:cNvSpPr/>
            <p:nvPr/>
          </p:nvSpPr>
          <p:spPr>
            <a:xfrm>
              <a:off x="3850575" y="3814853"/>
              <a:ext cx="1265555" cy="0"/>
            </a:xfrm>
            <a:custGeom>
              <a:avLst/>
              <a:gdLst/>
              <a:ahLst/>
              <a:cxnLst/>
              <a:rect l="l" t="t" r="r" b="b"/>
              <a:pathLst>
                <a:path w="1265554">
                  <a:moveTo>
                    <a:pt x="0" y="0"/>
                  </a:moveTo>
                  <a:lnTo>
                    <a:pt x="1265507" y="0"/>
                  </a:lnTo>
                </a:path>
              </a:pathLst>
            </a:custGeom>
            <a:ln w="7143">
              <a:solidFill>
                <a:srgbClr val="000000"/>
              </a:solidFill>
            </a:ln>
          </p:spPr>
          <p:txBody>
            <a:bodyPr wrap="square" lIns="0" tIns="0" rIns="0" bIns="0" rtlCol="0"/>
            <a:lstStyle/>
            <a:p>
              <a:endParaRPr/>
            </a:p>
          </p:txBody>
        </p:sp>
        <p:sp>
          <p:nvSpPr>
            <p:cNvPr id="25" name="object 25"/>
            <p:cNvSpPr/>
            <p:nvPr/>
          </p:nvSpPr>
          <p:spPr>
            <a:xfrm>
              <a:off x="5108295" y="3783749"/>
              <a:ext cx="93345" cy="62230"/>
            </a:xfrm>
            <a:custGeom>
              <a:avLst/>
              <a:gdLst/>
              <a:ahLst/>
              <a:cxnLst/>
              <a:rect l="l" t="t" r="r" b="b"/>
              <a:pathLst>
                <a:path w="93345" h="62229">
                  <a:moveTo>
                    <a:pt x="0" y="0"/>
                  </a:moveTo>
                  <a:lnTo>
                    <a:pt x="0" y="62230"/>
                  </a:lnTo>
                  <a:lnTo>
                    <a:pt x="93192" y="31115"/>
                  </a:lnTo>
                  <a:lnTo>
                    <a:pt x="0" y="0"/>
                  </a:lnTo>
                  <a:close/>
                </a:path>
              </a:pathLst>
            </a:custGeom>
            <a:solidFill>
              <a:srgbClr val="000000"/>
            </a:solidFill>
          </p:spPr>
          <p:txBody>
            <a:bodyPr wrap="square" lIns="0" tIns="0" rIns="0" bIns="0" rtlCol="0"/>
            <a:lstStyle/>
            <a:p>
              <a:endParaRPr/>
            </a:p>
          </p:txBody>
        </p:sp>
      </p:grpSp>
      <p:sp>
        <p:nvSpPr>
          <p:cNvPr id="26" name="object 26"/>
          <p:cNvSpPr txBox="1"/>
          <p:nvPr/>
        </p:nvSpPr>
        <p:spPr>
          <a:xfrm>
            <a:off x="4731214" y="2553337"/>
            <a:ext cx="234950" cy="951865"/>
          </a:xfrm>
          <a:prstGeom prst="rect">
            <a:avLst/>
          </a:prstGeom>
        </p:spPr>
        <p:txBody>
          <a:bodyPr vert="vert" wrap="square" lIns="0" tIns="4445" rIns="0" bIns="0" rtlCol="0">
            <a:spAutoFit/>
          </a:bodyPr>
          <a:lstStyle/>
          <a:p>
            <a:pPr marL="12700">
              <a:lnSpc>
                <a:spcPct val="100000"/>
              </a:lnSpc>
              <a:spcBef>
                <a:spcPts val="35"/>
              </a:spcBef>
            </a:pPr>
            <a:r>
              <a:rPr sz="1350" b="1" spc="-10" dirty="0">
                <a:latin typeface="Calibri"/>
                <a:cs typeface="Calibri"/>
              </a:rPr>
              <a:t>Environment</a:t>
            </a:r>
            <a:endParaRPr sz="1350">
              <a:latin typeface="Calibri"/>
              <a:cs typeface="Calibri"/>
            </a:endParaRPr>
          </a:p>
        </p:txBody>
      </p:sp>
      <p:sp>
        <p:nvSpPr>
          <p:cNvPr id="27" name="object 27"/>
          <p:cNvSpPr txBox="1"/>
          <p:nvPr/>
        </p:nvSpPr>
        <p:spPr>
          <a:xfrm>
            <a:off x="2709055" y="2369646"/>
            <a:ext cx="443865" cy="189230"/>
          </a:xfrm>
          <a:prstGeom prst="rect">
            <a:avLst/>
          </a:prstGeom>
        </p:spPr>
        <p:txBody>
          <a:bodyPr vert="horz" wrap="square" lIns="0" tIns="15240" rIns="0" bIns="0" rtlCol="0">
            <a:spAutoFit/>
          </a:bodyPr>
          <a:lstStyle/>
          <a:p>
            <a:pPr marL="12700">
              <a:lnSpc>
                <a:spcPct val="100000"/>
              </a:lnSpc>
              <a:spcBef>
                <a:spcPts val="120"/>
              </a:spcBef>
            </a:pPr>
            <a:r>
              <a:rPr sz="1050" spc="-10" dirty="0">
                <a:latin typeface="Calibri"/>
                <a:cs typeface="Calibri"/>
              </a:rPr>
              <a:t>Sensors</a:t>
            </a:r>
            <a:endParaRPr sz="1050">
              <a:latin typeface="Calibri"/>
              <a:cs typeface="Calibri"/>
            </a:endParaRPr>
          </a:p>
        </p:txBody>
      </p:sp>
      <p:sp>
        <p:nvSpPr>
          <p:cNvPr id="28" name="object 28"/>
          <p:cNvSpPr txBox="1"/>
          <p:nvPr/>
        </p:nvSpPr>
        <p:spPr>
          <a:xfrm>
            <a:off x="2627123" y="3486537"/>
            <a:ext cx="551180" cy="189230"/>
          </a:xfrm>
          <a:prstGeom prst="rect">
            <a:avLst/>
          </a:prstGeom>
        </p:spPr>
        <p:txBody>
          <a:bodyPr vert="horz" wrap="square" lIns="0" tIns="15240" rIns="0" bIns="0" rtlCol="0">
            <a:spAutoFit/>
          </a:bodyPr>
          <a:lstStyle/>
          <a:p>
            <a:pPr marL="12700">
              <a:lnSpc>
                <a:spcPct val="100000"/>
              </a:lnSpc>
              <a:spcBef>
                <a:spcPts val="120"/>
              </a:spcBef>
            </a:pPr>
            <a:r>
              <a:rPr sz="1050" spc="-10" dirty="0">
                <a:latin typeface="Calibri"/>
                <a:cs typeface="Calibri"/>
              </a:rPr>
              <a:t>Actuators</a:t>
            </a:r>
            <a:endParaRPr sz="1050">
              <a:latin typeface="Calibri"/>
              <a:cs typeface="Calibri"/>
            </a:endParaRPr>
          </a:p>
        </p:txBody>
      </p:sp>
      <p:sp>
        <p:nvSpPr>
          <p:cNvPr id="29" name="object 29"/>
          <p:cNvSpPr txBox="1"/>
          <p:nvPr/>
        </p:nvSpPr>
        <p:spPr>
          <a:xfrm>
            <a:off x="3884955" y="2441344"/>
            <a:ext cx="487680" cy="189230"/>
          </a:xfrm>
          <a:prstGeom prst="rect">
            <a:avLst/>
          </a:prstGeom>
        </p:spPr>
        <p:txBody>
          <a:bodyPr vert="horz" wrap="square" lIns="0" tIns="15240" rIns="0" bIns="0" rtlCol="0">
            <a:spAutoFit/>
          </a:bodyPr>
          <a:lstStyle/>
          <a:p>
            <a:pPr>
              <a:lnSpc>
                <a:spcPct val="100000"/>
              </a:lnSpc>
              <a:spcBef>
                <a:spcPts val="120"/>
              </a:spcBef>
            </a:pPr>
            <a:r>
              <a:rPr sz="1050" spc="-10" dirty="0">
                <a:latin typeface="Calibri"/>
                <a:cs typeface="Calibri"/>
              </a:rPr>
              <a:t>Percepts</a:t>
            </a:r>
            <a:endParaRPr sz="1050">
              <a:latin typeface="Calibri"/>
              <a:cs typeface="Calibri"/>
            </a:endParaRPr>
          </a:p>
        </p:txBody>
      </p:sp>
      <p:sp>
        <p:nvSpPr>
          <p:cNvPr id="30" name="object 30"/>
          <p:cNvSpPr txBox="1"/>
          <p:nvPr/>
        </p:nvSpPr>
        <p:spPr>
          <a:xfrm>
            <a:off x="3829193" y="3432301"/>
            <a:ext cx="415290" cy="189230"/>
          </a:xfrm>
          <a:prstGeom prst="rect">
            <a:avLst/>
          </a:prstGeom>
        </p:spPr>
        <p:txBody>
          <a:bodyPr vert="horz" wrap="square" lIns="0" tIns="15240" rIns="0" bIns="0" rtlCol="0">
            <a:spAutoFit/>
          </a:bodyPr>
          <a:lstStyle/>
          <a:p>
            <a:pPr>
              <a:lnSpc>
                <a:spcPct val="100000"/>
              </a:lnSpc>
              <a:spcBef>
                <a:spcPts val="120"/>
              </a:spcBef>
            </a:pPr>
            <a:r>
              <a:rPr sz="1050" spc="-10" dirty="0">
                <a:latin typeface="Calibri"/>
                <a:cs typeface="Calibri"/>
              </a:rPr>
              <a:t>Actions</a:t>
            </a:r>
            <a:endParaRPr sz="1050">
              <a:latin typeface="Calibri"/>
              <a:cs typeface="Calibri"/>
            </a:endParaRPr>
          </a:p>
        </p:txBody>
      </p:sp>
      <p:grpSp>
        <p:nvGrpSpPr>
          <p:cNvPr id="31" name="object 31"/>
          <p:cNvGrpSpPr/>
          <p:nvPr/>
        </p:nvGrpSpPr>
        <p:grpSpPr>
          <a:xfrm>
            <a:off x="1902500" y="2386142"/>
            <a:ext cx="3037840" cy="1309370"/>
            <a:chOff x="2502585" y="2600659"/>
            <a:chExt cx="3037840" cy="1309370"/>
          </a:xfrm>
        </p:grpSpPr>
        <p:sp>
          <p:nvSpPr>
            <p:cNvPr id="32" name="object 32"/>
            <p:cNvSpPr/>
            <p:nvPr/>
          </p:nvSpPr>
          <p:spPr>
            <a:xfrm>
              <a:off x="3500837" y="2757242"/>
              <a:ext cx="0" cy="167640"/>
            </a:xfrm>
            <a:custGeom>
              <a:avLst/>
              <a:gdLst/>
              <a:ahLst/>
              <a:cxnLst/>
              <a:rect l="l" t="t" r="r" b="b"/>
              <a:pathLst>
                <a:path h="167640">
                  <a:moveTo>
                    <a:pt x="0" y="0"/>
                  </a:moveTo>
                  <a:lnTo>
                    <a:pt x="0" y="167181"/>
                  </a:lnTo>
                </a:path>
              </a:pathLst>
            </a:custGeom>
            <a:ln w="7131">
              <a:solidFill>
                <a:srgbClr val="000000"/>
              </a:solidFill>
            </a:ln>
          </p:spPr>
          <p:txBody>
            <a:bodyPr wrap="square" lIns="0" tIns="0" rIns="0" bIns="0" rtlCol="0"/>
            <a:lstStyle/>
            <a:p>
              <a:endParaRPr/>
            </a:p>
          </p:txBody>
        </p:sp>
        <p:sp>
          <p:nvSpPr>
            <p:cNvPr id="33" name="object 33"/>
            <p:cNvSpPr/>
            <p:nvPr/>
          </p:nvSpPr>
          <p:spPr>
            <a:xfrm>
              <a:off x="3469779" y="2916631"/>
              <a:ext cx="62230" cy="93345"/>
            </a:xfrm>
            <a:custGeom>
              <a:avLst/>
              <a:gdLst/>
              <a:ahLst/>
              <a:cxnLst/>
              <a:rect l="l" t="t" r="r" b="b"/>
              <a:pathLst>
                <a:path w="62229" h="93345">
                  <a:moveTo>
                    <a:pt x="62128" y="0"/>
                  </a:moveTo>
                  <a:lnTo>
                    <a:pt x="0" y="0"/>
                  </a:lnTo>
                  <a:lnTo>
                    <a:pt x="31064" y="93345"/>
                  </a:lnTo>
                  <a:lnTo>
                    <a:pt x="62128" y="0"/>
                  </a:lnTo>
                  <a:close/>
                </a:path>
              </a:pathLst>
            </a:custGeom>
            <a:solidFill>
              <a:srgbClr val="000000"/>
            </a:solidFill>
          </p:spPr>
          <p:txBody>
            <a:bodyPr wrap="square" lIns="0" tIns="0" rIns="0" bIns="0" rtlCol="0"/>
            <a:lstStyle/>
            <a:p>
              <a:endParaRPr/>
            </a:p>
          </p:txBody>
        </p:sp>
        <p:sp>
          <p:nvSpPr>
            <p:cNvPr id="34" name="object 34"/>
            <p:cNvSpPr/>
            <p:nvPr/>
          </p:nvSpPr>
          <p:spPr>
            <a:xfrm>
              <a:off x="3500837" y="3495448"/>
              <a:ext cx="0" cy="184785"/>
            </a:xfrm>
            <a:custGeom>
              <a:avLst/>
              <a:gdLst/>
              <a:ahLst/>
              <a:cxnLst/>
              <a:rect l="l" t="t" r="r" b="b"/>
              <a:pathLst>
                <a:path h="184784">
                  <a:moveTo>
                    <a:pt x="0" y="184156"/>
                  </a:moveTo>
                  <a:lnTo>
                    <a:pt x="0" y="0"/>
                  </a:lnTo>
                </a:path>
              </a:pathLst>
            </a:custGeom>
            <a:ln w="7131">
              <a:solidFill>
                <a:srgbClr val="000000"/>
              </a:solidFill>
            </a:ln>
          </p:spPr>
          <p:txBody>
            <a:bodyPr wrap="square" lIns="0" tIns="0" rIns="0" bIns="0" rtlCol="0"/>
            <a:lstStyle/>
            <a:p>
              <a:endParaRPr/>
            </a:p>
          </p:txBody>
        </p:sp>
        <p:sp>
          <p:nvSpPr>
            <p:cNvPr id="35" name="object 35"/>
            <p:cNvSpPr/>
            <p:nvPr/>
          </p:nvSpPr>
          <p:spPr>
            <a:xfrm>
              <a:off x="3469779" y="3671824"/>
              <a:ext cx="62230" cy="93345"/>
            </a:xfrm>
            <a:custGeom>
              <a:avLst/>
              <a:gdLst/>
              <a:ahLst/>
              <a:cxnLst/>
              <a:rect l="l" t="t" r="r" b="b"/>
              <a:pathLst>
                <a:path w="62229" h="93345">
                  <a:moveTo>
                    <a:pt x="62128" y="0"/>
                  </a:moveTo>
                  <a:lnTo>
                    <a:pt x="0" y="0"/>
                  </a:lnTo>
                  <a:lnTo>
                    <a:pt x="31064" y="93344"/>
                  </a:lnTo>
                  <a:lnTo>
                    <a:pt x="62128" y="0"/>
                  </a:lnTo>
                  <a:close/>
                </a:path>
              </a:pathLst>
            </a:custGeom>
            <a:solidFill>
              <a:srgbClr val="000000"/>
            </a:solidFill>
          </p:spPr>
          <p:txBody>
            <a:bodyPr wrap="square" lIns="0" tIns="0" rIns="0" bIns="0" rtlCol="0"/>
            <a:lstStyle/>
            <a:p>
              <a:endParaRPr/>
            </a:p>
          </p:txBody>
        </p:sp>
        <p:pic>
          <p:nvPicPr>
            <p:cNvPr id="36" name="object 36"/>
            <p:cNvPicPr/>
            <p:nvPr/>
          </p:nvPicPr>
          <p:blipFill>
            <a:blip r:embed="rId2" cstate="print"/>
            <a:stretch>
              <a:fillRect/>
            </a:stretch>
          </p:blipFill>
          <p:spPr>
            <a:xfrm>
              <a:off x="3298422" y="2600659"/>
              <a:ext cx="106761" cy="205099"/>
            </a:xfrm>
            <a:prstGeom prst="rect">
              <a:avLst/>
            </a:prstGeom>
          </p:spPr>
        </p:pic>
        <p:pic>
          <p:nvPicPr>
            <p:cNvPr id="37" name="object 37"/>
            <p:cNvPicPr/>
            <p:nvPr/>
          </p:nvPicPr>
          <p:blipFill>
            <a:blip r:embed="rId3" cstate="print"/>
            <a:stretch>
              <a:fillRect/>
            </a:stretch>
          </p:blipFill>
          <p:spPr>
            <a:xfrm>
              <a:off x="3200314" y="3704440"/>
              <a:ext cx="141660" cy="205101"/>
            </a:xfrm>
            <a:prstGeom prst="rect">
              <a:avLst/>
            </a:prstGeom>
          </p:spPr>
        </p:pic>
        <p:pic>
          <p:nvPicPr>
            <p:cNvPr id="38" name="object 38"/>
            <p:cNvPicPr/>
            <p:nvPr/>
          </p:nvPicPr>
          <p:blipFill>
            <a:blip r:embed="rId4" cstate="print"/>
            <a:stretch>
              <a:fillRect/>
            </a:stretch>
          </p:blipFill>
          <p:spPr>
            <a:xfrm>
              <a:off x="5335093" y="2742452"/>
              <a:ext cx="204875" cy="145484"/>
            </a:xfrm>
            <a:prstGeom prst="rect">
              <a:avLst/>
            </a:prstGeom>
          </p:spPr>
        </p:pic>
        <p:sp>
          <p:nvSpPr>
            <p:cNvPr id="39" name="object 39"/>
            <p:cNvSpPr/>
            <p:nvPr/>
          </p:nvSpPr>
          <p:spPr>
            <a:xfrm>
              <a:off x="3092373" y="2923197"/>
              <a:ext cx="883285" cy="673735"/>
            </a:xfrm>
            <a:custGeom>
              <a:avLst/>
              <a:gdLst/>
              <a:ahLst/>
              <a:cxnLst/>
              <a:rect l="l" t="t" r="r" b="b"/>
              <a:pathLst>
                <a:path w="883285" h="673734">
                  <a:moveTo>
                    <a:pt x="0" y="336732"/>
                  </a:moveTo>
                  <a:lnTo>
                    <a:pt x="3439" y="294493"/>
                  </a:lnTo>
                  <a:lnTo>
                    <a:pt x="13483" y="253820"/>
                  </a:lnTo>
                  <a:lnTo>
                    <a:pt x="29717" y="215028"/>
                  </a:lnTo>
                  <a:lnTo>
                    <a:pt x="51727" y="178433"/>
                  </a:lnTo>
                  <a:lnTo>
                    <a:pt x="79099" y="144350"/>
                  </a:lnTo>
                  <a:lnTo>
                    <a:pt x="111421" y="113095"/>
                  </a:lnTo>
                  <a:lnTo>
                    <a:pt x="148278" y="84983"/>
                  </a:lnTo>
                  <a:lnTo>
                    <a:pt x="189256" y="60331"/>
                  </a:lnTo>
                  <a:lnTo>
                    <a:pt x="233941" y="39453"/>
                  </a:lnTo>
                  <a:lnTo>
                    <a:pt x="281921" y="22665"/>
                  </a:lnTo>
                  <a:lnTo>
                    <a:pt x="332781" y="10284"/>
                  </a:lnTo>
                  <a:lnTo>
                    <a:pt x="386108" y="2623"/>
                  </a:lnTo>
                  <a:lnTo>
                    <a:pt x="441487" y="0"/>
                  </a:lnTo>
                  <a:lnTo>
                    <a:pt x="496866" y="2623"/>
                  </a:lnTo>
                  <a:lnTo>
                    <a:pt x="550192" y="10284"/>
                  </a:lnTo>
                  <a:lnTo>
                    <a:pt x="601051" y="22665"/>
                  </a:lnTo>
                  <a:lnTo>
                    <a:pt x="649031" y="39453"/>
                  </a:lnTo>
                  <a:lnTo>
                    <a:pt x="693716" y="60331"/>
                  </a:lnTo>
                  <a:lnTo>
                    <a:pt x="734694" y="84983"/>
                  </a:lnTo>
                  <a:lnTo>
                    <a:pt x="771551" y="113095"/>
                  </a:lnTo>
                  <a:lnTo>
                    <a:pt x="803872" y="144350"/>
                  </a:lnTo>
                  <a:lnTo>
                    <a:pt x="831244" y="178433"/>
                  </a:lnTo>
                  <a:lnTo>
                    <a:pt x="853254" y="215028"/>
                  </a:lnTo>
                  <a:lnTo>
                    <a:pt x="869488" y="253820"/>
                  </a:lnTo>
                  <a:lnTo>
                    <a:pt x="879531" y="294493"/>
                  </a:lnTo>
                  <a:lnTo>
                    <a:pt x="882971" y="336732"/>
                  </a:lnTo>
                  <a:lnTo>
                    <a:pt x="879531" y="378971"/>
                  </a:lnTo>
                  <a:lnTo>
                    <a:pt x="869488" y="419645"/>
                  </a:lnTo>
                  <a:lnTo>
                    <a:pt x="853254" y="458437"/>
                  </a:lnTo>
                  <a:lnTo>
                    <a:pt x="831244" y="495032"/>
                  </a:lnTo>
                  <a:lnTo>
                    <a:pt x="803872" y="529115"/>
                  </a:lnTo>
                  <a:lnTo>
                    <a:pt x="771551" y="560370"/>
                  </a:lnTo>
                  <a:lnTo>
                    <a:pt x="734694" y="588482"/>
                  </a:lnTo>
                  <a:lnTo>
                    <a:pt x="693716" y="613134"/>
                  </a:lnTo>
                  <a:lnTo>
                    <a:pt x="649031" y="634012"/>
                  </a:lnTo>
                  <a:lnTo>
                    <a:pt x="601051" y="650799"/>
                  </a:lnTo>
                  <a:lnTo>
                    <a:pt x="550192" y="663181"/>
                  </a:lnTo>
                  <a:lnTo>
                    <a:pt x="496866" y="670842"/>
                  </a:lnTo>
                  <a:lnTo>
                    <a:pt x="441487" y="673465"/>
                  </a:lnTo>
                  <a:lnTo>
                    <a:pt x="386108" y="670842"/>
                  </a:lnTo>
                  <a:lnTo>
                    <a:pt x="332781" y="663181"/>
                  </a:lnTo>
                  <a:lnTo>
                    <a:pt x="281921" y="650799"/>
                  </a:lnTo>
                  <a:lnTo>
                    <a:pt x="233941" y="634012"/>
                  </a:lnTo>
                  <a:lnTo>
                    <a:pt x="189256" y="613134"/>
                  </a:lnTo>
                  <a:lnTo>
                    <a:pt x="148278" y="588482"/>
                  </a:lnTo>
                  <a:lnTo>
                    <a:pt x="111421" y="560370"/>
                  </a:lnTo>
                  <a:lnTo>
                    <a:pt x="79099" y="529115"/>
                  </a:lnTo>
                  <a:lnTo>
                    <a:pt x="51727" y="495032"/>
                  </a:lnTo>
                  <a:lnTo>
                    <a:pt x="29717" y="458437"/>
                  </a:lnTo>
                  <a:lnTo>
                    <a:pt x="13483" y="419645"/>
                  </a:lnTo>
                  <a:lnTo>
                    <a:pt x="3439" y="378971"/>
                  </a:lnTo>
                  <a:lnTo>
                    <a:pt x="0" y="336732"/>
                  </a:lnTo>
                  <a:close/>
                </a:path>
              </a:pathLst>
            </a:custGeom>
            <a:ln w="8658">
              <a:solidFill>
                <a:srgbClr val="FF0000"/>
              </a:solidFill>
            </a:ln>
          </p:spPr>
          <p:txBody>
            <a:bodyPr wrap="square" lIns="0" tIns="0" rIns="0" bIns="0" rtlCol="0"/>
            <a:lstStyle/>
            <a:p>
              <a:endParaRPr/>
            </a:p>
          </p:txBody>
        </p:sp>
        <p:sp>
          <p:nvSpPr>
            <p:cNvPr id="40" name="object 40"/>
            <p:cNvSpPr/>
            <p:nvPr/>
          </p:nvSpPr>
          <p:spPr>
            <a:xfrm>
              <a:off x="2502585" y="2710802"/>
              <a:ext cx="639445" cy="394970"/>
            </a:xfrm>
            <a:custGeom>
              <a:avLst/>
              <a:gdLst/>
              <a:ahLst/>
              <a:cxnLst/>
              <a:rect l="l" t="t" r="r" b="b"/>
              <a:pathLst>
                <a:path w="639444" h="394970">
                  <a:moveTo>
                    <a:pt x="593494" y="369348"/>
                  </a:moveTo>
                  <a:lnTo>
                    <a:pt x="581025" y="389635"/>
                  </a:lnTo>
                  <a:lnTo>
                    <a:pt x="638835" y="394741"/>
                  </a:lnTo>
                  <a:lnTo>
                    <a:pt x="625905" y="373887"/>
                  </a:lnTo>
                  <a:lnTo>
                    <a:pt x="600862" y="373887"/>
                  </a:lnTo>
                  <a:lnTo>
                    <a:pt x="593494" y="369348"/>
                  </a:lnTo>
                  <a:close/>
                </a:path>
                <a:path w="639444" h="394970">
                  <a:moveTo>
                    <a:pt x="595760" y="365661"/>
                  </a:moveTo>
                  <a:lnTo>
                    <a:pt x="593494" y="369348"/>
                  </a:lnTo>
                  <a:lnTo>
                    <a:pt x="600862" y="373887"/>
                  </a:lnTo>
                  <a:lnTo>
                    <a:pt x="603135" y="370204"/>
                  </a:lnTo>
                  <a:lnTo>
                    <a:pt x="595760" y="365661"/>
                  </a:lnTo>
                  <a:close/>
                </a:path>
                <a:path w="639444" h="394970">
                  <a:moveTo>
                    <a:pt x="608228" y="345376"/>
                  </a:moveTo>
                  <a:lnTo>
                    <a:pt x="595760" y="365661"/>
                  </a:lnTo>
                  <a:lnTo>
                    <a:pt x="603135" y="370204"/>
                  </a:lnTo>
                  <a:lnTo>
                    <a:pt x="600862" y="373887"/>
                  </a:lnTo>
                  <a:lnTo>
                    <a:pt x="625905" y="373887"/>
                  </a:lnTo>
                  <a:lnTo>
                    <a:pt x="608228" y="345376"/>
                  </a:lnTo>
                  <a:close/>
                </a:path>
                <a:path w="639444" h="394970">
                  <a:moveTo>
                    <a:pt x="2273" y="0"/>
                  </a:moveTo>
                  <a:lnTo>
                    <a:pt x="0" y="3695"/>
                  </a:lnTo>
                  <a:lnTo>
                    <a:pt x="593494" y="369348"/>
                  </a:lnTo>
                  <a:lnTo>
                    <a:pt x="595760" y="365661"/>
                  </a:lnTo>
                  <a:lnTo>
                    <a:pt x="2273" y="0"/>
                  </a:lnTo>
                  <a:close/>
                </a:path>
              </a:pathLst>
            </a:custGeom>
            <a:solidFill>
              <a:srgbClr val="FF0000"/>
            </a:solidFill>
          </p:spPr>
          <p:txBody>
            <a:bodyPr wrap="square" lIns="0" tIns="0" rIns="0" bIns="0" rtlCol="0"/>
            <a:lstStyle/>
            <a:p>
              <a:endParaRPr/>
            </a:p>
          </p:txBody>
        </p:sp>
      </p:grpSp>
      <p:sp>
        <p:nvSpPr>
          <p:cNvPr id="41" name="object 41"/>
          <p:cNvSpPr txBox="1"/>
          <p:nvPr/>
        </p:nvSpPr>
        <p:spPr>
          <a:xfrm>
            <a:off x="945314" y="2285249"/>
            <a:ext cx="956944" cy="819150"/>
          </a:xfrm>
          <a:prstGeom prst="rect">
            <a:avLst/>
          </a:prstGeom>
          <a:ln w="19479">
            <a:solidFill>
              <a:srgbClr val="FF0000"/>
            </a:solidFill>
          </a:ln>
        </p:spPr>
        <p:txBody>
          <a:bodyPr vert="horz" wrap="square" lIns="0" tIns="25400" rIns="0" bIns="0" rtlCol="0">
            <a:spAutoFit/>
          </a:bodyPr>
          <a:lstStyle/>
          <a:p>
            <a:pPr marL="62230" marR="72390">
              <a:lnSpc>
                <a:spcPct val="101800"/>
              </a:lnSpc>
              <a:spcBef>
                <a:spcPts val="200"/>
              </a:spcBef>
            </a:pPr>
            <a:r>
              <a:rPr sz="1200" dirty="0">
                <a:latin typeface="Calibri"/>
                <a:cs typeface="Calibri"/>
              </a:rPr>
              <a:t>Driven</a:t>
            </a:r>
            <a:r>
              <a:rPr sz="1200" spc="50" dirty="0">
                <a:latin typeface="Calibri"/>
                <a:cs typeface="Calibri"/>
              </a:rPr>
              <a:t> </a:t>
            </a:r>
            <a:r>
              <a:rPr sz="1200" spc="-25" dirty="0">
                <a:latin typeface="Calibri"/>
                <a:cs typeface="Calibri"/>
              </a:rPr>
              <a:t>by </a:t>
            </a:r>
            <a:r>
              <a:rPr sz="1200" dirty="0">
                <a:latin typeface="Calibri"/>
                <a:cs typeface="Calibri"/>
              </a:rPr>
              <a:t>The</a:t>
            </a:r>
            <a:r>
              <a:rPr sz="1200" spc="35" dirty="0">
                <a:latin typeface="Calibri"/>
                <a:cs typeface="Calibri"/>
              </a:rPr>
              <a:t> </a:t>
            </a:r>
            <a:r>
              <a:rPr sz="1200" spc="-10" dirty="0">
                <a:latin typeface="Calibri"/>
                <a:cs typeface="Calibri"/>
              </a:rPr>
              <a:t>agent’s </a:t>
            </a:r>
            <a:r>
              <a:rPr sz="1200" spc="-10" dirty="0">
                <a:solidFill>
                  <a:srgbClr val="FF0000"/>
                </a:solidFill>
                <a:latin typeface="Calibri"/>
                <a:cs typeface="Calibri"/>
              </a:rPr>
              <a:t>P</a:t>
            </a:r>
            <a:r>
              <a:rPr sz="1200" spc="-10" dirty="0">
                <a:latin typeface="Calibri"/>
                <a:cs typeface="Calibri"/>
              </a:rPr>
              <a:t>erformance measure</a:t>
            </a:r>
            <a:endParaRPr sz="12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29070" y="956527"/>
            <a:ext cx="563775" cy="1128457"/>
          </a:xfrm>
          <a:prstGeom prst="rect">
            <a:avLst/>
          </a:prstGeom>
        </p:spPr>
      </p:pic>
      <p:sp>
        <p:nvSpPr>
          <p:cNvPr id="3" name="object 3"/>
          <p:cNvSpPr txBox="1"/>
          <p:nvPr/>
        </p:nvSpPr>
        <p:spPr>
          <a:xfrm>
            <a:off x="349250" y="387350"/>
            <a:ext cx="5715000" cy="2669320"/>
          </a:xfrm>
          <a:prstGeom prst="rect">
            <a:avLst/>
          </a:prstGeom>
        </p:spPr>
        <p:txBody>
          <a:bodyPr vert="horz" wrap="square" lIns="0" tIns="17145" rIns="0" bIns="0" rtlCol="0">
            <a:spAutoFit/>
          </a:bodyPr>
          <a:lstStyle/>
          <a:p>
            <a:pPr marL="12700">
              <a:lnSpc>
                <a:spcPct val="100000"/>
              </a:lnSpc>
              <a:spcBef>
                <a:spcPts val="135"/>
              </a:spcBef>
            </a:pPr>
            <a:r>
              <a:rPr lang="en-US" sz="1900" b="1" dirty="0">
                <a:solidFill>
                  <a:srgbClr val="FF0000"/>
                </a:solidFill>
                <a:latin typeface="Cambria"/>
                <a:cs typeface="Cambria"/>
              </a:rPr>
              <a:t>Example: The PEAS Framework in Self-Driving Car</a:t>
            </a:r>
            <a:endParaRPr sz="1900" dirty="0">
              <a:latin typeface="Cambria"/>
              <a:cs typeface="Cambria"/>
            </a:endParaRPr>
          </a:p>
          <a:p>
            <a:pPr marL="451484" marR="5080" indent="-194945">
              <a:lnSpc>
                <a:spcPts val="1550"/>
              </a:lnSpc>
              <a:spcBef>
                <a:spcPts val="1835"/>
              </a:spcBef>
              <a:buFont typeface="Arial"/>
              <a:buChar char="•"/>
              <a:tabLst>
                <a:tab pos="451484" algn="l"/>
              </a:tabLst>
            </a:pPr>
            <a:r>
              <a:rPr lang="en-US" sz="1350" b="1" dirty="0">
                <a:solidFill>
                  <a:srgbClr val="FF0000"/>
                </a:solidFill>
                <a:latin typeface="Cambria"/>
                <a:cs typeface="Cambria"/>
              </a:rPr>
              <a:t>P</a:t>
            </a:r>
            <a:r>
              <a:rPr lang="en-US" sz="1350" b="1" dirty="0">
                <a:latin typeface="Cambria"/>
                <a:cs typeface="Cambria"/>
              </a:rPr>
              <a:t>erformance</a:t>
            </a:r>
            <a:r>
              <a:rPr lang="en-US" sz="1350" b="1" spc="254" dirty="0">
                <a:latin typeface="Cambria"/>
                <a:cs typeface="Cambria"/>
              </a:rPr>
              <a:t> </a:t>
            </a:r>
            <a:r>
              <a:rPr lang="en-US" sz="1350" b="1" dirty="0">
                <a:latin typeface="Cambria"/>
                <a:cs typeface="Cambria"/>
              </a:rPr>
              <a:t>measures</a:t>
            </a:r>
            <a:r>
              <a:rPr lang="en-US" sz="1350" b="1" spc="260" dirty="0">
                <a:latin typeface="Cambria"/>
                <a:cs typeface="Cambria"/>
              </a:rPr>
              <a:t> </a:t>
            </a:r>
            <a:r>
              <a:rPr lang="en-US" sz="1350" i="1" dirty="0">
                <a:latin typeface="Cambria"/>
                <a:cs typeface="Cambria"/>
              </a:rPr>
              <a:t>–</a:t>
            </a:r>
            <a:r>
              <a:rPr lang="en-US" sz="1350" i="1" spc="254" dirty="0">
                <a:latin typeface="Cambria"/>
                <a:cs typeface="Cambria"/>
              </a:rPr>
              <a:t> </a:t>
            </a:r>
            <a:r>
              <a:rPr lang="en-US" sz="1350" dirty="0">
                <a:latin typeface="Cambria"/>
                <a:cs typeface="Cambria"/>
              </a:rPr>
              <a:t>Maintain</a:t>
            </a:r>
            <a:r>
              <a:rPr lang="en-US" sz="1350" spc="254" dirty="0">
                <a:latin typeface="Cambria"/>
                <a:cs typeface="Cambria"/>
              </a:rPr>
              <a:t> </a:t>
            </a:r>
            <a:r>
              <a:rPr lang="en-US" sz="1350" dirty="0">
                <a:latin typeface="Cambria"/>
                <a:cs typeface="Cambria"/>
              </a:rPr>
              <a:t>safety,</a:t>
            </a:r>
            <a:r>
              <a:rPr lang="en-US" sz="1350" spc="254" dirty="0">
                <a:latin typeface="Cambria"/>
                <a:cs typeface="Cambria"/>
              </a:rPr>
              <a:t> </a:t>
            </a:r>
            <a:r>
              <a:rPr lang="en-US" sz="1350" dirty="0">
                <a:latin typeface="Cambria"/>
                <a:cs typeface="Cambria"/>
              </a:rPr>
              <a:t>reach</a:t>
            </a:r>
            <a:r>
              <a:rPr lang="en-US" sz="1350" spc="254" dirty="0">
                <a:latin typeface="Cambria"/>
                <a:cs typeface="Cambria"/>
              </a:rPr>
              <a:t> </a:t>
            </a:r>
            <a:r>
              <a:rPr lang="en-US" sz="1350" spc="-10" dirty="0">
                <a:latin typeface="Cambria"/>
                <a:cs typeface="Cambria"/>
              </a:rPr>
              <a:t>destination, </a:t>
            </a:r>
            <a:r>
              <a:rPr lang="en-US" sz="1350" dirty="0">
                <a:latin typeface="Cambria"/>
                <a:cs typeface="Cambria"/>
              </a:rPr>
              <a:t>obey</a:t>
            </a:r>
            <a:r>
              <a:rPr lang="en-US" sz="1350" spc="-15" dirty="0">
                <a:latin typeface="Cambria"/>
                <a:cs typeface="Cambria"/>
              </a:rPr>
              <a:t> </a:t>
            </a:r>
            <a:r>
              <a:rPr lang="en-US" sz="1350" dirty="0">
                <a:latin typeface="Cambria"/>
                <a:cs typeface="Cambria"/>
              </a:rPr>
              <a:t>laws,</a:t>
            </a:r>
            <a:r>
              <a:rPr lang="en-US" sz="1350" spc="-15" dirty="0">
                <a:latin typeface="Cambria"/>
                <a:cs typeface="Cambria"/>
              </a:rPr>
              <a:t> </a:t>
            </a:r>
            <a:r>
              <a:rPr lang="en-US" sz="1350" dirty="0">
                <a:latin typeface="Cambria"/>
                <a:cs typeface="Cambria"/>
              </a:rPr>
              <a:t>provide</a:t>
            </a:r>
            <a:r>
              <a:rPr lang="en-US" sz="1350" spc="-15" dirty="0">
                <a:latin typeface="Cambria"/>
                <a:cs typeface="Cambria"/>
              </a:rPr>
              <a:t> </a:t>
            </a:r>
            <a:r>
              <a:rPr lang="en-US" sz="1350" dirty="0">
                <a:latin typeface="Cambria"/>
                <a:cs typeface="Cambria"/>
              </a:rPr>
              <a:t>passenger</a:t>
            </a:r>
            <a:r>
              <a:rPr lang="en-US" sz="1350" spc="-15" dirty="0">
                <a:latin typeface="Cambria"/>
                <a:cs typeface="Cambria"/>
              </a:rPr>
              <a:t> </a:t>
            </a:r>
            <a:r>
              <a:rPr lang="en-US" sz="1350" dirty="0">
                <a:latin typeface="Cambria"/>
                <a:cs typeface="Cambria"/>
              </a:rPr>
              <a:t>comfort,</a:t>
            </a:r>
            <a:r>
              <a:rPr lang="en-US" sz="1350" spc="-15" dirty="0">
                <a:latin typeface="Cambria"/>
                <a:cs typeface="Cambria"/>
              </a:rPr>
              <a:t> </a:t>
            </a:r>
            <a:r>
              <a:rPr lang="en-US" sz="1350" spc="-50" dirty="0">
                <a:latin typeface="Cambria"/>
                <a:cs typeface="Cambria"/>
              </a:rPr>
              <a:t>…</a:t>
            </a:r>
          </a:p>
          <a:p>
            <a:pPr marL="451484" marR="5080" indent="-194945">
              <a:lnSpc>
                <a:spcPts val="1550"/>
              </a:lnSpc>
              <a:spcBef>
                <a:spcPts val="1835"/>
              </a:spcBef>
              <a:buFont typeface="Arial"/>
              <a:buChar char="•"/>
              <a:tabLst>
                <a:tab pos="451484" algn="l"/>
              </a:tabLst>
            </a:pPr>
            <a:r>
              <a:rPr lang="en-US" sz="1350" b="1" dirty="0">
                <a:solidFill>
                  <a:srgbClr val="FF0000"/>
                </a:solidFill>
                <a:latin typeface="Cambria"/>
                <a:cs typeface="Cambria"/>
              </a:rPr>
              <a:t>E</a:t>
            </a:r>
            <a:r>
              <a:rPr lang="en-US" sz="1350" b="1" dirty="0">
                <a:latin typeface="Cambria"/>
                <a:cs typeface="Cambria"/>
              </a:rPr>
              <a:t>nvironment</a:t>
            </a:r>
            <a:r>
              <a:rPr lang="en-US" sz="1350" b="1" spc="385" dirty="0">
                <a:latin typeface="Cambria"/>
                <a:cs typeface="Cambria"/>
              </a:rPr>
              <a:t> </a:t>
            </a:r>
            <a:r>
              <a:rPr lang="en-US" sz="1350" b="1" dirty="0">
                <a:latin typeface="Cambria"/>
                <a:cs typeface="Cambria"/>
              </a:rPr>
              <a:t>–</a:t>
            </a:r>
            <a:r>
              <a:rPr lang="en-US" sz="1350" b="1" spc="390" dirty="0">
                <a:latin typeface="Cambria"/>
                <a:cs typeface="Cambria"/>
              </a:rPr>
              <a:t> </a:t>
            </a:r>
            <a:r>
              <a:rPr lang="en-US" sz="1350" dirty="0">
                <a:latin typeface="Cambria"/>
                <a:cs typeface="Cambria"/>
              </a:rPr>
              <a:t>urban</a:t>
            </a:r>
            <a:r>
              <a:rPr lang="en-US" sz="1350" spc="390" dirty="0">
                <a:latin typeface="Cambria"/>
                <a:cs typeface="Cambria"/>
              </a:rPr>
              <a:t> </a:t>
            </a:r>
            <a:r>
              <a:rPr lang="en-US" sz="1350" dirty="0">
                <a:latin typeface="Cambria"/>
                <a:cs typeface="Cambria"/>
              </a:rPr>
              <a:t>streets,</a:t>
            </a:r>
            <a:r>
              <a:rPr lang="en-US" sz="1350" spc="390" dirty="0">
                <a:latin typeface="Cambria"/>
                <a:cs typeface="Cambria"/>
              </a:rPr>
              <a:t> </a:t>
            </a:r>
            <a:r>
              <a:rPr lang="en-US" sz="1350" dirty="0">
                <a:latin typeface="Cambria"/>
                <a:cs typeface="Cambria"/>
              </a:rPr>
              <a:t>freeways,</a:t>
            </a:r>
            <a:r>
              <a:rPr lang="en-US" sz="1350" spc="395" dirty="0">
                <a:latin typeface="Cambria"/>
                <a:cs typeface="Cambria"/>
              </a:rPr>
              <a:t> </a:t>
            </a:r>
            <a:r>
              <a:rPr lang="en-US" sz="1350" dirty="0">
                <a:latin typeface="Cambria"/>
                <a:cs typeface="Cambria"/>
              </a:rPr>
              <a:t>traffic,</a:t>
            </a:r>
            <a:r>
              <a:rPr lang="en-US" sz="1350" spc="390" dirty="0">
                <a:latin typeface="Cambria"/>
                <a:cs typeface="Cambria"/>
              </a:rPr>
              <a:t> </a:t>
            </a:r>
            <a:r>
              <a:rPr lang="en-US" sz="1350" spc="-10" dirty="0">
                <a:latin typeface="Cambria"/>
                <a:cs typeface="Cambria"/>
              </a:rPr>
              <a:t>pedestrians, </a:t>
            </a:r>
            <a:r>
              <a:rPr lang="en-US" sz="1350" spc="-25" dirty="0">
                <a:latin typeface="Cambria"/>
                <a:cs typeface="Cambria"/>
              </a:rPr>
              <a:t>weather,</a:t>
            </a:r>
            <a:r>
              <a:rPr lang="en-US" sz="1350" spc="-10" dirty="0">
                <a:latin typeface="Cambria"/>
                <a:cs typeface="Cambria"/>
              </a:rPr>
              <a:t> </a:t>
            </a:r>
            <a:r>
              <a:rPr lang="en-US" sz="1350" dirty="0">
                <a:latin typeface="Cambria"/>
                <a:cs typeface="Cambria"/>
              </a:rPr>
              <a:t>customers,</a:t>
            </a:r>
            <a:r>
              <a:rPr lang="en-US" sz="1350" spc="-10" dirty="0">
                <a:latin typeface="Cambria"/>
                <a:cs typeface="Cambria"/>
              </a:rPr>
              <a:t> </a:t>
            </a:r>
            <a:r>
              <a:rPr lang="en-US" sz="1350" spc="-60" dirty="0">
                <a:latin typeface="Cambria"/>
                <a:cs typeface="Cambria"/>
              </a:rPr>
              <a:t>…</a:t>
            </a:r>
          </a:p>
          <a:p>
            <a:pPr marL="451484" marR="5080" indent="-194945">
              <a:lnSpc>
                <a:spcPts val="1550"/>
              </a:lnSpc>
              <a:spcBef>
                <a:spcPts val="1835"/>
              </a:spcBef>
              <a:buFont typeface="Arial"/>
              <a:buChar char="•"/>
              <a:tabLst>
                <a:tab pos="451484" algn="l"/>
              </a:tabLst>
            </a:pPr>
            <a:r>
              <a:rPr lang="en-US" sz="1350" b="1" dirty="0">
                <a:solidFill>
                  <a:srgbClr val="FF0000"/>
                </a:solidFill>
                <a:latin typeface="Cambria"/>
                <a:cs typeface="Cambria"/>
              </a:rPr>
              <a:t>A</a:t>
            </a:r>
            <a:r>
              <a:rPr lang="en-US" sz="1350" b="1" dirty="0">
                <a:latin typeface="Cambria"/>
                <a:cs typeface="Cambria"/>
              </a:rPr>
              <a:t>ctuators</a:t>
            </a:r>
            <a:r>
              <a:rPr lang="en-US" sz="1350" b="1" spc="-25" dirty="0">
                <a:latin typeface="Cambria"/>
                <a:cs typeface="Cambria"/>
              </a:rPr>
              <a:t> </a:t>
            </a:r>
            <a:r>
              <a:rPr lang="en-US" sz="1350" i="1" dirty="0">
                <a:latin typeface="Cambria"/>
                <a:cs typeface="Cambria"/>
              </a:rPr>
              <a:t>–</a:t>
            </a:r>
            <a:r>
              <a:rPr lang="en-US" sz="1350" i="1" spc="-20" dirty="0">
                <a:latin typeface="Cambria"/>
                <a:cs typeface="Cambria"/>
              </a:rPr>
              <a:t> </a:t>
            </a:r>
            <a:r>
              <a:rPr lang="en-US" sz="1350" spc="-25" dirty="0">
                <a:latin typeface="Cambria"/>
                <a:cs typeface="Cambria"/>
              </a:rPr>
              <a:t>steer,</a:t>
            </a:r>
            <a:r>
              <a:rPr lang="en-US" sz="1350" spc="-20" dirty="0">
                <a:latin typeface="Cambria"/>
                <a:cs typeface="Cambria"/>
              </a:rPr>
              <a:t> </a:t>
            </a:r>
            <a:r>
              <a:rPr lang="en-US" sz="1350" dirty="0">
                <a:latin typeface="Cambria"/>
                <a:cs typeface="Cambria"/>
              </a:rPr>
              <a:t>accelerate,</a:t>
            </a:r>
            <a:r>
              <a:rPr lang="en-US" sz="1350" spc="-15" dirty="0">
                <a:latin typeface="Cambria"/>
                <a:cs typeface="Cambria"/>
              </a:rPr>
              <a:t> </a:t>
            </a:r>
            <a:r>
              <a:rPr lang="en-US" sz="1350" dirty="0">
                <a:latin typeface="Cambria"/>
                <a:cs typeface="Cambria"/>
              </a:rPr>
              <a:t>brake,</a:t>
            </a:r>
            <a:r>
              <a:rPr lang="en-US" sz="1350" spc="-20" dirty="0">
                <a:latin typeface="Cambria"/>
                <a:cs typeface="Cambria"/>
              </a:rPr>
              <a:t> </a:t>
            </a:r>
            <a:r>
              <a:rPr lang="en-US" sz="1350" dirty="0">
                <a:latin typeface="Cambria"/>
                <a:cs typeface="Cambria"/>
              </a:rPr>
              <a:t>horn,</a:t>
            </a:r>
            <a:r>
              <a:rPr lang="en-US" sz="1350" spc="-20" dirty="0">
                <a:latin typeface="Cambria"/>
                <a:cs typeface="Cambria"/>
              </a:rPr>
              <a:t> indicator, </a:t>
            </a:r>
            <a:r>
              <a:rPr lang="en-US" sz="1350" spc="-50" dirty="0">
                <a:latin typeface="Cambria"/>
                <a:cs typeface="Cambria"/>
              </a:rPr>
              <a:t>…</a:t>
            </a:r>
            <a:endParaRPr lang="en-US" sz="1350" b="1" dirty="0">
              <a:solidFill>
                <a:srgbClr val="FF0000"/>
              </a:solidFill>
              <a:latin typeface="Cambria"/>
              <a:cs typeface="Cambria"/>
            </a:endParaRPr>
          </a:p>
          <a:p>
            <a:pPr marL="451484" marR="5080" indent="-194945">
              <a:lnSpc>
                <a:spcPts val="1550"/>
              </a:lnSpc>
              <a:spcBef>
                <a:spcPts val="1835"/>
              </a:spcBef>
              <a:buFont typeface="Arial"/>
              <a:buChar char="•"/>
              <a:tabLst>
                <a:tab pos="451484" algn="l"/>
              </a:tabLst>
            </a:pPr>
            <a:r>
              <a:rPr sz="1350" b="1" dirty="0">
                <a:solidFill>
                  <a:srgbClr val="FF0000"/>
                </a:solidFill>
                <a:latin typeface="Cambria"/>
                <a:cs typeface="Cambria"/>
              </a:rPr>
              <a:t>S</a:t>
            </a:r>
            <a:r>
              <a:rPr sz="1350" b="1" dirty="0">
                <a:latin typeface="Cambria"/>
                <a:cs typeface="Cambria"/>
              </a:rPr>
              <a:t>ens</a:t>
            </a:r>
            <a:r>
              <a:rPr lang="en-US" sz="1350" b="1" dirty="0">
                <a:latin typeface="Cambria"/>
                <a:cs typeface="Cambria"/>
              </a:rPr>
              <a:t>ors</a:t>
            </a:r>
            <a:r>
              <a:rPr sz="1350" dirty="0">
                <a:latin typeface="Cambria"/>
                <a:cs typeface="Cambria"/>
              </a:rPr>
              <a:t>–</a:t>
            </a:r>
            <a:r>
              <a:rPr sz="1350" spc="15" dirty="0">
                <a:latin typeface="Cambria"/>
                <a:cs typeface="Cambria"/>
              </a:rPr>
              <a:t> </a:t>
            </a:r>
            <a:r>
              <a:rPr sz="1350" dirty="0">
                <a:latin typeface="Cambria"/>
                <a:cs typeface="Cambria"/>
              </a:rPr>
              <a:t>Video,</a:t>
            </a:r>
            <a:r>
              <a:rPr sz="1350" spc="10" dirty="0">
                <a:latin typeface="Cambria"/>
                <a:cs typeface="Cambria"/>
              </a:rPr>
              <a:t> </a:t>
            </a:r>
            <a:r>
              <a:rPr sz="1350" spc="-10" dirty="0">
                <a:latin typeface="Cambria"/>
                <a:cs typeface="Cambria"/>
              </a:rPr>
              <a:t>sonar,</a:t>
            </a:r>
            <a:r>
              <a:rPr sz="1350" spc="10" dirty="0">
                <a:latin typeface="Cambria"/>
                <a:cs typeface="Cambria"/>
              </a:rPr>
              <a:t> </a:t>
            </a:r>
            <a:r>
              <a:rPr sz="1350" spc="-10" dirty="0">
                <a:latin typeface="Cambria"/>
                <a:cs typeface="Cambria"/>
              </a:rPr>
              <a:t>speedometer,</a:t>
            </a:r>
            <a:r>
              <a:rPr sz="1350" spc="10" dirty="0">
                <a:latin typeface="Cambria"/>
                <a:cs typeface="Cambria"/>
              </a:rPr>
              <a:t> </a:t>
            </a:r>
            <a:r>
              <a:rPr sz="1350" spc="-10" dirty="0">
                <a:latin typeface="Cambria"/>
                <a:cs typeface="Cambria"/>
              </a:rPr>
              <a:t>laser,</a:t>
            </a:r>
            <a:r>
              <a:rPr sz="1350" spc="15" dirty="0">
                <a:latin typeface="Cambria"/>
                <a:cs typeface="Cambria"/>
              </a:rPr>
              <a:t> </a:t>
            </a:r>
            <a:r>
              <a:rPr sz="1350" spc="-10" dirty="0">
                <a:latin typeface="Cambria"/>
                <a:cs typeface="Cambria"/>
              </a:rPr>
              <a:t>odometer, </a:t>
            </a:r>
            <a:r>
              <a:rPr sz="1350" dirty="0">
                <a:latin typeface="Cambria"/>
                <a:cs typeface="Cambria"/>
              </a:rPr>
              <a:t>engine</a:t>
            </a:r>
            <a:r>
              <a:rPr sz="1350" spc="-5" dirty="0">
                <a:latin typeface="Cambria"/>
                <a:cs typeface="Cambria"/>
              </a:rPr>
              <a:t> </a:t>
            </a:r>
            <a:r>
              <a:rPr sz="1350" dirty="0">
                <a:latin typeface="Cambria"/>
                <a:cs typeface="Cambria"/>
              </a:rPr>
              <a:t>sensors, microphone, GPS, </a:t>
            </a:r>
            <a:r>
              <a:rPr sz="1350" spc="-50" dirty="0">
                <a:latin typeface="Cambria"/>
                <a:cs typeface="Cambria"/>
              </a:rPr>
              <a:t>…</a:t>
            </a:r>
            <a:endParaRPr sz="1350" dirty="0">
              <a:latin typeface="Cambria"/>
              <a:cs typeface="Cambria"/>
            </a:endParaRPr>
          </a:p>
        </p:txBody>
      </p:sp>
      <p:pic>
        <p:nvPicPr>
          <p:cNvPr id="6" name="Picture 5">
            <a:extLst>
              <a:ext uri="{FF2B5EF4-FFF2-40B4-BE49-F238E27FC236}">
                <a16:creationId xmlns:a16="http://schemas.microsoft.com/office/drawing/2014/main" id="{A895FE06-D428-3E06-A7E3-CF72369EA396}"/>
              </a:ext>
            </a:extLst>
          </p:cNvPr>
          <p:cNvPicPr>
            <a:picLocks noChangeAspect="1"/>
          </p:cNvPicPr>
          <p:nvPr/>
        </p:nvPicPr>
        <p:blipFill>
          <a:blip r:embed="rId3"/>
          <a:stretch>
            <a:fillRect/>
          </a:stretch>
        </p:blipFill>
        <p:spPr>
          <a:xfrm>
            <a:off x="654050" y="3130550"/>
            <a:ext cx="6465165" cy="206915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DB6CC-2211-F8FD-E9F8-62BEB6C78AE6}"/>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1B89D73C-AAD5-F9F3-5125-958C80E6F24D}"/>
              </a:ext>
            </a:extLst>
          </p:cNvPr>
          <p:cNvPicPr/>
          <p:nvPr/>
        </p:nvPicPr>
        <p:blipFill>
          <a:blip r:embed="rId2" cstate="print"/>
          <a:stretch>
            <a:fillRect/>
          </a:stretch>
        </p:blipFill>
        <p:spPr>
          <a:xfrm>
            <a:off x="6329070" y="956527"/>
            <a:ext cx="563775" cy="1128457"/>
          </a:xfrm>
          <a:prstGeom prst="rect">
            <a:avLst/>
          </a:prstGeom>
        </p:spPr>
      </p:pic>
      <p:sp>
        <p:nvSpPr>
          <p:cNvPr id="3" name="object 3">
            <a:extLst>
              <a:ext uri="{FF2B5EF4-FFF2-40B4-BE49-F238E27FC236}">
                <a16:creationId xmlns:a16="http://schemas.microsoft.com/office/drawing/2014/main" id="{562F5700-F5A1-AE94-6B61-1C1D5EC0F3D6}"/>
              </a:ext>
            </a:extLst>
          </p:cNvPr>
          <p:cNvSpPr txBox="1"/>
          <p:nvPr/>
        </p:nvSpPr>
        <p:spPr>
          <a:xfrm>
            <a:off x="349250" y="387350"/>
            <a:ext cx="5715000" cy="309700"/>
          </a:xfrm>
          <a:prstGeom prst="rect">
            <a:avLst/>
          </a:prstGeom>
        </p:spPr>
        <p:txBody>
          <a:bodyPr vert="horz" wrap="square" lIns="0" tIns="17145" rIns="0" bIns="0" rtlCol="0">
            <a:spAutoFit/>
          </a:bodyPr>
          <a:lstStyle/>
          <a:p>
            <a:pPr marL="12700">
              <a:lnSpc>
                <a:spcPct val="100000"/>
              </a:lnSpc>
              <a:spcBef>
                <a:spcPts val="135"/>
              </a:spcBef>
            </a:pPr>
            <a:r>
              <a:rPr lang="en-US" sz="1900" b="1" dirty="0">
                <a:solidFill>
                  <a:srgbClr val="FF0000"/>
                </a:solidFill>
                <a:latin typeface="Cambria"/>
                <a:cs typeface="Cambria"/>
              </a:rPr>
              <a:t>The PEAS Framework</a:t>
            </a:r>
            <a:endParaRPr sz="1900" dirty="0">
              <a:latin typeface="Cambria"/>
              <a:cs typeface="Cambria"/>
            </a:endParaRPr>
          </a:p>
        </p:txBody>
      </p:sp>
      <p:graphicFrame>
        <p:nvGraphicFramePr>
          <p:cNvPr id="8" name="Table 0">
            <a:extLst>
              <a:ext uri="{FF2B5EF4-FFF2-40B4-BE49-F238E27FC236}">
                <a16:creationId xmlns:a16="http://schemas.microsoft.com/office/drawing/2014/main" id="{1036F530-4C74-A605-2087-2EB6DD8CAAC0}"/>
              </a:ext>
            </a:extLst>
          </p:cNvPr>
          <p:cNvGraphicFramePr>
            <a:graphicFrameLocks noGrp="1"/>
          </p:cNvGraphicFramePr>
          <p:nvPr>
            <p:extLst>
              <p:ext uri="{D42A27DB-BD31-4B8C-83A1-F6EECF244321}">
                <p14:modId xmlns:p14="http://schemas.microsoft.com/office/powerpoint/2010/main" val="2194533365"/>
              </p:ext>
            </p:extLst>
          </p:nvPr>
        </p:nvGraphicFramePr>
        <p:xfrm>
          <a:off x="277852" y="956527"/>
          <a:ext cx="7000795" cy="2935224"/>
        </p:xfrm>
        <a:graphic>
          <a:graphicData uri="http://schemas.openxmlformats.org/drawingml/2006/table">
            <a:tbl>
              <a:tblPr/>
              <a:tblGrid>
                <a:gridCol w="1153977">
                  <a:extLst>
                    <a:ext uri="{9D8B030D-6E8A-4147-A177-3AD203B41FA5}">
                      <a16:colId xmlns:a16="http://schemas.microsoft.com/office/drawing/2014/main" val="20000"/>
                    </a:ext>
                  </a:extLst>
                </a:gridCol>
                <a:gridCol w="1538636">
                  <a:extLst>
                    <a:ext uri="{9D8B030D-6E8A-4147-A177-3AD203B41FA5}">
                      <a16:colId xmlns:a16="http://schemas.microsoft.com/office/drawing/2014/main" val="20001"/>
                    </a:ext>
                  </a:extLst>
                </a:gridCol>
                <a:gridCol w="1692500">
                  <a:extLst>
                    <a:ext uri="{9D8B030D-6E8A-4147-A177-3AD203B41FA5}">
                      <a16:colId xmlns:a16="http://schemas.microsoft.com/office/drawing/2014/main" val="20002"/>
                    </a:ext>
                  </a:extLst>
                </a:gridCol>
                <a:gridCol w="1384773">
                  <a:extLst>
                    <a:ext uri="{9D8B030D-6E8A-4147-A177-3AD203B41FA5}">
                      <a16:colId xmlns:a16="http://schemas.microsoft.com/office/drawing/2014/main" val="20003"/>
                    </a:ext>
                  </a:extLst>
                </a:gridCol>
                <a:gridCol w="1230909">
                  <a:extLst>
                    <a:ext uri="{9D8B030D-6E8A-4147-A177-3AD203B41FA5}">
                      <a16:colId xmlns:a16="http://schemas.microsoft.com/office/drawing/2014/main" val="20004"/>
                    </a:ext>
                  </a:extLst>
                </a:gridCol>
              </a:tblGrid>
              <a:tr h="4114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Agent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Performance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Environment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Actuators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Sensors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804672">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Self-Driving Car</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Safe, fast, legal, comfortable, fuel-efficient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Roads, traffic, pedestrians, weather, maps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Steering, throttle, brake, horn, indicators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Cameras, LIDAR, radar, GPS, speedometer</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LLM Personal Agent</a:t>
                      </a:r>
                      <a:endParaRPr lang="en-US" sz="1050" dirty="0">
                        <a:latin typeface="Calibri" charset="0"/>
                        <a:ea typeface="Calibri" charset="0"/>
                        <a:cs typeface="Calibri" charset="0"/>
                      </a:endParaRPr>
                    </a:p>
                    <a:p>
                      <a:pPr marL="0" indent="0" algn="l">
                        <a:buNone/>
                      </a:pPr>
                      <a:r>
                        <a:rPr lang="en-US" sz="1050" dirty="0">
                          <a:solidFill>
                            <a:srgbClr val="000000"/>
                          </a:solidFill>
                          <a:latin typeface="Calibri" pitchFamily="34" charset="0"/>
                          <a:ea typeface="Calibri" pitchFamily="34" charset="-122"/>
                          <a:cs typeface="Calibri" pitchFamily="34" charset="-120"/>
                        </a:rPr>
                        <a:t>(e.g. Claude)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Task completed correctly, user satisfied, no harm</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Files, web, APIs, email, calendar, user goals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Text output, code execution, web clicks, API calls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User text, images, file contents, tool results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04672">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Medical Diagnosis AI</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Correct diagnosis, no false negatives, speed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Patient records, lab results, imaging, symptoms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Diagnosis report, treatment recommendations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0000"/>
                          </a:solidFill>
                          <a:latin typeface="Calibri" pitchFamily="34" charset="0"/>
                          <a:ea typeface="Calibri" pitchFamily="34" charset="-122"/>
                          <a:cs typeface="Calibri" pitchFamily="34" charset="-120"/>
                        </a:rPr>
                        <a:t>EHR data, DICOM images, lab values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26758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577850" y="581877"/>
            <a:ext cx="5562600" cy="3269485"/>
          </a:xfrm>
          <a:prstGeom prst="rect">
            <a:avLst/>
          </a:prstGeom>
        </p:spPr>
        <p:txBody>
          <a:bodyPr vert="horz" wrap="square" lIns="0" tIns="17145" rIns="0" bIns="0" rtlCol="0">
            <a:spAutoFit/>
          </a:bodyPr>
          <a:lstStyle/>
          <a:p>
            <a:pPr marL="62230">
              <a:lnSpc>
                <a:spcPct val="100000"/>
              </a:lnSpc>
              <a:spcBef>
                <a:spcPts val="135"/>
              </a:spcBef>
            </a:pPr>
            <a:r>
              <a:rPr sz="2400" b="1" dirty="0">
                <a:solidFill>
                  <a:srgbClr val="FF0000"/>
                </a:solidFill>
                <a:latin typeface="Cambria"/>
                <a:cs typeface="Cambria"/>
              </a:rPr>
              <a:t>Agent</a:t>
            </a:r>
            <a:r>
              <a:rPr sz="2400" b="1" spc="-35" dirty="0">
                <a:solidFill>
                  <a:srgbClr val="FF0000"/>
                </a:solidFill>
                <a:latin typeface="Cambria"/>
                <a:cs typeface="Cambria"/>
              </a:rPr>
              <a:t> </a:t>
            </a:r>
            <a:r>
              <a:rPr sz="2400" b="1" spc="-20" dirty="0">
                <a:solidFill>
                  <a:srgbClr val="FF0000"/>
                </a:solidFill>
                <a:latin typeface="Cambria"/>
                <a:cs typeface="Cambria"/>
              </a:rPr>
              <a:t>Types</a:t>
            </a:r>
            <a:endParaRPr sz="2400" dirty="0">
              <a:solidFill>
                <a:srgbClr val="FF0000"/>
              </a:solidFill>
              <a:latin typeface="Cambria"/>
              <a:cs typeface="Cambria"/>
            </a:endParaRPr>
          </a:p>
          <a:p>
            <a:pPr marL="207010" marR="5080" indent="-194945">
              <a:lnSpc>
                <a:spcPts val="1550"/>
              </a:lnSpc>
              <a:spcBef>
                <a:spcPts val="1730"/>
              </a:spcBef>
              <a:buFont typeface="Arial"/>
              <a:buChar char="•"/>
              <a:tabLst>
                <a:tab pos="207010" algn="l"/>
              </a:tabLst>
            </a:pPr>
            <a:r>
              <a:rPr sz="1350" dirty="0">
                <a:latin typeface="Cambria"/>
                <a:cs typeface="Cambria"/>
              </a:rPr>
              <a:t>Agent</a:t>
            </a:r>
            <a:r>
              <a:rPr sz="1350" spc="40" dirty="0">
                <a:latin typeface="Cambria"/>
                <a:cs typeface="Cambria"/>
              </a:rPr>
              <a:t> </a:t>
            </a:r>
            <a:r>
              <a:rPr sz="1350" dirty="0">
                <a:latin typeface="Cambria"/>
                <a:cs typeface="Cambria"/>
              </a:rPr>
              <a:t>can</a:t>
            </a:r>
            <a:r>
              <a:rPr sz="1350" spc="40" dirty="0">
                <a:latin typeface="Cambria"/>
                <a:cs typeface="Cambria"/>
              </a:rPr>
              <a:t> </a:t>
            </a:r>
            <a:r>
              <a:rPr sz="1350" dirty="0">
                <a:latin typeface="Cambria"/>
                <a:cs typeface="Cambria"/>
              </a:rPr>
              <a:t>be</a:t>
            </a:r>
            <a:r>
              <a:rPr sz="1350" spc="40" dirty="0">
                <a:latin typeface="Cambria"/>
                <a:cs typeface="Cambria"/>
              </a:rPr>
              <a:t> </a:t>
            </a:r>
            <a:r>
              <a:rPr sz="1350" dirty="0">
                <a:latin typeface="Cambria"/>
                <a:cs typeface="Cambria"/>
              </a:rPr>
              <a:t>classified</a:t>
            </a:r>
            <a:r>
              <a:rPr sz="1350" spc="50" dirty="0">
                <a:latin typeface="Cambria"/>
                <a:cs typeface="Cambria"/>
              </a:rPr>
              <a:t> </a:t>
            </a:r>
            <a:r>
              <a:rPr sz="1350" dirty="0">
                <a:latin typeface="Cambria"/>
                <a:cs typeface="Cambria"/>
              </a:rPr>
              <a:t>as</a:t>
            </a:r>
            <a:r>
              <a:rPr sz="1350" spc="40" dirty="0">
                <a:latin typeface="Cambria"/>
                <a:cs typeface="Cambria"/>
              </a:rPr>
              <a:t> </a:t>
            </a:r>
            <a:r>
              <a:rPr sz="1350" dirty="0">
                <a:latin typeface="Cambria"/>
                <a:cs typeface="Cambria"/>
              </a:rPr>
              <a:t>follows</a:t>
            </a:r>
            <a:r>
              <a:rPr sz="1350" spc="40" dirty="0">
                <a:latin typeface="Cambria"/>
                <a:cs typeface="Cambria"/>
              </a:rPr>
              <a:t> </a:t>
            </a:r>
            <a:r>
              <a:rPr sz="1350" dirty="0">
                <a:latin typeface="Cambria"/>
                <a:cs typeface="Cambria"/>
              </a:rPr>
              <a:t>based</a:t>
            </a:r>
            <a:r>
              <a:rPr sz="1350" spc="45" dirty="0">
                <a:latin typeface="Cambria"/>
                <a:cs typeface="Cambria"/>
              </a:rPr>
              <a:t> </a:t>
            </a:r>
            <a:r>
              <a:rPr sz="1350" dirty="0">
                <a:latin typeface="Cambria"/>
                <a:cs typeface="Cambria"/>
              </a:rPr>
              <a:t>on</a:t>
            </a:r>
            <a:r>
              <a:rPr sz="1350" spc="40" dirty="0">
                <a:latin typeface="Cambria"/>
                <a:cs typeface="Cambria"/>
              </a:rPr>
              <a:t> </a:t>
            </a:r>
            <a:r>
              <a:rPr sz="1350" dirty="0">
                <a:latin typeface="Cambria"/>
                <a:cs typeface="Cambria"/>
              </a:rPr>
              <a:t>their</a:t>
            </a:r>
            <a:r>
              <a:rPr sz="1350" spc="40" dirty="0">
                <a:latin typeface="Cambria"/>
                <a:cs typeface="Cambria"/>
              </a:rPr>
              <a:t> </a:t>
            </a:r>
            <a:r>
              <a:rPr sz="1350" spc="-10" dirty="0">
                <a:latin typeface="Cambria"/>
                <a:cs typeface="Cambria"/>
              </a:rPr>
              <a:t>decision-making ability:</a:t>
            </a:r>
            <a:endParaRPr sz="1350" dirty="0">
              <a:latin typeface="Cambria"/>
              <a:cs typeface="Cambria"/>
            </a:endParaRPr>
          </a:p>
          <a:p>
            <a:pPr marL="401955" lvl="1" indent="-194945">
              <a:lnSpc>
                <a:spcPct val="100000"/>
              </a:lnSpc>
              <a:spcBef>
                <a:spcPts val="210"/>
              </a:spcBef>
              <a:buFont typeface="Arial"/>
              <a:buChar char="•"/>
              <a:tabLst>
                <a:tab pos="401955" algn="l"/>
              </a:tabLst>
            </a:pPr>
            <a:r>
              <a:rPr sz="1350" i="1" dirty="0">
                <a:latin typeface="Cambria"/>
                <a:cs typeface="Cambria"/>
              </a:rPr>
              <a:t>Simple</a:t>
            </a:r>
            <a:r>
              <a:rPr sz="1350" i="1" spc="-25" dirty="0">
                <a:latin typeface="Cambria"/>
                <a:cs typeface="Cambria"/>
              </a:rPr>
              <a:t> </a:t>
            </a:r>
            <a:r>
              <a:rPr sz="1350" i="1" dirty="0">
                <a:latin typeface="Cambria"/>
                <a:cs typeface="Cambria"/>
              </a:rPr>
              <a:t>Reflex</a:t>
            </a:r>
            <a:r>
              <a:rPr sz="1350" i="1" spc="-25" dirty="0">
                <a:latin typeface="Cambria"/>
                <a:cs typeface="Cambria"/>
              </a:rPr>
              <a:t> </a:t>
            </a:r>
            <a:r>
              <a:rPr sz="1350" i="1" spc="-20" dirty="0">
                <a:latin typeface="Cambria"/>
                <a:cs typeface="Cambria"/>
              </a:rPr>
              <a:t>Agent</a:t>
            </a:r>
            <a:endParaRPr sz="1350" dirty="0">
              <a:latin typeface="Cambria"/>
              <a:cs typeface="Cambria"/>
            </a:endParaRPr>
          </a:p>
          <a:p>
            <a:pPr marL="401955" lvl="1" indent="-194945">
              <a:lnSpc>
                <a:spcPct val="100000"/>
              </a:lnSpc>
              <a:spcBef>
                <a:spcPts val="315"/>
              </a:spcBef>
              <a:buFont typeface="Arial"/>
              <a:buChar char="•"/>
              <a:tabLst>
                <a:tab pos="401955" algn="l"/>
              </a:tabLst>
            </a:pPr>
            <a:r>
              <a:rPr sz="1350" i="1" spc="-10" dirty="0">
                <a:latin typeface="Cambria"/>
                <a:cs typeface="Cambria"/>
              </a:rPr>
              <a:t>Model-</a:t>
            </a:r>
            <a:r>
              <a:rPr sz="1350" i="1" dirty="0">
                <a:latin typeface="Cambria"/>
                <a:cs typeface="Cambria"/>
              </a:rPr>
              <a:t>based</a:t>
            </a:r>
            <a:r>
              <a:rPr sz="1350" i="1" spc="5" dirty="0">
                <a:latin typeface="Cambria"/>
                <a:cs typeface="Cambria"/>
              </a:rPr>
              <a:t> </a:t>
            </a:r>
            <a:r>
              <a:rPr sz="1350" i="1" dirty="0">
                <a:latin typeface="Cambria"/>
                <a:cs typeface="Cambria"/>
              </a:rPr>
              <a:t>Reflex</a:t>
            </a:r>
            <a:r>
              <a:rPr sz="1350" i="1" spc="5" dirty="0">
                <a:latin typeface="Cambria"/>
                <a:cs typeface="Cambria"/>
              </a:rPr>
              <a:t> </a:t>
            </a:r>
            <a:r>
              <a:rPr sz="1350" i="1" spc="-20" dirty="0">
                <a:latin typeface="Cambria"/>
                <a:cs typeface="Cambria"/>
              </a:rPr>
              <a:t>Agent</a:t>
            </a:r>
            <a:endParaRPr sz="1350" dirty="0">
              <a:latin typeface="Cambria"/>
              <a:cs typeface="Cambria"/>
            </a:endParaRPr>
          </a:p>
          <a:p>
            <a:pPr marL="401955" lvl="1" indent="-194945">
              <a:lnSpc>
                <a:spcPct val="100000"/>
              </a:lnSpc>
              <a:spcBef>
                <a:spcPts val="254"/>
              </a:spcBef>
              <a:buFont typeface="Arial"/>
              <a:buChar char="•"/>
              <a:tabLst>
                <a:tab pos="401955" algn="l"/>
              </a:tabLst>
            </a:pPr>
            <a:r>
              <a:rPr sz="1350" i="1" dirty="0">
                <a:latin typeface="Cambria"/>
                <a:cs typeface="Cambria"/>
              </a:rPr>
              <a:t>Goal-based</a:t>
            </a:r>
            <a:r>
              <a:rPr sz="1350" i="1" spc="10" dirty="0">
                <a:latin typeface="Cambria"/>
                <a:cs typeface="Cambria"/>
              </a:rPr>
              <a:t> </a:t>
            </a:r>
            <a:r>
              <a:rPr sz="1350" i="1" spc="-20" dirty="0">
                <a:latin typeface="Cambria"/>
                <a:cs typeface="Cambria"/>
              </a:rPr>
              <a:t>Agent</a:t>
            </a:r>
            <a:endParaRPr sz="1350" dirty="0">
              <a:latin typeface="Cambria"/>
              <a:cs typeface="Cambria"/>
            </a:endParaRPr>
          </a:p>
          <a:p>
            <a:pPr marL="401955" lvl="1" indent="-194945">
              <a:lnSpc>
                <a:spcPct val="100000"/>
              </a:lnSpc>
              <a:spcBef>
                <a:spcPts val="315"/>
              </a:spcBef>
              <a:buFont typeface="Arial"/>
              <a:buChar char="•"/>
              <a:tabLst>
                <a:tab pos="401955" algn="l"/>
              </a:tabLst>
            </a:pPr>
            <a:r>
              <a:rPr sz="1350" i="1" dirty="0">
                <a:latin typeface="Cambria"/>
                <a:cs typeface="Cambria"/>
              </a:rPr>
              <a:t>Utility-based</a:t>
            </a:r>
            <a:r>
              <a:rPr sz="1350" i="1" spc="25" dirty="0">
                <a:latin typeface="Cambria"/>
                <a:cs typeface="Cambria"/>
              </a:rPr>
              <a:t> </a:t>
            </a:r>
            <a:r>
              <a:rPr sz="1350" i="1" spc="-20" dirty="0">
                <a:latin typeface="Cambria"/>
                <a:cs typeface="Cambria"/>
              </a:rPr>
              <a:t>Agent</a:t>
            </a:r>
            <a:endParaRPr sz="1350" dirty="0">
              <a:latin typeface="Cambria"/>
              <a:cs typeface="Cambria"/>
            </a:endParaRPr>
          </a:p>
          <a:p>
            <a:pPr marL="401955" marR="5080" lvl="1" indent="-194945">
              <a:lnSpc>
                <a:spcPts val="1550"/>
              </a:lnSpc>
              <a:spcBef>
                <a:spcPts val="365"/>
              </a:spcBef>
              <a:buFont typeface="Arial"/>
              <a:buChar char="•"/>
              <a:tabLst>
                <a:tab pos="401955" algn="l"/>
              </a:tabLst>
            </a:pPr>
            <a:r>
              <a:rPr sz="1350" i="1" dirty="0">
                <a:latin typeface="Cambria"/>
                <a:cs typeface="Cambria"/>
              </a:rPr>
              <a:t>Learning</a:t>
            </a:r>
            <a:r>
              <a:rPr sz="1350" i="1" spc="125" dirty="0">
                <a:latin typeface="Cambria"/>
                <a:cs typeface="Cambria"/>
              </a:rPr>
              <a:t>  </a:t>
            </a:r>
            <a:r>
              <a:rPr sz="1350" i="1" dirty="0">
                <a:latin typeface="Cambria"/>
                <a:cs typeface="Cambria"/>
              </a:rPr>
              <a:t>Agent</a:t>
            </a:r>
            <a:r>
              <a:rPr sz="1350" i="1" spc="125" dirty="0">
                <a:latin typeface="Cambria"/>
                <a:cs typeface="Cambria"/>
              </a:rPr>
              <a:t>  </a:t>
            </a:r>
            <a:r>
              <a:rPr sz="1350" i="1" dirty="0">
                <a:latin typeface="Cambria"/>
                <a:cs typeface="Cambria"/>
              </a:rPr>
              <a:t>(by</a:t>
            </a:r>
            <a:r>
              <a:rPr sz="1350" i="1" spc="125" dirty="0">
                <a:latin typeface="Cambria"/>
                <a:cs typeface="Cambria"/>
              </a:rPr>
              <a:t>  </a:t>
            </a:r>
            <a:r>
              <a:rPr sz="1350" i="1" dirty="0">
                <a:latin typeface="Cambria"/>
                <a:cs typeface="Cambria"/>
              </a:rPr>
              <a:t>combining</a:t>
            </a:r>
            <a:r>
              <a:rPr sz="1350" i="1" spc="125" dirty="0">
                <a:latin typeface="Cambria"/>
                <a:cs typeface="Cambria"/>
              </a:rPr>
              <a:t>  </a:t>
            </a:r>
            <a:r>
              <a:rPr sz="1350" i="1" dirty="0">
                <a:latin typeface="Cambria"/>
                <a:cs typeface="Cambria"/>
              </a:rPr>
              <a:t>one</a:t>
            </a:r>
            <a:r>
              <a:rPr sz="1350" i="1" spc="125" dirty="0">
                <a:latin typeface="Cambria"/>
                <a:cs typeface="Cambria"/>
              </a:rPr>
              <a:t>  </a:t>
            </a:r>
            <a:r>
              <a:rPr sz="1350" i="1" dirty="0">
                <a:latin typeface="Cambria"/>
                <a:cs typeface="Cambria"/>
              </a:rPr>
              <a:t>of</a:t>
            </a:r>
            <a:r>
              <a:rPr sz="1350" i="1" spc="130" dirty="0">
                <a:latin typeface="Cambria"/>
                <a:cs typeface="Cambria"/>
              </a:rPr>
              <a:t>  </a:t>
            </a:r>
            <a:r>
              <a:rPr sz="1350" i="1" dirty="0">
                <a:latin typeface="Cambria"/>
                <a:cs typeface="Cambria"/>
              </a:rPr>
              <a:t>the</a:t>
            </a:r>
            <a:r>
              <a:rPr sz="1350" i="1" spc="120" dirty="0">
                <a:latin typeface="Cambria"/>
                <a:cs typeface="Cambria"/>
              </a:rPr>
              <a:t>  </a:t>
            </a:r>
            <a:r>
              <a:rPr sz="1350" i="1" dirty="0">
                <a:latin typeface="Cambria"/>
                <a:cs typeface="Cambria"/>
              </a:rPr>
              <a:t>above</a:t>
            </a:r>
            <a:r>
              <a:rPr sz="1350" i="1" spc="125" dirty="0">
                <a:latin typeface="Cambria"/>
                <a:cs typeface="Cambria"/>
              </a:rPr>
              <a:t>  </a:t>
            </a:r>
            <a:r>
              <a:rPr sz="1350" i="1" dirty="0">
                <a:latin typeface="Cambria"/>
                <a:cs typeface="Cambria"/>
              </a:rPr>
              <a:t>with</a:t>
            </a:r>
            <a:r>
              <a:rPr sz="1350" i="1" spc="125" dirty="0">
                <a:latin typeface="Cambria"/>
                <a:cs typeface="Cambria"/>
              </a:rPr>
              <a:t>  </a:t>
            </a:r>
            <a:r>
              <a:rPr sz="1350" i="1" spc="-25" dirty="0">
                <a:latin typeface="Cambria"/>
                <a:cs typeface="Cambria"/>
              </a:rPr>
              <a:t>the </a:t>
            </a:r>
            <a:r>
              <a:rPr sz="1350" i="1" dirty="0">
                <a:solidFill>
                  <a:srgbClr val="FF0000"/>
                </a:solidFill>
                <a:latin typeface="Cambria"/>
                <a:cs typeface="Cambria"/>
              </a:rPr>
              <a:t>learning</a:t>
            </a:r>
            <a:r>
              <a:rPr sz="1350" i="1" spc="20" dirty="0">
                <a:solidFill>
                  <a:srgbClr val="FF0000"/>
                </a:solidFill>
                <a:latin typeface="Cambria"/>
                <a:cs typeface="Cambria"/>
              </a:rPr>
              <a:t> </a:t>
            </a:r>
            <a:r>
              <a:rPr sz="1350" i="1" spc="-10" dirty="0">
                <a:solidFill>
                  <a:srgbClr val="FF0000"/>
                </a:solidFill>
                <a:latin typeface="Cambria"/>
                <a:cs typeface="Cambria"/>
              </a:rPr>
              <a:t>capability</a:t>
            </a:r>
            <a:r>
              <a:rPr sz="1350" i="1" spc="-10" dirty="0">
                <a:latin typeface="Cambria"/>
                <a:cs typeface="Cambria"/>
              </a:rPr>
              <a:t>)</a:t>
            </a:r>
            <a:endParaRPr lang="en-US" sz="1350" i="1" spc="-10" dirty="0">
              <a:latin typeface="Cambria"/>
              <a:cs typeface="Cambria"/>
            </a:endParaRPr>
          </a:p>
          <a:p>
            <a:pPr marL="401955" marR="5080" lvl="1" indent="-194945">
              <a:lnSpc>
                <a:spcPts val="1550"/>
              </a:lnSpc>
              <a:spcBef>
                <a:spcPts val="365"/>
              </a:spcBef>
              <a:buFont typeface="Arial"/>
              <a:buChar char="•"/>
              <a:tabLst>
                <a:tab pos="401955" algn="l"/>
              </a:tabLst>
            </a:pPr>
            <a:r>
              <a:rPr lang="en-US" sz="1350" i="1" spc="-10" dirty="0">
                <a:latin typeface="Cambria"/>
                <a:cs typeface="Cambria"/>
              </a:rPr>
              <a:t>Multi-Agent Systems (MAS)</a:t>
            </a:r>
          </a:p>
          <a:p>
            <a:pPr marL="401955" marR="5080" lvl="1" indent="-194945">
              <a:lnSpc>
                <a:spcPts val="1550"/>
              </a:lnSpc>
              <a:spcBef>
                <a:spcPts val="365"/>
              </a:spcBef>
              <a:buFont typeface="Arial"/>
              <a:buChar char="•"/>
              <a:tabLst>
                <a:tab pos="401955" algn="l"/>
              </a:tabLst>
            </a:pPr>
            <a:r>
              <a:rPr lang="en-US" sz="1350" i="1" spc="-10" dirty="0">
                <a:latin typeface="Cambria"/>
                <a:cs typeface="Cambria"/>
              </a:rPr>
              <a:t>Hierarchical Agent</a:t>
            </a:r>
          </a:p>
          <a:p>
            <a:pPr marL="401955" marR="5080" lvl="1" indent="-194945">
              <a:lnSpc>
                <a:spcPts val="1550"/>
              </a:lnSpc>
              <a:spcBef>
                <a:spcPts val="365"/>
              </a:spcBef>
              <a:buFont typeface="Arial"/>
              <a:buChar char="•"/>
              <a:tabLst>
                <a:tab pos="401955" algn="l"/>
              </a:tabLst>
            </a:pPr>
            <a:r>
              <a:rPr lang="en-US" sz="1350" i="1" spc="-10" dirty="0">
                <a:latin typeface="Cambria"/>
                <a:cs typeface="Cambria"/>
              </a:rPr>
              <a:t>LLM-Based Agent</a:t>
            </a:r>
          </a:p>
          <a:p>
            <a:pPr marL="401955" marR="5080" lvl="1" indent="-194945">
              <a:lnSpc>
                <a:spcPts val="1550"/>
              </a:lnSpc>
              <a:spcBef>
                <a:spcPts val="365"/>
              </a:spcBef>
              <a:buFont typeface="Arial"/>
              <a:buChar char="•"/>
              <a:tabLst>
                <a:tab pos="401955" algn="l"/>
              </a:tabLst>
            </a:pPr>
            <a:endParaRPr sz="1350" dirty="0">
              <a:latin typeface="Cambria"/>
              <a:cs typeface="Cambr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3050" y="234950"/>
            <a:ext cx="6629400" cy="1913408"/>
          </a:xfrm>
          <a:prstGeom prst="rect">
            <a:avLst/>
          </a:prstGeom>
        </p:spPr>
        <p:txBody>
          <a:bodyPr vert="horz" wrap="square" lIns="0" tIns="14604" rIns="0" bIns="0" rtlCol="0">
            <a:spAutoFit/>
          </a:bodyPr>
          <a:lstStyle/>
          <a:p>
            <a:pPr marL="12700">
              <a:lnSpc>
                <a:spcPct val="100000"/>
              </a:lnSpc>
              <a:spcBef>
                <a:spcPts val="114"/>
              </a:spcBef>
            </a:pPr>
            <a:r>
              <a:rPr lang="en-US" sz="2200" b="1" dirty="0">
                <a:solidFill>
                  <a:srgbClr val="FF0000"/>
                </a:solidFill>
                <a:latin typeface="Cambria" panose="02040503050406030204" pitchFamily="18" charset="0"/>
                <a:ea typeface="Cambria" panose="02040503050406030204" pitchFamily="18" charset="0"/>
                <a:cs typeface="Calibri Light"/>
              </a:rPr>
              <a:t>Simple Reflex Agents</a:t>
            </a:r>
            <a:endParaRPr sz="2200" b="1" dirty="0">
              <a:latin typeface="Cambria" panose="02040503050406030204" pitchFamily="18" charset="0"/>
              <a:ea typeface="Cambria" panose="02040503050406030204" pitchFamily="18" charset="0"/>
              <a:cs typeface="Calibri Light"/>
            </a:endParaRPr>
          </a:p>
          <a:p>
            <a:pPr marL="188595" indent="-175895">
              <a:lnSpc>
                <a:spcPts val="1835"/>
              </a:lnSpc>
              <a:spcBef>
                <a:spcPts val="2060"/>
              </a:spcBef>
              <a:buFont typeface="Arial"/>
              <a:buChar char="•"/>
              <a:tabLst>
                <a:tab pos="188595" algn="l"/>
              </a:tabLst>
            </a:pPr>
            <a:r>
              <a:rPr sz="1600" dirty="0">
                <a:latin typeface="Cambria" panose="02040503050406030204" pitchFamily="18" charset="0"/>
                <a:ea typeface="Cambria" panose="02040503050406030204" pitchFamily="18" charset="0"/>
                <a:cs typeface="Calibri"/>
              </a:rPr>
              <a:t>Select</a:t>
            </a:r>
            <a:r>
              <a:rPr sz="1600" spc="3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action</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on</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the</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basis</a:t>
            </a:r>
            <a:r>
              <a:rPr sz="1600" spc="45" dirty="0">
                <a:latin typeface="Cambria" panose="02040503050406030204" pitchFamily="18" charset="0"/>
                <a:ea typeface="Cambria" panose="02040503050406030204" pitchFamily="18" charset="0"/>
                <a:cs typeface="Calibri"/>
              </a:rPr>
              <a:t> </a:t>
            </a:r>
            <a:r>
              <a:rPr sz="1600" spc="-25" dirty="0">
                <a:latin typeface="Cambria" panose="02040503050406030204" pitchFamily="18" charset="0"/>
                <a:ea typeface="Cambria" panose="02040503050406030204" pitchFamily="18" charset="0"/>
                <a:cs typeface="Calibri"/>
              </a:rPr>
              <a:t>of</a:t>
            </a:r>
            <a:r>
              <a:rPr lang="en-US" sz="1600" spc="-25" dirty="0">
                <a:latin typeface="Cambria" panose="02040503050406030204" pitchFamily="18" charset="0"/>
                <a:ea typeface="Cambria" panose="02040503050406030204" pitchFamily="18" charset="0"/>
                <a:cs typeface="Calibri"/>
              </a:rPr>
              <a:t> </a:t>
            </a:r>
            <a:r>
              <a:rPr sz="1600" i="1" dirty="0">
                <a:latin typeface="Cambria" panose="02040503050406030204" pitchFamily="18" charset="0"/>
                <a:ea typeface="Cambria" panose="02040503050406030204" pitchFamily="18" charset="0"/>
                <a:cs typeface="Calibri"/>
              </a:rPr>
              <a:t>only</a:t>
            </a:r>
            <a:r>
              <a:rPr sz="1600" i="1" spc="45" dirty="0">
                <a:latin typeface="Cambria" panose="02040503050406030204" pitchFamily="18" charset="0"/>
                <a:ea typeface="Cambria" panose="02040503050406030204" pitchFamily="18" charset="0"/>
                <a:cs typeface="Calibri"/>
              </a:rPr>
              <a:t> </a:t>
            </a:r>
            <a:r>
              <a:rPr sz="1600" i="1" dirty="0">
                <a:latin typeface="Cambria" panose="02040503050406030204" pitchFamily="18" charset="0"/>
                <a:ea typeface="Cambria" panose="02040503050406030204" pitchFamily="18" charset="0"/>
                <a:cs typeface="Calibri"/>
              </a:rPr>
              <a:t>the</a:t>
            </a:r>
            <a:r>
              <a:rPr sz="1600" i="1" spc="50" dirty="0">
                <a:latin typeface="Cambria" panose="02040503050406030204" pitchFamily="18" charset="0"/>
                <a:ea typeface="Cambria" panose="02040503050406030204" pitchFamily="18" charset="0"/>
                <a:cs typeface="Calibri"/>
              </a:rPr>
              <a:t> </a:t>
            </a:r>
            <a:r>
              <a:rPr sz="1600" i="1" dirty="0">
                <a:latin typeface="Cambria" panose="02040503050406030204" pitchFamily="18" charset="0"/>
                <a:ea typeface="Cambria" panose="02040503050406030204" pitchFamily="18" charset="0"/>
                <a:cs typeface="Calibri"/>
              </a:rPr>
              <a:t>current</a:t>
            </a:r>
            <a:r>
              <a:rPr sz="1600" i="1" spc="4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percept.</a:t>
            </a:r>
            <a:endParaRPr sz="1600" dirty="0">
              <a:latin typeface="Cambria" panose="02040503050406030204" pitchFamily="18" charset="0"/>
              <a:ea typeface="Cambria" panose="02040503050406030204" pitchFamily="18" charset="0"/>
              <a:cs typeface="Calibri"/>
            </a:endParaRPr>
          </a:p>
          <a:p>
            <a:pPr marL="391160" lvl="1" indent="-115570">
              <a:lnSpc>
                <a:spcPct val="100000"/>
              </a:lnSpc>
              <a:spcBef>
                <a:spcPts val="165"/>
              </a:spcBef>
              <a:buFont typeface="Arial"/>
              <a:buChar char="•"/>
              <a:tabLst>
                <a:tab pos="391160" algn="l"/>
              </a:tabLst>
            </a:pPr>
            <a:r>
              <a:rPr sz="1450" dirty="0">
                <a:latin typeface="Cambria" panose="02040503050406030204" pitchFamily="18" charset="0"/>
                <a:ea typeface="Cambria" panose="02040503050406030204" pitchFamily="18" charset="0"/>
                <a:cs typeface="Calibri"/>
              </a:rPr>
              <a:t>E.g.</a:t>
            </a:r>
            <a:r>
              <a:rPr sz="1450" spc="45" dirty="0">
                <a:latin typeface="Cambria" panose="02040503050406030204" pitchFamily="18" charset="0"/>
                <a:ea typeface="Cambria" panose="02040503050406030204" pitchFamily="18" charset="0"/>
                <a:cs typeface="Calibri"/>
              </a:rPr>
              <a:t> </a:t>
            </a:r>
            <a:r>
              <a:rPr sz="1450" dirty="0">
                <a:latin typeface="Cambria" panose="02040503050406030204" pitchFamily="18" charset="0"/>
                <a:ea typeface="Cambria" panose="02040503050406030204" pitchFamily="18" charset="0"/>
                <a:cs typeface="Calibri"/>
              </a:rPr>
              <a:t>the</a:t>
            </a:r>
            <a:r>
              <a:rPr sz="1450" spc="55" dirty="0">
                <a:latin typeface="Cambria" panose="02040503050406030204" pitchFamily="18" charset="0"/>
                <a:ea typeface="Cambria" panose="02040503050406030204" pitchFamily="18" charset="0"/>
                <a:cs typeface="Calibri"/>
              </a:rPr>
              <a:t> </a:t>
            </a:r>
            <a:r>
              <a:rPr sz="1450" dirty="0">
                <a:latin typeface="Cambria" panose="02040503050406030204" pitchFamily="18" charset="0"/>
                <a:ea typeface="Cambria" panose="02040503050406030204" pitchFamily="18" charset="0"/>
                <a:cs typeface="Calibri"/>
              </a:rPr>
              <a:t>vacuum-</a:t>
            </a:r>
            <a:r>
              <a:rPr sz="1450" spc="-20" dirty="0">
                <a:latin typeface="Cambria" panose="02040503050406030204" pitchFamily="18" charset="0"/>
                <a:ea typeface="Cambria" panose="02040503050406030204" pitchFamily="18" charset="0"/>
                <a:cs typeface="Calibri"/>
              </a:rPr>
              <a:t>agent</a:t>
            </a:r>
            <a:endParaRPr sz="1450" dirty="0">
              <a:latin typeface="Cambria" panose="02040503050406030204" pitchFamily="18" charset="0"/>
              <a:ea typeface="Cambria" panose="02040503050406030204" pitchFamily="18" charset="0"/>
              <a:cs typeface="Calibri"/>
            </a:endParaRPr>
          </a:p>
          <a:p>
            <a:pPr marL="187325" marR="653415" indent="-175260">
              <a:lnSpc>
                <a:spcPct val="92800"/>
              </a:lnSpc>
              <a:spcBef>
                <a:spcPts val="509"/>
              </a:spcBef>
              <a:buFont typeface="Arial"/>
              <a:buChar char="•"/>
              <a:tabLst>
                <a:tab pos="187325" algn="l"/>
              </a:tabLst>
            </a:pPr>
            <a:r>
              <a:rPr sz="1600" dirty="0">
                <a:latin typeface="Cambria" panose="02040503050406030204" pitchFamily="18" charset="0"/>
                <a:ea typeface="Cambria" panose="02040503050406030204" pitchFamily="18" charset="0"/>
                <a:cs typeface="Calibri"/>
              </a:rPr>
              <a:t>Large</a:t>
            </a:r>
            <a:r>
              <a:rPr sz="1600" spc="4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reduction</a:t>
            </a:r>
            <a:r>
              <a:rPr sz="1600" spc="4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in</a:t>
            </a:r>
            <a:r>
              <a:rPr sz="1600" spc="4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possible percept/action </a:t>
            </a:r>
            <a:r>
              <a:rPr sz="1600" dirty="0">
                <a:latin typeface="Cambria" panose="02040503050406030204" pitchFamily="18" charset="0"/>
                <a:ea typeface="Cambria" panose="02040503050406030204" pitchFamily="18" charset="0"/>
                <a:cs typeface="Calibri"/>
              </a:rPr>
              <a:t>situations</a:t>
            </a:r>
            <a:r>
              <a:rPr sz="1600" spc="-10" dirty="0">
                <a:latin typeface="Cambria" panose="02040503050406030204" pitchFamily="18" charset="0"/>
                <a:ea typeface="Cambria" panose="02040503050406030204" pitchFamily="18" charset="0"/>
                <a:cs typeface="Calibri"/>
              </a:rPr>
              <a:t>.</a:t>
            </a:r>
            <a:endParaRPr sz="1600" dirty="0">
              <a:latin typeface="Cambria" panose="02040503050406030204" pitchFamily="18" charset="0"/>
              <a:ea typeface="Cambria" panose="02040503050406030204" pitchFamily="18" charset="0"/>
              <a:cs typeface="Calibri"/>
            </a:endParaRPr>
          </a:p>
          <a:p>
            <a:pPr marL="188595" indent="-175895">
              <a:lnSpc>
                <a:spcPts val="1860"/>
              </a:lnSpc>
              <a:spcBef>
                <a:spcPts val="340"/>
              </a:spcBef>
              <a:buFont typeface="Arial"/>
              <a:buChar char="•"/>
              <a:tabLst>
                <a:tab pos="188595" algn="l"/>
              </a:tabLst>
            </a:pPr>
            <a:r>
              <a:rPr sz="1600" dirty="0">
                <a:latin typeface="Cambria" panose="02040503050406030204" pitchFamily="18" charset="0"/>
                <a:ea typeface="Cambria" panose="02040503050406030204" pitchFamily="18" charset="0"/>
                <a:cs typeface="Calibri"/>
              </a:rPr>
              <a:t>Implemented</a:t>
            </a:r>
            <a:r>
              <a:rPr sz="1600" spc="114"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through</a:t>
            </a:r>
            <a:r>
              <a:rPr lang="en-US" sz="1600" spc="-10" dirty="0">
                <a:latin typeface="Cambria" panose="02040503050406030204" pitchFamily="18" charset="0"/>
                <a:ea typeface="Cambria" panose="02040503050406030204" pitchFamily="18" charset="0"/>
                <a:cs typeface="Calibri"/>
              </a:rPr>
              <a:t> </a:t>
            </a:r>
            <a:r>
              <a:rPr sz="1600" i="1" dirty="0">
                <a:latin typeface="Cambria" panose="02040503050406030204" pitchFamily="18" charset="0"/>
                <a:ea typeface="Cambria" panose="02040503050406030204" pitchFamily="18" charset="0"/>
                <a:cs typeface="Calibri"/>
              </a:rPr>
              <a:t>condition-action</a:t>
            </a:r>
            <a:r>
              <a:rPr sz="1600" i="1" spc="135" dirty="0">
                <a:latin typeface="Cambria" panose="02040503050406030204" pitchFamily="18" charset="0"/>
                <a:ea typeface="Cambria" panose="02040503050406030204" pitchFamily="18" charset="0"/>
                <a:cs typeface="Calibri"/>
              </a:rPr>
              <a:t> </a:t>
            </a:r>
            <a:r>
              <a:rPr sz="1600" i="1" spc="-10" dirty="0">
                <a:latin typeface="Cambria" panose="02040503050406030204" pitchFamily="18" charset="0"/>
                <a:ea typeface="Cambria" panose="02040503050406030204" pitchFamily="18" charset="0"/>
                <a:cs typeface="Calibri"/>
              </a:rPr>
              <a:t>rules</a:t>
            </a:r>
            <a:endParaRPr sz="1600" dirty="0">
              <a:latin typeface="Cambria" panose="02040503050406030204" pitchFamily="18" charset="0"/>
              <a:ea typeface="Cambria" panose="02040503050406030204" pitchFamily="18" charset="0"/>
              <a:cs typeface="Calibri"/>
            </a:endParaRPr>
          </a:p>
          <a:p>
            <a:pPr marL="391160" lvl="1" indent="-115570">
              <a:lnSpc>
                <a:spcPct val="100000"/>
              </a:lnSpc>
              <a:spcBef>
                <a:spcPts val="105"/>
              </a:spcBef>
              <a:buFont typeface="Arial"/>
              <a:buChar char="•"/>
              <a:tabLst>
                <a:tab pos="391160" algn="l"/>
              </a:tabLst>
            </a:pPr>
            <a:r>
              <a:rPr sz="1450" dirty="0">
                <a:latin typeface="Cambria" panose="02040503050406030204" pitchFamily="18" charset="0"/>
                <a:ea typeface="Cambria" panose="02040503050406030204" pitchFamily="18" charset="0"/>
                <a:cs typeface="Calibri"/>
              </a:rPr>
              <a:t>If</a:t>
            </a:r>
            <a:r>
              <a:rPr sz="1450" spc="30" dirty="0">
                <a:latin typeface="Cambria" panose="02040503050406030204" pitchFamily="18" charset="0"/>
                <a:ea typeface="Cambria" panose="02040503050406030204" pitchFamily="18" charset="0"/>
                <a:cs typeface="Calibri"/>
              </a:rPr>
              <a:t> </a:t>
            </a:r>
            <a:r>
              <a:rPr sz="1450" dirty="0">
                <a:latin typeface="Cambria" panose="02040503050406030204" pitchFamily="18" charset="0"/>
                <a:ea typeface="Cambria" panose="02040503050406030204" pitchFamily="18" charset="0"/>
                <a:cs typeface="Calibri"/>
              </a:rPr>
              <a:t>dirty</a:t>
            </a:r>
            <a:r>
              <a:rPr sz="1450" spc="30" dirty="0">
                <a:latin typeface="Cambria" panose="02040503050406030204" pitchFamily="18" charset="0"/>
                <a:ea typeface="Cambria" panose="02040503050406030204" pitchFamily="18" charset="0"/>
                <a:cs typeface="Calibri"/>
              </a:rPr>
              <a:t> </a:t>
            </a:r>
            <a:r>
              <a:rPr sz="1450" dirty="0">
                <a:latin typeface="Cambria" panose="02040503050406030204" pitchFamily="18" charset="0"/>
                <a:ea typeface="Cambria" panose="02040503050406030204" pitchFamily="18" charset="0"/>
                <a:cs typeface="Calibri"/>
              </a:rPr>
              <a:t>then</a:t>
            </a:r>
            <a:r>
              <a:rPr sz="1450" spc="25" dirty="0">
                <a:latin typeface="Cambria" panose="02040503050406030204" pitchFamily="18" charset="0"/>
                <a:ea typeface="Cambria" panose="02040503050406030204" pitchFamily="18" charset="0"/>
                <a:cs typeface="Calibri"/>
              </a:rPr>
              <a:t> </a:t>
            </a:r>
            <a:r>
              <a:rPr sz="1450" spc="-20" dirty="0">
                <a:latin typeface="Cambria" panose="02040503050406030204" pitchFamily="18" charset="0"/>
                <a:ea typeface="Cambria" panose="02040503050406030204" pitchFamily="18" charset="0"/>
                <a:cs typeface="Calibri"/>
              </a:rPr>
              <a:t>suck</a:t>
            </a:r>
            <a:endParaRPr sz="1450" dirty="0">
              <a:latin typeface="Cambria" panose="02040503050406030204" pitchFamily="18" charset="0"/>
              <a:ea typeface="Cambria" panose="02040503050406030204" pitchFamily="18" charset="0"/>
              <a:cs typeface="Calibri"/>
            </a:endParaRPr>
          </a:p>
        </p:txBody>
      </p:sp>
      <p:pic>
        <p:nvPicPr>
          <p:cNvPr id="5" name="Picture 4">
            <a:extLst>
              <a:ext uri="{FF2B5EF4-FFF2-40B4-BE49-F238E27FC236}">
                <a16:creationId xmlns:a16="http://schemas.microsoft.com/office/drawing/2014/main" id="{1D12050E-9E28-F111-0494-66C790D3C6B8}"/>
              </a:ext>
            </a:extLst>
          </p:cNvPr>
          <p:cNvPicPr>
            <a:picLocks noChangeAspect="1"/>
          </p:cNvPicPr>
          <p:nvPr/>
        </p:nvPicPr>
        <p:blipFill>
          <a:blip r:embed="rId3"/>
          <a:stretch>
            <a:fillRect/>
          </a:stretch>
        </p:blipFill>
        <p:spPr>
          <a:xfrm>
            <a:off x="796904" y="2216149"/>
            <a:ext cx="5800745" cy="2771667"/>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273050" y="233889"/>
            <a:ext cx="6629400" cy="2276904"/>
          </a:xfrm>
          <a:prstGeom prst="rect">
            <a:avLst/>
          </a:prstGeom>
        </p:spPr>
        <p:txBody>
          <a:bodyPr vert="horz" wrap="square" lIns="0" tIns="14604" rIns="0" bIns="0" rtlCol="0">
            <a:spAutoFit/>
          </a:bodyPr>
          <a:lstStyle/>
          <a:p>
            <a:pPr marL="21590">
              <a:lnSpc>
                <a:spcPct val="100000"/>
              </a:lnSpc>
              <a:spcBef>
                <a:spcPts val="114"/>
              </a:spcBef>
            </a:pPr>
            <a:r>
              <a:rPr lang="en-US" sz="2200" b="1" dirty="0">
                <a:solidFill>
                  <a:srgbClr val="FF0000"/>
                </a:solidFill>
                <a:latin typeface="Cambria" panose="02040503050406030204" pitchFamily="18" charset="0"/>
                <a:ea typeface="Cambria" panose="02040503050406030204" pitchFamily="18" charset="0"/>
                <a:cs typeface="Calibri Light"/>
              </a:rPr>
              <a:t>Model-Based Reflex Agents</a:t>
            </a:r>
            <a:endParaRPr sz="2200" b="1" dirty="0">
              <a:latin typeface="Cambria" panose="02040503050406030204" pitchFamily="18" charset="0"/>
              <a:ea typeface="Cambria" panose="02040503050406030204" pitchFamily="18" charset="0"/>
              <a:cs typeface="Calibri Light"/>
            </a:endParaRPr>
          </a:p>
          <a:p>
            <a:pPr marL="186055" marR="687070" indent="-173990">
              <a:lnSpc>
                <a:spcPts val="2060"/>
              </a:lnSpc>
              <a:spcBef>
                <a:spcPts val="1964"/>
              </a:spcBef>
              <a:buFont typeface="Arial"/>
              <a:buChar char="•"/>
              <a:tabLst>
                <a:tab pos="187325" algn="l"/>
              </a:tabLst>
            </a:pPr>
            <a:r>
              <a:rPr sz="1900" spc="-60" dirty="0">
                <a:latin typeface="Cambria" panose="02040503050406030204" pitchFamily="18" charset="0"/>
                <a:ea typeface="Cambria" panose="02040503050406030204" pitchFamily="18" charset="0"/>
                <a:cs typeface="Calibri"/>
              </a:rPr>
              <a:t>To</a:t>
            </a:r>
            <a:r>
              <a:rPr sz="1900" spc="-45" dirty="0">
                <a:latin typeface="Cambria" panose="02040503050406030204" pitchFamily="18" charset="0"/>
                <a:ea typeface="Cambria" panose="02040503050406030204" pitchFamily="18" charset="0"/>
                <a:cs typeface="Calibri"/>
              </a:rPr>
              <a:t> </a:t>
            </a:r>
            <a:r>
              <a:rPr sz="1900" dirty="0">
                <a:latin typeface="Cambria" panose="02040503050406030204" pitchFamily="18" charset="0"/>
                <a:ea typeface="Cambria" panose="02040503050406030204" pitchFamily="18" charset="0"/>
                <a:cs typeface="Calibri"/>
              </a:rPr>
              <a:t>tackle</a:t>
            </a:r>
            <a:r>
              <a:rPr sz="1900" spc="-45" dirty="0">
                <a:latin typeface="Cambria" panose="02040503050406030204" pitchFamily="18" charset="0"/>
                <a:ea typeface="Cambria" panose="02040503050406030204" pitchFamily="18" charset="0"/>
                <a:cs typeface="Calibri"/>
              </a:rPr>
              <a:t> </a:t>
            </a:r>
            <a:r>
              <a:rPr sz="1900" i="1" spc="-10" dirty="0">
                <a:latin typeface="Cambria" panose="02040503050406030204" pitchFamily="18" charset="0"/>
                <a:ea typeface="Cambria" panose="02040503050406030204" pitchFamily="18" charset="0"/>
                <a:cs typeface="Calibri"/>
              </a:rPr>
              <a:t>partially </a:t>
            </a:r>
            <a:r>
              <a:rPr sz="1900" i="1" dirty="0">
                <a:latin typeface="Cambria" panose="02040503050406030204" pitchFamily="18" charset="0"/>
                <a:ea typeface="Cambria" panose="02040503050406030204" pitchFamily="18" charset="0"/>
                <a:cs typeface="Calibri"/>
              </a:rPr>
              <a:t>observable</a:t>
            </a:r>
            <a:r>
              <a:rPr sz="1900" i="1" spc="-15" dirty="0">
                <a:latin typeface="Cambria" panose="02040503050406030204" pitchFamily="18" charset="0"/>
                <a:ea typeface="Cambria" panose="02040503050406030204" pitchFamily="18" charset="0"/>
                <a:cs typeface="Calibri"/>
              </a:rPr>
              <a:t> </a:t>
            </a:r>
            <a:r>
              <a:rPr sz="1900" spc="-10" dirty="0">
                <a:latin typeface="Cambria" panose="02040503050406030204" pitchFamily="18" charset="0"/>
                <a:ea typeface="Cambria" panose="02040503050406030204" pitchFamily="18" charset="0"/>
                <a:cs typeface="Calibri"/>
              </a:rPr>
              <a:t>environments.</a:t>
            </a:r>
            <a:endParaRPr sz="1900" dirty="0">
              <a:latin typeface="Cambria" panose="02040503050406030204" pitchFamily="18" charset="0"/>
              <a:ea typeface="Cambria" panose="02040503050406030204" pitchFamily="18" charset="0"/>
              <a:cs typeface="Calibri"/>
            </a:endParaRPr>
          </a:p>
          <a:p>
            <a:pPr marL="392430" lvl="1" indent="-116839">
              <a:lnSpc>
                <a:spcPct val="100000"/>
              </a:lnSpc>
              <a:spcBef>
                <a:spcPts val="125"/>
              </a:spcBef>
              <a:buFont typeface="Arial"/>
              <a:buChar char="•"/>
              <a:tabLst>
                <a:tab pos="392430" algn="l"/>
              </a:tabLst>
            </a:pPr>
            <a:r>
              <a:rPr sz="1600" dirty="0">
                <a:latin typeface="Cambria" panose="02040503050406030204" pitchFamily="18" charset="0"/>
                <a:ea typeface="Cambria" panose="02040503050406030204" pitchFamily="18" charset="0"/>
                <a:cs typeface="Calibri"/>
              </a:rPr>
              <a:t>Maintain</a:t>
            </a:r>
            <a:r>
              <a:rPr sz="1600" spc="8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internal</a:t>
            </a:r>
            <a:r>
              <a:rPr sz="1600" spc="70" dirty="0">
                <a:latin typeface="Cambria" panose="02040503050406030204" pitchFamily="18" charset="0"/>
                <a:ea typeface="Cambria" panose="02040503050406030204" pitchFamily="18" charset="0"/>
                <a:cs typeface="Calibri"/>
              </a:rPr>
              <a:t> </a:t>
            </a:r>
            <a:r>
              <a:rPr sz="1600" spc="-20" dirty="0">
                <a:latin typeface="Cambria" panose="02040503050406030204" pitchFamily="18" charset="0"/>
                <a:ea typeface="Cambria" panose="02040503050406030204" pitchFamily="18" charset="0"/>
                <a:cs typeface="Calibri"/>
              </a:rPr>
              <a:t>state</a:t>
            </a:r>
            <a:endParaRPr sz="1600" dirty="0">
              <a:latin typeface="Cambria" panose="02040503050406030204" pitchFamily="18" charset="0"/>
              <a:ea typeface="Cambria" panose="02040503050406030204" pitchFamily="18" charset="0"/>
              <a:cs typeface="Calibri"/>
            </a:endParaRPr>
          </a:p>
          <a:p>
            <a:pPr marL="186055" marR="964565" indent="-173990">
              <a:lnSpc>
                <a:spcPts val="2060"/>
              </a:lnSpc>
              <a:spcBef>
                <a:spcPts val="560"/>
              </a:spcBef>
              <a:buFont typeface="Arial"/>
              <a:buChar char="•"/>
              <a:tabLst>
                <a:tab pos="187325" algn="l"/>
              </a:tabLst>
            </a:pPr>
            <a:r>
              <a:rPr sz="1900" dirty="0">
                <a:latin typeface="Cambria" panose="02040503050406030204" pitchFamily="18" charset="0"/>
                <a:ea typeface="Cambria" panose="02040503050406030204" pitchFamily="18" charset="0"/>
                <a:cs typeface="Calibri"/>
              </a:rPr>
              <a:t>Over</a:t>
            </a:r>
            <a:r>
              <a:rPr sz="1900" spc="-45" dirty="0">
                <a:latin typeface="Cambria" panose="02040503050406030204" pitchFamily="18" charset="0"/>
                <a:ea typeface="Cambria" panose="02040503050406030204" pitchFamily="18" charset="0"/>
                <a:cs typeface="Calibri"/>
              </a:rPr>
              <a:t> </a:t>
            </a:r>
            <a:r>
              <a:rPr sz="1900" dirty="0">
                <a:latin typeface="Cambria" panose="02040503050406030204" pitchFamily="18" charset="0"/>
                <a:ea typeface="Cambria" panose="02040503050406030204" pitchFamily="18" charset="0"/>
                <a:cs typeface="Calibri"/>
              </a:rPr>
              <a:t>time</a:t>
            </a:r>
            <a:r>
              <a:rPr sz="1900" spc="-50" dirty="0">
                <a:latin typeface="Cambria" panose="02040503050406030204" pitchFamily="18" charset="0"/>
                <a:ea typeface="Cambria" panose="02040503050406030204" pitchFamily="18" charset="0"/>
                <a:cs typeface="Calibri"/>
              </a:rPr>
              <a:t> </a:t>
            </a:r>
            <a:r>
              <a:rPr sz="1900" dirty="0">
                <a:latin typeface="Cambria" panose="02040503050406030204" pitchFamily="18" charset="0"/>
                <a:ea typeface="Cambria" panose="02040503050406030204" pitchFamily="18" charset="0"/>
                <a:cs typeface="Calibri"/>
              </a:rPr>
              <a:t>update</a:t>
            </a:r>
            <a:r>
              <a:rPr sz="1900" spc="-50" dirty="0">
                <a:latin typeface="Cambria" panose="02040503050406030204" pitchFamily="18" charset="0"/>
                <a:ea typeface="Cambria" panose="02040503050406030204" pitchFamily="18" charset="0"/>
                <a:cs typeface="Calibri"/>
              </a:rPr>
              <a:t> </a:t>
            </a:r>
            <a:r>
              <a:rPr sz="1900" spc="-20" dirty="0">
                <a:latin typeface="Cambria" panose="02040503050406030204" pitchFamily="18" charset="0"/>
                <a:ea typeface="Cambria" panose="02040503050406030204" pitchFamily="18" charset="0"/>
                <a:cs typeface="Calibri"/>
              </a:rPr>
              <a:t>state </a:t>
            </a:r>
            <a:r>
              <a:rPr sz="1900" dirty="0">
                <a:latin typeface="Cambria" panose="02040503050406030204" pitchFamily="18" charset="0"/>
                <a:ea typeface="Cambria" panose="02040503050406030204" pitchFamily="18" charset="0"/>
                <a:cs typeface="Calibri"/>
              </a:rPr>
              <a:t>using</a:t>
            </a:r>
            <a:r>
              <a:rPr sz="1900" spc="-35" dirty="0">
                <a:latin typeface="Cambria" panose="02040503050406030204" pitchFamily="18" charset="0"/>
                <a:ea typeface="Cambria" panose="02040503050406030204" pitchFamily="18" charset="0"/>
                <a:cs typeface="Calibri"/>
              </a:rPr>
              <a:t> </a:t>
            </a:r>
            <a:r>
              <a:rPr sz="1900" dirty="0">
                <a:latin typeface="Cambria" panose="02040503050406030204" pitchFamily="18" charset="0"/>
                <a:ea typeface="Cambria" panose="02040503050406030204" pitchFamily="18" charset="0"/>
                <a:cs typeface="Calibri"/>
              </a:rPr>
              <a:t>world</a:t>
            </a:r>
            <a:r>
              <a:rPr sz="1900" spc="-25" dirty="0">
                <a:latin typeface="Cambria" panose="02040503050406030204" pitchFamily="18" charset="0"/>
                <a:ea typeface="Cambria" panose="02040503050406030204" pitchFamily="18" charset="0"/>
                <a:cs typeface="Calibri"/>
              </a:rPr>
              <a:t> </a:t>
            </a:r>
            <a:r>
              <a:rPr sz="1900" spc="-10" dirty="0">
                <a:latin typeface="Cambria" panose="02040503050406030204" pitchFamily="18" charset="0"/>
                <a:ea typeface="Cambria" panose="02040503050406030204" pitchFamily="18" charset="0"/>
                <a:cs typeface="Calibri"/>
              </a:rPr>
              <a:t>knowledge</a:t>
            </a:r>
            <a:endParaRPr sz="1900" dirty="0">
              <a:latin typeface="Cambria" panose="02040503050406030204" pitchFamily="18" charset="0"/>
              <a:ea typeface="Cambria" panose="02040503050406030204" pitchFamily="18" charset="0"/>
              <a:cs typeface="Calibri"/>
            </a:endParaRPr>
          </a:p>
          <a:p>
            <a:pPr marL="392430" lvl="1" indent="-116839">
              <a:lnSpc>
                <a:spcPct val="100000"/>
              </a:lnSpc>
              <a:spcBef>
                <a:spcPts val="125"/>
              </a:spcBef>
              <a:buFont typeface="Arial"/>
              <a:buChar char="•"/>
              <a:tabLst>
                <a:tab pos="392430" algn="l"/>
              </a:tabLst>
            </a:pPr>
            <a:r>
              <a:rPr sz="1600" dirty="0">
                <a:latin typeface="Cambria" panose="02040503050406030204" pitchFamily="18" charset="0"/>
                <a:ea typeface="Cambria" panose="02040503050406030204" pitchFamily="18" charset="0"/>
                <a:cs typeface="Calibri"/>
              </a:rPr>
              <a:t>How</a:t>
            </a:r>
            <a:r>
              <a:rPr sz="1600" spc="3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does</a:t>
            </a:r>
            <a:r>
              <a:rPr sz="1600" spc="3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the</a:t>
            </a:r>
            <a:r>
              <a:rPr sz="1600" spc="4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world</a:t>
            </a:r>
            <a:r>
              <a:rPr sz="1600" spc="3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change.</a:t>
            </a:r>
            <a:endParaRPr sz="1600" dirty="0">
              <a:latin typeface="Cambria" panose="02040503050406030204" pitchFamily="18" charset="0"/>
              <a:ea typeface="Cambria" panose="02040503050406030204" pitchFamily="18" charset="0"/>
              <a:cs typeface="Calibri"/>
            </a:endParaRPr>
          </a:p>
          <a:p>
            <a:pPr marL="392430" lvl="1" indent="-116839">
              <a:lnSpc>
                <a:spcPct val="100000"/>
              </a:lnSpc>
              <a:spcBef>
                <a:spcPts val="75"/>
              </a:spcBef>
              <a:buFont typeface="Arial"/>
              <a:buChar char="•"/>
              <a:tabLst>
                <a:tab pos="392430" algn="l"/>
              </a:tabLst>
            </a:pPr>
            <a:r>
              <a:rPr sz="1600" dirty="0">
                <a:latin typeface="Cambria" panose="02040503050406030204" pitchFamily="18" charset="0"/>
                <a:ea typeface="Cambria" panose="02040503050406030204" pitchFamily="18" charset="0"/>
                <a:cs typeface="Calibri"/>
              </a:rPr>
              <a:t>How</a:t>
            </a:r>
            <a:r>
              <a:rPr sz="1600" spc="3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do</a:t>
            </a:r>
            <a:r>
              <a:rPr sz="1600" spc="3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actions</a:t>
            </a:r>
            <a:r>
              <a:rPr sz="1600" spc="3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affect</a:t>
            </a:r>
            <a:r>
              <a:rPr sz="1600" spc="2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world.</a:t>
            </a:r>
            <a:endParaRPr sz="1600" dirty="0">
              <a:latin typeface="Cambria" panose="02040503050406030204" pitchFamily="18" charset="0"/>
              <a:ea typeface="Cambria" panose="02040503050406030204" pitchFamily="18" charset="0"/>
              <a:cs typeface="Calibri"/>
            </a:endParaRPr>
          </a:p>
          <a:p>
            <a:pPr marL="275590">
              <a:lnSpc>
                <a:spcPct val="100000"/>
              </a:lnSpc>
              <a:spcBef>
                <a:spcPts val="55"/>
              </a:spcBef>
            </a:pPr>
            <a:r>
              <a:rPr lang="en-US" sz="1700" spc="-90" dirty="0">
                <a:latin typeface="Cambria" panose="02040503050406030204" pitchFamily="18" charset="0"/>
                <a:ea typeface="Cambria" panose="02040503050406030204" pitchFamily="18" charset="0"/>
                <a:cs typeface="Symbol"/>
              </a:rPr>
              <a:t>-&gt; </a:t>
            </a:r>
            <a:r>
              <a:rPr sz="1600" i="1" dirty="0">
                <a:latin typeface="Cambria" panose="02040503050406030204" pitchFamily="18" charset="0"/>
                <a:ea typeface="Cambria" panose="02040503050406030204" pitchFamily="18" charset="0"/>
                <a:cs typeface="Calibri"/>
              </a:rPr>
              <a:t>Model</a:t>
            </a:r>
            <a:r>
              <a:rPr sz="1600" i="1" spc="35" dirty="0">
                <a:latin typeface="Cambria" panose="02040503050406030204" pitchFamily="18" charset="0"/>
                <a:ea typeface="Cambria" panose="02040503050406030204" pitchFamily="18" charset="0"/>
                <a:cs typeface="Calibri"/>
              </a:rPr>
              <a:t> </a:t>
            </a:r>
            <a:r>
              <a:rPr sz="1600" i="1" dirty="0">
                <a:latin typeface="Cambria" panose="02040503050406030204" pitchFamily="18" charset="0"/>
                <a:ea typeface="Cambria" panose="02040503050406030204" pitchFamily="18" charset="0"/>
                <a:cs typeface="Calibri"/>
              </a:rPr>
              <a:t>of</a:t>
            </a:r>
            <a:r>
              <a:rPr sz="1600" i="1" spc="40" dirty="0">
                <a:latin typeface="Cambria" panose="02040503050406030204" pitchFamily="18" charset="0"/>
                <a:ea typeface="Cambria" panose="02040503050406030204" pitchFamily="18" charset="0"/>
                <a:cs typeface="Calibri"/>
              </a:rPr>
              <a:t> </a:t>
            </a:r>
            <a:r>
              <a:rPr sz="1600" i="1" spc="-20" dirty="0">
                <a:latin typeface="Cambria" panose="02040503050406030204" pitchFamily="18" charset="0"/>
                <a:ea typeface="Cambria" panose="02040503050406030204" pitchFamily="18" charset="0"/>
                <a:cs typeface="Calibri"/>
              </a:rPr>
              <a:t>World</a:t>
            </a:r>
            <a:endParaRPr sz="1600" dirty="0">
              <a:latin typeface="Cambria" panose="02040503050406030204" pitchFamily="18" charset="0"/>
              <a:ea typeface="Cambria" panose="02040503050406030204" pitchFamily="18" charset="0"/>
              <a:cs typeface="Calibri"/>
            </a:endParaRPr>
          </a:p>
        </p:txBody>
      </p:sp>
      <p:pic>
        <p:nvPicPr>
          <p:cNvPr id="3" name="Picture 2">
            <a:extLst>
              <a:ext uri="{FF2B5EF4-FFF2-40B4-BE49-F238E27FC236}">
                <a16:creationId xmlns:a16="http://schemas.microsoft.com/office/drawing/2014/main" id="{D459470D-C5A2-A1F5-08F2-DF1F33BCD829}"/>
              </a:ext>
            </a:extLst>
          </p:cNvPr>
          <p:cNvPicPr>
            <a:picLocks noChangeAspect="1"/>
          </p:cNvPicPr>
          <p:nvPr/>
        </p:nvPicPr>
        <p:blipFill>
          <a:blip r:embed="rId3"/>
          <a:stretch>
            <a:fillRect/>
          </a:stretch>
        </p:blipFill>
        <p:spPr>
          <a:xfrm>
            <a:off x="1233487" y="2596877"/>
            <a:ext cx="5089525" cy="251593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6850" y="234950"/>
            <a:ext cx="5943600" cy="2198293"/>
          </a:xfrm>
          <a:prstGeom prst="rect">
            <a:avLst/>
          </a:prstGeom>
        </p:spPr>
        <p:txBody>
          <a:bodyPr vert="horz" wrap="square" lIns="0" tIns="14604" rIns="0" bIns="0" rtlCol="0">
            <a:spAutoFit/>
          </a:bodyPr>
          <a:lstStyle/>
          <a:p>
            <a:pPr marL="61594">
              <a:lnSpc>
                <a:spcPct val="100000"/>
              </a:lnSpc>
              <a:spcBef>
                <a:spcPts val="114"/>
              </a:spcBef>
            </a:pPr>
            <a:r>
              <a:rPr lang="en-US" sz="2200" b="1" dirty="0">
                <a:solidFill>
                  <a:srgbClr val="FF0000"/>
                </a:solidFill>
                <a:latin typeface="Cambria" panose="02040503050406030204" pitchFamily="18" charset="0"/>
                <a:ea typeface="Cambria" panose="02040503050406030204" pitchFamily="18" charset="0"/>
                <a:cs typeface="Calibri Light"/>
              </a:rPr>
              <a:t>Goal-Based Agents</a:t>
            </a:r>
            <a:endParaRPr sz="2200" b="1" dirty="0">
              <a:latin typeface="Cambria" panose="02040503050406030204" pitchFamily="18" charset="0"/>
              <a:ea typeface="Cambria" panose="02040503050406030204" pitchFamily="18" charset="0"/>
              <a:cs typeface="Calibri Light"/>
            </a:endParaRPr>
          </a:p>
          <a:p>
            <a:pPr marL="187325" marR="78105" indent="-175260" algn="just">
              <a:lnSpc>
                <a:spcPts val="1610"/>
              </a:lnSpc>
              <a:spcBef>
                <a:spcPts val="2325"/>
              </a:spcBef>
              <a:buFont typeface="Arial"/>
              <a:buChar char="•"/>
              <a:tabLst>
                <a:tab pos="187325" algn="l"/>
              </a:tabLst>
            </a:pPr>
            <a:r>
              <a:rPr sz="1600" dirty="0">
                <a:latin typeface="Cambria" panose="02040503050406030204" pitchFamily="18" charset="0"/>
                <a:ea typeface="Cambria" panose="02040503050406030204" pitchFamily="18" charset="0"/>
                <a:cs typeface="Calibri"/>
              </a:rPr>
              <a:t>The</a:t>
            </a:r>
            <a:r>
              <a:rPr sz="1600" spc="4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agent</a:t>
            </a:r>
            <a:r>
              <a:rPr sz="1600" spc="2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needs</a:t>
            </a:r>
            <a:r>
              <a:rPr sz="1600" spc="3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a:t>
            </a:r>
            <a:r>
              <a:rPr sz="1600" spc="3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goal</a:t>
            </a:r>
            <a:r>
              <a:rPr sz="1600" spc="2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to</a:t>
            </a:r>
            <a:r>
              <a:rPr sz="1600" spc="30" dirty="0">
                <a:latin typeface="Cambria" panose="02040503050406030204" pitchFamily="18" charset="0"/>
                <a:ea typeface="Cambria" panose="02040503050406030204" pitchFamily="18" charset="0"/>
                <a:cs typeface="Calibri"/>
              </a:rPr>
              <a:t> </a:t>
            </a:r>
            <a:r>
              <a:rPr sz="1600" spc="-20" dirty="0">
                <a:latin typeface="Cambria" panose="02040503050406030204" pitchFamily="18" charset="0"/>
                <a:ea typeface="Cambria" panose="02040503050406030204" pitchFamily="18" charset="0"/>
                <a:cs typeface="Calibri"/>
              </a:rPr>
              <a:t>know </a:t>
            </a:r>
            <a:r>
              <a:rPr sz="1600" dirty="0">
                <a:latin typeface="Cambria" panose="02040503050406030204" pitchFamily="18" charset="0"/>
                <a:ea typeface="Cambria" panose="02040503050406030204" pitchFamily="18" charset="0"/>
                <a:cs typeface="Calibri"/>
              </a:rPr>
              <a:t>which</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situations</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are</a:t>
            </a:r>
            <a:r>
              <a:rPr sz="1600" spc="55" dirty="0">
                <a:latin typeface="Cambria" panose="02040503050406030204" pitchFamily="18" charset="0"/>
                <a:ea typeface="Cambria" panose="02040503050406030204" pitchFamily="18" charset="0"/>
                <a:cs typeface="Calibri"/>
              </a:rPr>
              <a:t> </a:t>
            </a:r>
            <a:r>
              <a:rPr sz="1600" i="1" spc="-10" dirty="0">
                <a:latin typeface="Cambria" panose="02040503050406030204" pitchFamily="18" charset="0"/>
                <a:ea typeface="Cambria" panose="02040503050406030204" pitchFamily="18" charset="0"/>
                <a:cs typeface="Calibri"/>
              </a:rPr>
              <a:t>desirable</a:t>
            </a:r>
            <a:r>
              <a:rPr sz="1600" spc="-10" dirty="0">
                <a:latin typeface="Cambria" panose="02040503050406030204" pitchFamily="18" charset="0"/>
                <a:ea typeface="Cambria" panose="02040503050406030204" pitchFamily="18" charset="0"/>
                <a:cs typeface="Calibri"/>
              </a:rPr>
              <a:t>.</a:t>
            </a:r>
            <a:endParaRPr sz="1600" dirty="0">
              <a:latin typeface="Cambria" panose="02040503050406030204" pitchFamily="18" charset="0"/>
              <a:ea typeface="Cambria" panose="02040503050406030204" pitchFamily="18" charset="0"/>
              <a:cs typeface="Calibri"/>
            </a:endParaRPr>
          </a:p>
          <a:p>
            <a:pPr marL="392430" marR="227965" lvl="1" indent="-116839">
              <a:lnSpc>
                <a:spcPts val="1160"/>
              </a:lnSpc>
              <a:spcBef>
                <a:spcPts val="300"/>
              </a:spcBef>
              <a:buFont typeface="Arial"/>
              <a:buChar char="•"/>
              <a:tabLst>
                <a:tab pos="392430" algn="l"/>
              </a:tabLst>
            </a:pPr>
            <a:r>
              <a:rPr sz="1200" dirty="0">
                <a:latin typeface="Cambria" panose="02040503050406030204" pitchFamily="18" charset="0"/>
                <a:ea typeface="Cambria" panose="02040503050406030204" pitchFamily="18" charset="0"/>
                <a:cs typeface="Calibri"/>
              </a:rPr>
              <a:t>Things</a:t>
            </a:r>
            <a:r>
              <a:rPr sz="1200" spc="5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become</a:t>
            </a:r>
            <a:r>
              <a:rPr sz="1200" spc="60"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difficult</a:t>
            </a:r>
            <a:r>
              <a:rPr sz="1200" spc="5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when</a:t>
            </a:r>
            <a:r>
              <a:rPr sz="1200" spc="60" dirty="0">
                <a:latin typeface="Cambria" panose="02040503050406030204" pitchFamily="18" charset="0"/>
                <a:ea typeface="Cambria" panose="02040503050406030204" pitchFamily="18" charset="0"/>
                <a:cs typeface="Calibri"/>
              </a:rPr>
              <a:t> </a:t>
            </a:r>
            <a:r>
              <a:rPr sz="1200" spc="-20" dirty="0">
                <a:latin typeface="Cambria" panose="02040503050406030204" pitchFamily="18" charset="0"/>
                <a:ea typeface="Cambria" panose="02040503050406030204" pitchFamily="18" charset="0"/>
                <a:cs typeface="Calibri"/>
              </a:rPr>
              <a:t>long </a:t>
            </a:r>
            <a:r>
              <a:rPr sz="1200" dirty="0">
                <a:latin typeface="Cambria" panose="02040503050406030204" pitchFamily="18" charset="0"/>
                <a:ea typeface="Cambria" panose="02040503050406030204" pitchFamily="18" charset="0"/>
                <a:cs typeface="Calibri"/>
              </a:rPr>
              <a:t>sequences</a:t>
            </a:r>
            <a:r>
              <a:rPr sz="1200" spc="30"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of</a:t>
            </a:r>
            <a:r>
              <a:rPr sz="1200" spc="50"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actions</a:t>
            </a:r>
            <a:r>
              <a:rPr sz="1200" spc="4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are</a:t>
            </a:r>
            <a:r>
              <a:rPr sz="1200" spc="50"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required</a:t>
            </a:r>
            <a:r>
              <a:rPr sz="1200" spc="50" dirty="0">
                <a:latin typeface="Cambria" panose="02040503050406030204" pitchFamily="18" charset="0"/>
                <a:ea typeface="Cambria" panose="02040503050406030204" pitchFamily="18" charset="0"/>
                <a:cs typeface="Calibri"/>
              </a:rPr>
              <a:t> </a:t>
            </a:r>
            <a:r>
              <a:rPr sz="1200" spc="-25" dirty="0">
                <a:latin typeface="Cambria" panose="02040503050406030204" pitchFamily="18" charset="0"/>
                <a:ea typeface="Cambria" panose="02040503050406030204" pitchFamily="18" charset="0"/>
                <a:cs typeface="Calibri"/>
              </a:rPr>
              <a:t>to </a:t>
            </a:r>
            <a:r>
              <a:rPr sz="1200" dirty="0">
                <a:latin typeface="Cambria" panose="02040503050406030204" pitchFamily="18" charset="0"/>
                <a:ea typeface="Cambria" panose="02040503050406030204" pitchFamily="18" charset="0"/>
                <a:cs typeface="Calibri"/>
              </a:rPr>
              <a:t>find</a:t>
            </a:r>
            <a:r>
              <a:rPr sz="1200" spc="4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the</a:t>
            </a:r>
            <a:r>
              <a:rPr sz="1200" spc="45" dirty="0">
                <a:latin typeface="Cambria" panose="02040503050406030204" pitchFamily="18" charset="0"/>
                <a:ea typeface="Cambria" panose="02040503050406030204" pitchFamily="18" charset="0"/>
                <a:cs typeface="Calibri"/>
              </a:rPr>
              <a:t> </a:t>
            </a:r>
            <a:r>
              <a:rPr sz="1200" spc="-10" dirty="0">
                <a:latin typeface="Cambria" panose="02040503050406030204" pitchFamily="18" charset="0"/>
                <a:ea typeface="Cambria" panose="02040503050406030204" pitchFamily="18" charset="0"/>
                <a:cs typeface="Calibri"/>
              </a:rPr>
              <a:t>goal.</a:t>
            </a:r>
            <a:endParaRPr sz="1200" dirty="0">
              <a:latin typeface="Cambria" panose="02040503050406030204" pitchFamily="18" charset="0"/>
              <a:ea typeface="Cambria" panose="02040503050406030204" pitchFamily="18" charset="0"/>
              <a:cs typeface="Calibri"/>
            </a:endParaRPr>
          </a:p>
          <a:p>
            <a:pPr marL="188595" indent="-175895" algn="just">
              <a:lnSpc>
                <a:spcPts val="1764"/>
              </a:lnSpc>
              <a:spcBef>
                <a:spcPts val="185"/>
              </a:spcBef>
              <a:buFont typeface="Arial"/>
              <a:buChar char="•"/>
              <a:tabLst>
                <a:tab pos="188595" algn="l"/>
              </a:tabLst>
            </a:pPr>
            <a:r>
              <a:rPr sz="1600" dirty="0">
                <a:latin typeface="Cambria" panose="02040503050406030204" pitchFamily="18" charset="0"/>
                <a:ea typeface="Cambria" panose="02040503050406030204" pitchFamily="18" charset="0"/>
                <a:cs typeface="Calibri"/>
              </a:rPr>
              <a:t>Typically</a:t>
            </a:r>
            <a:r>
              <a:rPr sz="1600" spc="2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investigated</a:t>
            </a:r>
            <a:r>
              <a:rPr sz="1600" spc="2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in</a:t>
            </a:r>
            <a:r>
              <a:rPr sz="1600" spc="25" dirty="0">
                <a:latin typeface="Cambria" panose="02040503050406030204" pitchFamily="18" charset="0"/>
                <a:ea typeface="Cambria" panose="02040503050406030204" pitchFamily="18" charset="0"/>
                <a:cs typeface="Calibri"/>
              </a:rPr>
              <a:t> </a:t>
            </a:r>
            <a:r>
              <a:rPr sz="1600" b="1" spc="-10" dirty="0">
                <a:latin typeface="Cambria" panose="02040503050406030204" pitchFamily="18" charset="0"/>
                <a:ea typeface="Cambria" panose="02040503050406030204" pitchFamily="18" charset="0"/>
                <a:cs typeface="Calibri"/>
              </a:rPr>
              <a:t>search</a:t>
            </a:r>
            <a:r>
              <a:rPr lang="en-US" sz="1600" b="1" spc="-1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and</a:t>
            </a:r>
            <a:r>
              <a:rPr sz="1600" spc="65" dirty="0">
                <a:latin typeface="Cambria" panose="02040503050406030204" pitchFamily="18" charset="0"/>
                <a:ea typeface="Cambria" panose="02040503050406030204" pitchFamily="18" charset="0"/>
                <a:cs typeface="Calibri"/>
              </a:rPr>
              <a:t> </a:t>
            </a:r>
            <a:r>
              <a:rPr sz="1600" b="1" dirty="0">
                <a:latin typeface="Cambria" panose="02040503050406030204" pitchFamily="18" charset="0"/>
                <a:ea typeface="Cambria" panose="02040503050406030204" pitchFamily="18" charset="0"/>
                <a:cs typeface="Calibri"/>
              </a:rPr>
              <a:t>planning</a:t>
            </a:r>
            <a:r>
              <a:rPr sz="1600" b="1" spc="6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research.</a:t>
            </a:r>
            <a:endParaRPr sz="1600" dirty="0">
              <a:latin typeface="Cambria" panose="02040503050406030204" pitchFamily="18" charset="0"/>
              <a:ea typeface="Cambria" panose="02040503050406030204" pitchFamily="18" charset="0"/>
              <a:cs typeface="Calibri"/>
            </a:endParaRPr>
          </a:p>
          <a:p>
            <a:pPr marL="187325" marR="17145" indent="-175260" algn="just">
              <a:lnSpc>
                <a:spcPts val="1610"/>
              </a:lnSpc>
              <a:spcBef>
                <a:spcPts val="470"/>
              </a:spcBef>
              <a:buFont typeface="Arial"/>
              <a:buChar char="•"/>
              <a:tabLst>
                <a:tab pos="187325" algn="l"/>
              </a:tabLst>
            </a:pPr>
            <a:r>
              <a:rPr sz="1600" dirty="0">
                <a:latin typeface="Cambria" panose="02040503050406030204" pitchFamily="18" charset="0"/>
                <a:ea typeface="Cambria" panose="02040503050406030204" pitchFamily="18" charset="0"/>
                <a:cs typeface="Calibri"/>
              </a:rPr>
              <a:t>Major</a:t>
            </a:r>
            <a:r>
              <a:rPr sz="1600" spc="4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difference:</a:t>
            </a:r>
            <a:r>
              <a:rPr sz="1600" spc="4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future</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is</a:t>
            </a:r>
            <a:r>
              <a:rPr sz="1600" spc="55" dirty="0">
                <a:latin typeface="Cambria" panose="02040503050406030204" pitchFamily="18" charset="0"/>
                <a:ea typeface="Cambria" panose="02040503050406030204" pitchFamily="18" charset="0"/>
                <a:cs typeface="Calibri"/>
              </a:rPr>
              <a:t> </a:t>
            </a:r>
            <a:r>
              <a:rPr sz="1600" spc="-20" dirty="0">
                <a:latin typeface="Cambria" panose="02040503050406030204" pitchFamily="18" charset="0"/>
                <a:ea typeface="Cambria" panose="02040503050406030204" pitchFamily="18" charset="0"/>
                <a:cs typeface="Calibri"/>
              </a:rPr>
              <a:t>taken </a:t>
            </a:r>
            <a:r>
              <a:rPr sz="1600" dirty="0">
                <a:latin typeface="Cambria" panose="02040503050406030204" pitchFamily="18" charset="0"/>
                <a:ea typeface="Cambria" panose="02040503050406030204" pitchFamily="18" charset="0"/>
                <a:cs typeface="Calibri"/>
              </a:rPr>
              <a:t>into </a:t>
            </a:r>
            <a:r>
              <a:rPr sz="1600" spc="-10" dirty="0">
                <a:latin typeface="Cambria" panose="02040503050406030204" pitchFamily="18" charset="0"/>
                <a:ea typeface="Cambria" panose="02040503050406030204" pitchFamily="18" charset="0"/>
                <a:cs typeface="Calibri"/>
              </a:rPr>
              <a:t>account</a:t>
            </a:r>
            <a:endParaRPr sz="1600" dirty="0">
              <a:latin typeface="Cambria" panose="02040503050406030204" pitchFamily="18" charset="0"/>
              <a:ea typeface="Cambria" panose="02040503050406030204" pitchFamily="18" charset="0"/>
              <a:cs typeface="Calibri"/>
            </a:endParaRPr>
          </a:p>
          <a:p>
            <a:pPr marL="187325" marR="15240" indent="-175260" algn="just">
              <a:lnSpc>
                <a:spcPct val="82700"/>
              </a:lnSpc>
              <a:spcBef>
                <a:spcPts val="470"/>
              </a:spcBef>
              <a:buFont typeface="Arial"/>
              <a:buChar char="•"/>
              <a:tabLst>
                <a:tab pos="187325" algn="l"/>
              </a:tabLst>
            </a:pPr>
            <a:r>
              <a:rPr sz="1600" dirty="0">
                <a:latin typeface="Cambria" panose="02040503050406030204" pitchFamily="18" charset="0"/>
                <a:ea typeface="Cambria" panose="02040503050406030204" pitchFamily="18" charset="0"/>
                <a:cs typeface="Calibri"/>
              </a:rPr>
              <a:t>Is</a:t>
            </a:r>
            <a:r>
              <a:rPr sz="1600" spc="3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more</a:t>
            </a:r>
            <a:r>
              <a:rPr sz="1600" spc="4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flexible</a:t>
            </a:r>
            <a:r>
              <a:rPr sz="1600" spc="4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since</a:t>
            </a:r>
            <a:r>
              <a:rPr sz="1600" spc="4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knowledge </a:t>
            </a:r>
            <a:r>
              <a:rPr sz="1600" dirty="0">
                <a:latin typeface="Cambria" panose="02040503050406030204" pitchFamily="18" charset="0"/>
                <a:ea typeface="Cambria" panose="02040503050406030204" pitchFamily="18" charset="0"/>
                <a:cs typeface="Calibri"/>
              </a:rPr>
              <a:t>is</a:t>
            </a:r>
            <a:r>
              <a:rPr sz="1600" spc="5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represented</a:t>
            </a:r>
            <a:r>
              <a:rPr sz="1600" spc="5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explicitly</a:t>
            </a:r>
            <a:r>
              <a:rPr sz="1600" spc="6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and</a:t>
            </a:r>
            <a:r>
              <a:rPr sz="1600" spc="55" dirty="0">
                <a:latin typeface="Cambria" panose="02040503050406030204" pitchFamily="18" charset="0"/>
                <a:ea typeface="Cambria" panose="02040503050406030204" pitchFamily="18" charset="0"/>
                <a:cs typeface="Calibri"/>
              </a:rPr>
              <a:t> </a:t>
            </a:r>
            <a:r>
              <a:rPr sz="1600" spc="-25" dirty="0">
                <a:latin typeface="Cambria" panose="02040503050406030204" pitchFamily="18" charset="0"/>
                <a:ea typeface="Cambria" panose="02040503050406030204" pitchFamily="18" charset="0"/>
                <a:cs typeface="Calibri"/>
              </a:rPr>
              <a:t>can </a:t>
            </a:r>
            <a:r>
              <a:rPr sz="1600" dirty="0">
                <a:latin typeface="Cambria" panose="02040503050406030204" pitchFamily="18" charset="0"/>
                <a:ea typeface="Cambria" panose="02040503050406030204" pitchFamily="18" charset="0"/>
                <a:cs typeface="Calibri"/>
              </a:rPr>
              <a:t>be</a:t>
            </a:r>
            <a:r>
              <a:rPr sz="1600" spc="30"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manipulated.</a:t>
            </a:r>
            <a:endParaRPr sz="1600" dirty="0">
              <a:latin typeface="Cambria" panose="02040503050406030204" pitchFamily="18" charset="0"/>
              <a:ea typeface="Cambria" panose="02040503050406030204" pitchFamily="18" charset="0"/>
              <a:cs typeface="Calibri"/>
            </a:endParaRPr>
          </a:p>
        </p:txBody>
      </p:sp>
      <p:pic>
        <p:nvPicPr>
          <p:cNvPr id="5" name="Picture 4">
            <a:extLst>
              <a:ext uri="{FF2B5EF4-FFF2-40B4-BE49-F238E27FC236}">
                <a16:creationId xmlns:a16="http://schemas.microsoft.com/office/drawing/2014/main" id="{E65A3755-9E5B-8E42-B714-19D544A91819}"/>
              </a:ext>
            </a:extLst>
          </p:cNvPr>
          <p:cNvPicPr>
            <a:picLocks noChangeAspect="1"/>
          </p:cNvPicPr>
          <p:nvPr/>
        </p:nvPicPr>
        <p:blipFill>
          <a:blip r:embed="rId3"/>
          <a:stretch>
            <a:fillRect/>
          </a:stretch>
        </p:blipFill>
        <p:spPr>
          <a:xfrm>
            <a:off x="1241425" y="2591724"/>
            <a:ext cx="5073650" cy="244382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49250" y="234950"/>
            <a:ext cx="6422390" cy="1988557"/>
          </a:xfrm>
          <a:prstGeom prst="rect">
            <a:avLst/>
          </a:prstGeom>
        </p:spPr>
        <p:txBody>
          <a:bodyPr vert="horz" wrap="square" lIns="0" tIns="14604" rIns="0" bIns="0" rtlCol="0">
            <a:spAutoFit/>
          </a:bodyPr>
          <a:lstStyle/>
          <a:p>
            <a:pPr marL="12700">
              <a:lnSpc>
                <a:spcPct val="100000"/>
              </a:lnSpc>
              <a:spcBef>
                <a:spcPts val="114"/>
              </a:spcBef>
            </a:pPr>
            <a:r>
              <a:rPr lang="en-US" sz="2200" b="1" dirty="0">
                <a:solidFill>
                  <a:srgbClr val="FF0000"/>
                </a:solidFill>
                <a:latin typeface="Cambria" panose="02040503050406030204" pitchFamily="18" charset="0"/>
                <a:ea typeface="Cambria" panose="02040503050406030204" pitchFamily="18" charset="0"/>
                <a:cs typeface="Calibri Light"/>
              </a:rPr>
              <a:t>Utility-Based Agents</a:t>
            </a:r>
            <a:endParaRPr sz="2200" b="1" dirty="0">
              <a:latin typeface="Cambria" panose="02040503050406030204" pitchFamily="18" charset="0"/>
              <a:ea typeface="Cambria" panose="02040503050406030204" pitchFamily="18" charset="0"/>
              <a:cs typeface="Calibri Light"/>
            </a:endParaRPr>
          </a:p>
          <a:p>
            <a:pPr marL="187325" marR="455930" indent="-175260">
              <a:lnSpc>
                <a:spcPts val="1750"/>
              </a:lnSpc>
              <a:spcBef>
                <a:spcPts val="1485"/>
              </a:spcBef>
              <a:buFont typeface="Arial"/>
              <a:buChar char="•"/>
              <a:tabLst>
                <a:tab pos="187325" algn="l"/>
              </a:tabLst>
            </a:pPr>
            <a:r>
              <a:rPr sz="1600" dirty="0">
                <a:latin typeface="Cambria" panose="02040503050406030204" pitchFamily="18" charset="0"/>
                <a:ea typeface="Cambria" panose="02040503050406030204" pitchFamily="18" charset="0"/>
                <a:cs typeface="Calibri"/>
              </a:rPr>
              <a:t>Certain</a:t>
            </a:r>
            <a:r>
              <a:rPr sz="1600" spc="4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goals</a:t>
            </a:r>
            <a:r>
              <a:rPr sz="1600" spc="3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can</a:t>
            </a:r>
            <a:r>
              <a:rPr sz="1600" spc="4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be</a:t>
            </a:r>
            <a:r>
              <a:rPr sz="1600" spc="40"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reached </a:t>
            </a:r>
            <a:r>
              <a:rPr sz="1600" dirty="0">
                <a:latin typeface="Cambria" panose="02040503050406030204" pitchFamily="18" charset="0"/>
                <a:ea typeface="Cambria" panose="02040503050406030204" pitchFamily="18" charset="0"/>
                <a:cs typeface="Calibri"/>
              </a:rPr>
              <a:t>in</a:t>
            </a:r>
            <a:r>
              <a:rPr sz="1600" spc="1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different</a:t>
            </a:r>
            <a:r>
              <a:rPr sz="1600" spc="15" dirty="0">
                <a:latin typeface="Cambria" panose="02040503050406030204" pitchFamily="18" charset="0"/>
                <a:ea typeface="Cambria" panose="02040503050406030204" pitchFamily="18" charset="0"/>
                <a:cs typeface="Calibri"/>
              </a:rPr>
              <a:t> </a:t>
            </a:r>
            <a:r>
              <a:rPr sz="1600" spc="-20" dirty="0">
                <a:latin typeface="Cambria" panose="02040503050406030204" pitchFamily="18" charset="0"/>
                <a:ea typeface="Cambria" panose="02040503050406030204" pitchFamily="18" charset="0"/>
                <a:cs typeface="Calibri"/>
              </a:rPr>
              <a:t>ways.</a:t>
            </a:r>
            <a:endParaRPr sz="1600" dirty="0">
              <a:latin typeface="Cambria" panose="02040503050406030204" pitchFamily="18" charset="0"/>
              <a:ea typeface="Cambria" panose="02040503050406030204" pitchFamily="18" charset="0"/>
              <a:cs typeface="Calibri"/>
            </a:endParaRPr>
          </a:p>
          <a:p>
            <a:pPr marL="392430" marR="732155" lvl="1" indent="-116839">
              <a:lnSpc>
                <a:spcPts val="1360"/>
              </a:lnSpc>
              <a:spcBef>
                <a:spcPts val="235"/>
              </a:spcBef>
              <a:buFont typeface="Arial"/>
              <a:buChar char="•"/>
              <a:tabLst>
                <a:tab pos="392430" algn="l"/>
              </a:tabLst>
            </a:pPr>
            <a:r>
              <a:rPr sz="1200" dirty="0">
                <a:latin typeface="Cambria" panose="02040503050406030204" pitchFamily="18" charset="0"/>
                <a:ea typeface="Cambria" panose="02040503050406030204" pitchFamily="18" charset="0"/>
                <a:cs typeface="Calibri"/>
              </a:rPr>
              <a:t>Some</a:t>
            </a:r>
            <a:r>
              <a:rPr sz="1200" spc="1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are</a:t>
            </a:r>
            <a:r>
              <a:rPr sz="1200" spc="15" dirty="0">
                <a:latin typeface="Cambria" panose="02040503050406030204" pitchFamily="18" charset="0"/>
                <a:ea typeface="Cambria" panose="02040503050406030204" pitchFamily="18" charset="0"/>
                <a:cs typeface="Calibri"/>
              </a:rPr>
              <a:t> </a:t>
            </a:r>
            <a:r>
              <a:rPr sz="1200" spc="-10" dirty="0">
                <a:latin typeface="Cambria" panose="02040503050406030204" pitchFamily="18" charset="0"/>
                <a:ea typeface="Cambria" panose="02040503050406030204" pitchFamily="18" charset="0"/>
                <a:cs typeface="Calibri"/>
              </a:rPr>
              <a:t>better,</a:t>
            </a:r>
            <a:r>
              <a:rPr sz="1200" spc="20"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have</a:t>
            </a:r>
            <a:r>
              <a:rPr sz="1200" spc="1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a</a:t>
            </a:r>
            <a:r>
              <a:rPr sz="1200" spc="15" dirty="0">
                <a:latin typeface="Cambria" panose="02040503050406030204" pitchFamily="18" charset="0"/>
                <a:ea typeface="Cambria" panose="02040503050406030204" pitchFamily="18" charset="0"/>
                <a:cs typeface="Calibri"/>
              </a:rPr>
              <a:t> </a:t>
            </a:r>
            <a:r>
              <a:rPr sz="1200" spc="-10" dirty="0">
                <a:latin typeface="Cambria" panose="02040503050406030204" pitchFamily="18" charset="0"/>
                <a:ea typeface="Cambria" panose="02040503050406030204" pitchFamily="18" charset="0"/>
                <a:cs typeface="Calibri"/>
              </a:rPr>
              <a:t>higher utility.</a:t>
            </a:r>
            <a:endParaRPr sz="1200" dirty="0">
              <a:latin typeface="Cambria" panose="02040503050406030204" pitchFamily="18" charset="0"/>
              <a:ea typeface="Cambria" panose="02040503050406030204" pitchFamily="18" charset="0"/>
              <a:cs typeface="Calibri"/>
            </a:endParaRPr>
          </a:p>
          <a:p>
            <a:pPr marL="187325" marR="466090" indent="-175260">
              <a:lnSpc>
                <a:spcPct val="92400"/>
              </a:lnSpc>
              <a:spcBef>
                <a:spcPts val="475"/>
              </a:spcBef>
              <a:buFont typeface="Arial"/>
              <a:buChar char="•"/>
              <a:tabLst>
                <a:tab pos="187325" algn="l"/>
              </a:tabLst>
            </a:pPr>
            <a:r>
              <a:rPr sz="1600" dirty="0">
                <a:latin typeface="Cambria" panose="02040503050406030204" pitchFamily="18" charset="0"/>
                <a:ea typeface="Cambria" panose="02040503050406030204" pitchFamily="18" charset="0"/>
                <a:cs typeface="Calibri"/>
              </a:rPr>
              <a:t>Utility</a:t>
            </a:r>
            <a:r>
              <a:rPr sz="1600" spc="7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function</a:t>
            </a:r>
            <a:r>
              <a:rPr sz="1600" spc="7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maps</a:t>
            </a:r>
            <a:r>
              <a:rPr sz="1600" spc="65" dirty="0">
                <a:latin typeface="Cambria" panose="02040503050406030204" pitchFamily="18" charset="0"/>
                <a:ea typeface="Cambria" panose="02040503050406030204" pitchFamily="18" charset="0"/>
                <a:cs typeface="Calibri"/>
              </a:rPr>
              <a:t> </a:t>
            </a:r>
            <a:r>
              <a:rPr sz="1600" spc="-50" dirty="0">
                <a:latin typeface="Cambria" panose="02040503050406030204" pitchFamily="18" charset="0"/>
                <a:ea typeface="Cambria" panose="02040503050406030204" pitchFamily="18" charset="0"/>
                <a:cs typeface="Calibri"/>
              </a:rPr>
              <a:t>a </a:t>
            </a:r>
            <a:r>
              <a:rPr sz="1600" dirty="0">
                <a:latin typeface="Cambria" panose="02040503050406030204" pitchFamily="18" charset="0"/>
                <a:ea typeface="Cambria" panose="02040503050406030204" pitchFamily="18" charset="0"/>
                <a:cs typeface="Calibri"/>
              </a:rPr>
              <a:t>(sequence</a:t>
            </a:r>
            <a:r>
              <a:rPr sz="1600" spc="4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of)</a:t>
            </a:r>
            <a:r>
              <a:rPr sz="1600" spc="3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state(s)</a:t>
            </a:r>
            <a:r>
              <a:rPr sz="1600" spc="3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onto</a:t>
            </a:r>
            <a:r>
              <a:rPr sz="1600" spc="35" dirty="0">
                <a:latin typeface="Cambria" panose="02040503050406030204" pitchFamily="18" charset="0"/>
                <a:ea typeface="Cambria" panose="02040503050406030204" pitchFamily="18" charset="0"/>
                <a:cs typeface="Calibri"/>
              </a:rPr>
              <a:t> </a:t>
            </a:r>
            <a:r>
              <a:rPr sz="1600" spc="-50" dirty="0">
                <a:latin typeface="Cambria" panose="02040503050406030204" pitchFamily="18" charset="0"/>
                <a:ea typeface="Cambria" panose="02040503050406030204" pitchFamily="18" charset="0"/>
                <a:cs typeface="Calibri"/>
              </a:rPr>
              <a:t>a </a:t>
            </a:r>
            <a:r>
              <a:rPr sz="1600" dirty="0">
                <a:latin typeface="Cambria" panose="02040503050406030204" pitchFamily="18" charset="0"/>
                <a:ea typeface="Cambria" panose="02040503050406030204" pitchFamily="18" charset="0"/>
                <a:cs typeface="Calibri"/>
              </a:rPr>
              <a:t>real</a:t>
            </a:r>
            <a:r>
              <a:rPr sz="1600" spc="20"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number.</a:t>
            </a:r>
            <a:endParaRPr sz="1600" dirty="0">
              <a:latin typeface="Cambria" panose="02040503050406030204" pitchFamily="18" charset="0"/>
              <a:ea typeface="Cambria" panose="02040503050406030204" pitchFamily="18" charset="0"/>
              <a:cs typeface="Calibri"/>
            </a:endParaRPr>
          </a:p>
          <a:p>
            <a:pPr marL="188595" indent="-175895">
              <a:lnSpc>
                <a:spcPct val="100000"/>
              </a:lnSpc>
              <a:spcBef>
                <a:spcPts val="420"/>
              </a:spcBef>
              <a:buFont typeface="Arial"/>
              <a:buChar char="•"/>
              <a:tabLst>
                <a:tab pos="188595" algn="l"/>
              </a:tabLst>
            </a:pPr>
            <a:r>
              <a:rPr sz="1600" dirty="0">
                <a:latin typeface="Cambria" panose="02040503050406030204" pitchFamily="18" charset="0"/>
                <a:ea typeface="Cambria" panose="02040503050406030204" pitchFamily="18" charset="0"/>
                <a:cs typeface="Calibri"/>
              </a:rPr>
              <a:t>Improves</a:t>
            </a:r>
            <a:r>
              <a:rPr sz="1600" spc="3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on</a:t>
            </a:r>
            <a:r>
              <a:rPr sz="1600" spc="3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goals:</a:t>
            </a:r>
            <a:endParaRPr sz="1600" dirty="0">
              <a:latin typeface="Cambria" panose="02040503050406030204" pitchFamily="18" charset="0"/>
              <a:ea typeface="Cambria" panose="02040503050406030204" pitchFamily="18" charset="0"/>
              <a:cs typeface="Calibri"/>
            </a:endParaRPr>
          </a:p>
          <a:p>
            <a:pPr marL="392430" lvl="1" indent="-116839">
              <a:lnSpc>
                <a:spcPct val="100000"/>
              </a:lnSpc>
              <a:spcBef>
                <a:spcPts val="155"/>
              </a:spcBef>
              <a:buFont typeface="Arial"/>
              <a:buChar char="•"/>
              <a:tabLst>
                <a:tab pos="392430" algn="l"/>
              </a:tabLst>
            </a:pPr>
            <a:r>
              <a:rPr sz="1200" dirty="0">
                <a:latin typeface="Cambria" panose="02040503050406030204" pitchFamily="18" charset="0"/>
                <a:ea typeface="Cambria" panose="02040503050406030204" pitchFamily="18" charset="0"/>
                <a:cs typeface="Calibri"/>
              </a:rPr>
              <a:t>Selecting</a:t>
            </a:r>
            <a:r>
              <a:rPr sz="1200" spc="6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between</a:t>
            </a:r>
            <a:r>
              <a:rPr sz="1200" spc="70"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conflicting</a:t>
            </a:r>
            <a:r>
              <a:rPr sz="1200" spc="70" dirty="0">
                <a:latin typeface="Cambria" panose="02040503050406030204" pitchFamily="18" charset="0"/>
                <a:ea typeface="Cambria" panose="02040503050406030204" pitchFamily="18" charset="0"/>
                <a:cs typeface="Calibri"/>
              </a:rPr>
              <a:t> </a:t>
            </a:r>
            <a:r>
              <a:rPr sz="1200" spc="-20" dirty="0">
                <a:latin typeface="Cambria" panose="02040503050406030204" pitchFamily="18" charset="0"/>
                <a:ea typeface="Cambria" panose="02040503050406030204" pitchFamily="18" charset="0"/>
                <a:cs typeface="Calibri"/>
              </a:rPr>
              <a:t>goals</a:t>
            </a:r>
            <a:endParaRPr sz="1200" dirty="0">
              <a:latin typeface="Cambria" panose="02040503050406030204" pitchFamily="18" charset="0"/>
              <a:ea typeface="Cambria" panose="02040503050406030204" pitchFamily="18" charset="0"/>
              <a:cs typeface="Calibri"/>
            </a:endParaRPr>
          </a:p>
          <a:p>
            <a:pPr marL="392430" marR="433705" lvl="1" indent="-116839">
              <a:lnSpc>
                <a:spcPct val="92000"/>
              </a:lnSpc>
              <a:spcBef>
                <a:spcPts val="285"/>
              </a:spcBef>
              <a:buFont typeface="Arial"/>
              <a:buChar char="•"/>
              <a:tabLst>
                <a:tab pos="392430" algn="l"/>
              </a:tabLst>
            </a:pPr>
            <a:r>
              <a:rPr sz="1200" dirty="0">
                <a:latin typeface="Cambria" panose="02040503050406030204" pitchFamily="18" charset="0"/>
                <a:ea typeface="Cambria" panose="02040503050406030204" pitchFamily="18" charset="0"/>
                <a:cs typeface="Calibri"/>
              </a:rPr>
              <a:t>Select</a:t>
            </a:r>
            <a:r>
              <a:rPr sz="1200" spc="60"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appropriately</a:t>
            </a:r>
            <a:r>
              <a:rPr sz="1200" spc="60" dirty="0">
                <a:latin typeface="Cambria" panose="02040503050406030204" pitchFamily="18" charset="0"/>
                <a:ea typeface="Cambria" panose="02040503050406030204" pitchFamily="18" charset="0"/>
                <a:cs typeface="Calibri"/>
              </a:rPr>
              <a:t> </a:t>
            </a:r>
            <a:r>
              <a:rPr sz="1200" spc="-10" dirty="0">
                <a:latin typeface="Cambria" panose="02040503050406030204" pitchFamily="18" charset="0"/>
                <a:ea typeface="Cambria" panose="02040503050406030204" pitchFamily="18" charset="0"/>
                <a:cs typeface="Calibri"/>
              </a:rPr>
              <a:t>between </a:t>
            </a:r>
            <a:r>
              <a:rPr sz="1200" dirty="0">
                <a:latin typeface="Cambria" panose="02040503050406030204" pitchFamily="18" charset="0"/>
                <a:ea typeface="Cambria" panose="02040503050406030204" pitchFamily="18" charset="0"/>
                <a:cs typeface="Calibri"/>
              </a:rPr>
              <a:t>several</a:t>
            </a:r>
            <a:r>
              <a:rPr sz="1200" spc="2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goals</a:t>
            </a:r>
            <a:r>
              <a:rPr sz="1200" spc="2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based</a:t>
            </a:r>
            <a:r>
              <a:rPr sz="1200" spc="35"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on</a:t>
            </a:r>
            <a:r>
              <a:rPr sz="1200" spc="30" dirty="0">
                <a:latin typeface="Cambria" panose="02040503050406030204" pitchFamily="18" charset="0"/>
                <a:ea typeface="Cambria" panose="02040503050406030204" pitchFamily="18" charset="0"/>
                <a:cs typeface="Calibri"/>
              </a:rPr>
              <a:t> </a:t>
            </a:r>
            <a:r>
              <a:rPr sz="1200" dirty="0">
                <a:latin typeface="Cambria" panose="02040503050406030204" pitchFamily="18" charset="0"/>
                <a:ea typeface="Cambria" panose="02040503050406030204" pitchFamily="18" charset="0"/>
                <a:cs typeface="Calibri"/>
              </a:rPr>
              <a:t>likelihood</a:t>
            </a:r>
            <a:r>
              <a:rPr sz="1200" spc="35" dirty="0">
                <a:latin typeface="Cambria" panose="02040503050406030204" pitchFamily="18" charset="0"/>
                <a:ea typeface="Cambria" panose="02040503050406030204" pitchFamily="18" charset="0"/>
                <a:cs typeface="Calibri"/>
              </a:rPr>
              <a:t> </a:t>
            </a:r>
            <a:r>
              <a:rPr sz="1200" spc="-25" dirty="0">
                <a:latin typeface="Cambria" panose="02040503050406030204" pitchFamily="18" charset="0"/>
                <a:ea typeface="Cambria" panose="02040503050406030204" pitchFamily="18" charset="0"/>
                <a:cs typeface="Calibri"/>
              </a:rPr>
              <a:t>of </a:t>
            </a:r>
            <a:r>
              <a:rPr sz="1200" spc="-10" dirty="0">
                <a:latin typeface="Cambria" panose="02040503050406030204" pitchFamily="18" charset="0"/>
                <a:ea typeface="Cambria" panose="02040503050406030204" pitchFamily="18" charset="0"/>
                <a:cs typeface="Calibri"/>
              </a:rPr>
              <a:t>success.</a:t>
            </a:r>
            <a:endParaRPr sz="1200" dirty="0">
              <a:latin typeface="Cambria" panose="02040503050406030204" pitchFamily="18" charset="0"/>
              <a:ea typeface="Cambria" panose="02040503050406030204" pitchFamily="18" charset="0"/>
              <a:cs typeface="Calibri"/>
            </a:endParaRPr>
          </a:p>
        </p:txBody>
      </p:sp>
      <p:pic>
        <p:nvPicPr>
          <p:cNvPr id="3" name="Picture 2">
            <a:extLst>
              <a:ext uri="{FF2B5EF4-FFF2-40B4-BE49-F238E27FC236}">
                <a16:creationId xmlns:a16="http://schemas.microsoft.com/office/drawing/2014/main" id="{BAA3D1AE-EFBD-29E0-0C3A-2835A0AB4DF9}"/>
              </a:ext>
            </a:extLst>
          </p:cNvPr>
          <p:cNvPicPr>
            <a:picLocks noChangeAspect="1"/>
          </p:cNvPicPr>
          <p:nvPr/>
        </p:nvPicPr>
        <p:blipFill>
          <a:blip r:embed="rId3"/>
          <a:stretch>
            <a:fillRect/>
          </a:stretch>
        </p:blipFill>
        <p:spPr>
          <a:xfrm>
            <a:off x="975995" y="2292350"/>
            <a:ext cx="5681980" cy="284099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6850" y="311150"/>
            <a:ext cx="6172200" cy="1699823"/>
          </a:xfrm>
          <a:prstGeom prst="rect">
            <a:avLst/>
          </a:prstGeom>
        </p:spPr>
        <p:txBody>
          <a:bodyPr vert="horz" wrap="square" lIns="0" tIns="14604" rIns="0" bIns="0" rtlCol="0">
            <a:spAutoFit/>
          </a:bodyPr>
          <a:lstStyle/>
          <a:p>
            <a:pPr marL="290830">
              <a:lnSpc>
                <a:spcPct val="100000"/>
              </a:lnSpc>
              <a:spcBef>
                <a:spcPts val="114"/>
              </a:spcBef>
            </a:pPr>
            <a:r>
              <a:rPr lang="en-US" sz="2200" b="1" dirty="0">
                <a:solidFill>
                  <a:srgbClr val="FF0000"/>
                </a:solidFill>
                <a:latin typeface="Cambria" panose="02040503050406030204" pitchFamily="18" charset="0"/>
                <a:ea typeface="Cambria" panose="02040503050406030204" pitchFamily="18" charset="0"/>
                <a:cs typeface="Calibri Light"/>
              </a:rPr>
              <a:t>Learning Agents</a:t>
            </a:r>
            <a:endParaRPr sz="2200" b="1" dirty="0">
              <a:latin typeface="Cambria" panose="02040503050406030204" pitchFamily="18" charset="0"/>
              <a:ea typeface="Cambria" panose="02040503050406030204" pitchFamily="18" charset="0"/>
              <a:cs typeface="Calibri Light"/>
            </a:endParaRPr>
          </a:p>
          <a:p>
            <a:pPr marL="187325" marR="69215" indent="-175260">
              <a:lnSpc>
                <a:spcPts val="1750"/>
              </a:lnSpc>
              <a:spcBef>
                <a:spcPts val="1550"/>
              </a:spcBef>
              <a:buFont typeface="Arial"/>
              <a:buChar char="•"/>
              <a:tabLst>
                <a:tab pos="187325" algn="l"/>
              </a:tabLst>
            </a:pPr>
            <a:r>
              <a:rPr sz="1600" dirty="0">
                <a:latin typeface="Cambria" panose="02040503050406030204" pitchFamily="18" charset="0"/>
                <a:ea typeface="Cambria" panose="02040503050406030204" pitchFamily="18" charset="0"/>
                <a:cs typeface="Calibri"/>
              </a:rPr>
              <a:t>All</a:t>
            </a:r>
            <a:r>
              <a:rPr sz="1600" spc="7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previous</a:t>
            </a:r>
            <a:r>
              <a:rPr sz="1600" spc="80"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agent-programs </a:t>
            </a:r>
            <a:r>
              <a:rPr sz="1600" dirty="0">
                <a:latin typeface="Cambria" panose="02040503050406030204" pitchFamily="18" charset="0"/>
                <a:ea typeface="Cambria" panose="02040503050406030204" pitchFamily="18" charset="0"/>
                <a:cs typeface="Calibri"/>
              </a:rPr>
              <a:t>describe</a:t>
            </a:r>
            <a:r>
              <a:rPr sz="1600" spc="5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methods</a:t>
            </a:r>
            <a:r>
              <a:rPr sz="1600" spc="4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for</a:t>
            </a:r>
            <a:r>
              <a:rPr sz="1600" spc="45"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selecting </a:t>
            </a:r>
            <a:r>
              <a:rPr sz="1600" i="1" spc="-10" dirty="0">
                <a:latin typeface="Cambria" panose="02040503050406030204" pitchFamily="18" charset="0"/>
                <a:ea typeface="Cambria" panose="02040503050406030204" pitchFamily="18" charset="0"/>
                <a:cs typeface="Calibri"/>
              </a:rPr>
              <a:t>actions</a:t>
            </a:r>
            <a:r>
              <a:rPr lang="en-US" sz="1600" i="1" spc="-10" dirty="0">
                <a:latin typeface="Cambria" panose="02040503050406030204" pitchFamily="18" charset="0"/>
                <a:ea typeface="Cambria" panose="02040503050406030204" pitchFamily="18" charset="0"/>
                <a:cs typeface="Calibri"/>
              </a:rPr>
              <a:t>, y</a:t>
            </a:r>
            <a:r>
              <a:rPr sz="1600" spc="-20" dirty="0">
                <a:latin typeface="Cambria" panose="02040503050406030204" pitchFamily="18" charset="0"/>
                <a:ea typeface="Cambria" panose="02040503050406030204" pitchFamily="18" charset="0"/>
                <a:cs typeface="Calibri"/>
              </a:rPr>
              <a:t>et </a:t>
            </a:r>
            <a:r>
              <a:rPr sz="1600" dirty="0">
                <a:latin typeface="Cambria" panose="02040503050406030204" pitchFamily="18" charset="0"/>
                <a:ea typeface="Cambria" panose="02040503050406030204" pitchFamily="18" charset="0"/>
                <a:cs typeface="Calibri"/>
              </a:rPr>
              <a:t>it</a:t>
            </a:r>
            <a:r>
              <a:rPr sz="1600" spc="-1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does</a:t>
            </a:r>
            <a:r>
              <a:rPr sz="1600" spc="-1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not</a:t>
            </a:r>
            <a:r>
              <a:rPr sz="1600" spc="-1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explain</a:t>
            </a:r>
            <a:r>
              <a:rPr sz="1600" spc="-20"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the</a:t>
            </a:r>
            <a:r>
              <a:rPr sz="1600" spc="-15" dirty="0">
                <a:latin typeface="Cambria" panose="02040503050406030204" pitchFamily="18" charset="0"/>
                <a:ea typeface="Cambria" panose="02040503050406030204" pitchFamily="18" charset="0"/>
                <a:cs typeface="Calibri"/>
              </a:rPr>
              <a:t> </a:t>
            </a:r>
            <a:r>
              <a:rPr sz="1600" dirty="0">
                <a:latin typeface="Cambria" panose="02040503050406030204" pitchFamily="18" charset="0"/>
                <a:ea typeface="Cambria" panose="02040503050406030204" pitchFamily="18" charset="0"/>
                <a:cs typeface="Calibri"/>
              </a:rPr>
              <a:t>origin</a:t>
            </a:r>
            <a:r>
              <a:rPr sz="1600" spc="-20" dirty="0">
                <a:latin typeface="Cambria" panose="02040503050406030204" pitchFamily="18" charset="0"/>
                <a:ea typeface="Cambria" panose="02040503050406030204" pitchFamily="18" charset="0"/>
                <a:cs typeface="Calibri"/>
              </a:rPr>
              <a:t> </a:t>
            </a:r>
            <a:r>
              <a:rPr sz="1600" spc="-25" dirty="0">
                <a:latin typeface="Cambria" panose="02040503050406030204" pitchFamily="18" charset="0"/>
                <a:ea typeface="Cambria" panose="02040503050406030204" pitchFamily="18" charset="0"/>
                <a:cs typeface="Calibri"/>
              </a:rPr>
              <a:t>of </a:t>
            </a:r>
            <a:r>
              <a:rPr sz="1600" dirty="0">
                <a:latin typeface="Cambria" panose="02040503050406030204" pitchFamily="18" charset="0"/>
                <a:ea typeface="Cambria" panose="02040503050406030204" pitchFamily="18" charset="0"/>
                <a:cs typeface="Calibri"/>
              </a:rPr>
              <a:t>these</a:t>
            </a:r>
            <a:r>
              <a:rPr sz="1600" spc="10" dirty="0">
                <a:latin typeface="Cambria" panose="02040503050406030204" pitchFamily="18" charset="0"/>
                <a:ea typeface="Cambria" panose="02040503050406030204" pitchFamily="18" charset="0"/>
                <a:cs typeface="Calibri"/>
              </a:rPr>
              <a:t> </a:t>
            </a:r>
            <a:r>
              <a:rPr sz="1600" spc="-10" dirty="0">
                <a:latin typeface="Cambria" panose="02040503050406030204" pitchFamily="18" charset="0"/>
                <a:ea typeface="Cambria" panose="02040503050406030204" pitchFamily="18" charset="0"/>
                <a:cs typeface="Calibri"/>
              </a:rPr>
              <a:t>programs.</a:t>
            </a:r>
            <a:endParaRPr sz="1600" dirty="0">
              <a:latin typeface="Cambria" panose="02040503050406030204" pitchFamily="18" charset="0"/>
              <a:ea typeface="Cambria" panose="02040503050406030204" pitchFamily="18" charset="0"/>
              <a:cs typeface="Calibri"/>
            </a:endParaRPr>
          </a:p>
          <a:p>
            <a:pPr marL="392430" marR="54610" lvl="1" indent="-116839">
              <a:lnSpc>
                <a:spcPts val="1490"/>
              </a:lnSpc>
              <a:spcBef>
                <a:spcPts val="275"/>
              </a:spcBef>
              <a:buFont typeface="Arial"/>
              <a:buChar char="•"/>
              <a:tabLst>
                <a:tab pos="392430" algn="l"/>
              </a:tabLst>
            </a:pPr>
            <a:r>
              <a:rPr sz="1350" dirty="0">
                <a:latin typeface="Cambria" panose="02040503050406030204" pitchFamily="18" charset="0"/>
                <a:ea typeface="Cambria" panose="02040503050406030204" pitchFamily="18" charset="0"/>
                <a:cs typeface="Calibri"/>
              </a:rPr>
              <a:t>Learning</a:t>
            </a:r>
            <a:r>
              <a:rPr sz="1350" spc="-20"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mechanisms</a:t>
            </a:r>
            <a:r>
              <a:rPr sz="1350" spc="-10"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can</a:t>
            </a:r>
            <a:r>
              <a:rPr sz="1350" spc="-15"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be</a:t>
            </a:r>
            <a:r>
              <a:rPr sz="1350" spc="-10" dirty="0">
                <a:latin typeface="Cambria" panose="02040503050406030204" pitchFamily="18" charset="0"/>
                <a:ea typeface="Cambria" panose="02040503050406030204" pitchFamily="18" charset="0"/>
                <a:cs typeface="Calibri"/>
              </a:rPr>
              <a:t> </a:t>
            </a:r>
            <a:r>
              <a:rPr sz="1350" spc="-20" dirty="0">
                <a:latin typeface="Cambria" panose="02040503050406030204" pitchFamily="18" charset="0"/>
                <a:ea typeface="Cambria" panose="02040503050406030204" pitchFamily="18" charset="0"/>
                <a:cs typeface="Calibri"/>
              </a:rPr>
              <a:t>used </a:t>
            </a:r>
            <a:r>
              <a:rPr sz="1350" dirty="0">
                <a:latin typeface="Cambria" panose="02040503050406030204" pitchFamily="18" charset="0"/>
                <a:ea typeface="Cambria" panose="02040503050406030204" pitchFamily="18" charset="0"/>
                <a:cs typeface="Calibri"/>
              </a:rPr>
              <a:t>to</a:t>
            </a:r>
            <a:r>
              <a:rPr sz="1350" spc="-25"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perform</a:t>
            </a:r>
            <a:r>
              <a:rPr sz="1350" spc="-15"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this</a:t>
            </a:r>
            <a:r>
              <a:rPr sz="1350" spc="-15" dirty="0">
                <a:latin typeface="Cambria" panose="02040503050406030204" pitchFamily="18" charset="0"/>
                <a:ea typeface="Cambria" panose="02040503050406030204" pitchFamily="18" charset="0"/>
                <a:cs typeface="Calibri"/>
              </a:rPr>
              <a:t> </a:t>
            </a:r>
            <a:r>
              <a:rPr sz="1350" spc="-20" dirty="0">
                <a:latin typeface="Cambria" panose="02040503050406030204" pitchFamily="18" charset="0"/>
                <a:ea typeface="Cambria" panose="02040503050406030204" pitchFamily="18" charset="0"/>
                <a:cs typeface="Calibri"/>
              </a:rPr>
              <a:t>task.</a:t>
            </a:r>
            <a:endParaRPr sz="1350" dirty="0">
              <a:latin typeface="Cambria" panose="02040503050406030204" pitchFamily="18" charset="0"/>
              <a:ea typeface="Cambria" panose="02040503050406030204" pitchFamily="18" charset="0"/>
              <a:cs typeface="Calibri"/>
            </a:endParaRPr>
          </a:p>
          <a:p>
            <a:pPr marL="392430" marR="112395" lvl="1" indent="-116839">
              <a:lnSpc>
                <a:spcPts val="1490"/>
              </a:lnSpc>
              <a:spcBef>
                <a:spcPts val="254"/>
              </a:spcBef>
              <a:buFont typeface="Arial"/>
              <a:buChar char="•"/>
              <a:tabLst>
                <a:tab pos="392430" algn="l"/>
              </a:tabLst>
            </a:pPr>
            <a:r>
              <a:rPr sz="1350" spc="-20" dirty="0">
                <a:latin typeface="Cambria" panose="02040503050406030204" pitchFamily="18" charset="0"/>
                <a:ea typeface="Cambria" panose="02040503050406030204" pitchFamily="18" charset="0"/>
                <a:cs typeface="Calibri"/>
              </a:rPr>
              <a:t>Teach</a:t>
            </a:r>
            <a:r>
              <a:rPr sz="1350" spc="-25"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them</a:t>
            </a:r>
            <a:r>
              <a:rPr sz="1350" spc="-15"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instead</a:t>
            </a:r>
            <a:r>
              <a:rPr sz="1350" spc="-20"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of</a:t>
            </a:r>
            <a:r>
              <a:rPr sz="1350" spc="-20" dirty="0">
                <a:latin typeface="Cambria" panose="02040503050406030204" pitchFamily="18" charset="0"/>
                <a:ea typeface="Cambria" panose="02040503050406030204" pitchFamily="18" charset="0"/>
                <a:cs typeface="Calibri"/>
              </a:rPr>
              <a:t> </a:t>
            </a:r>
            <a:r>
              <a:rPr sz="1350" spc="-10" dirty="0">
                <a:latin typeface="Cambria" panose="02040503050406030204" pitchFamily="18" charset="0"/>
                <a:ea typeface="Cambria" panose="02040503050406030204" pitchFamily="18" charset="0"/>
                <a:cs typeface="Calibri"/>
              </a:rPr>
              <a:t>instructing them.</a:t>
            </a:r>
            <a:endParaRPr sz="1350" dirty="0">
              <a:latin typeface="Cambria" panose="02040503050406030204" pitchFamily="18" charset="0"/>
              <a:ea typeface="Cambria" panose="02040503050406030204" pitchFamily="18" charset="0"/>
              <a:cs typeface="Calibri"/>
            </a:endParaRPr>
          </a:p>
          <a:p>
            <a:pPr marL="392430" marR="24765" lvl="1" indent="-116839" algn="just">
              <a:lnSpc>
                <a:spcPts val="1490"/>
              </a:lnSpc>
              <a:spcBef>
                <a:spcPts val="245"/>
              </a:spcBef>
              <a:buFont typeface="Arial"/>
              <a:buChar char="•"/>
              <a:tabLst>
                <a:tab pos="392430" algn="l"/>
              </a:tabLst>
            </a:pPr>
            <a:r>
              <a:rPr lang="en-US" sz="1350" dirty="0">
                <a:latin typeface="Cambria" panose="02040503050406030204" pitchFamily="18" charset="0"/>
                <a:ea typeface="Cambria" panose="02040503050406030204" pitchFamily="18" charset="0"/>
                <a:cs typeface="Calibri"/>
              </a:rPr>
              <a:t>Robust </a:t>
            </a:r>
            <a:r>
              <a:rPr sz="1350" dirty="0">
                <a:latin typeface="Cambria" panose="02040503050406030204" pitchFamily="18" charset="0"/>
                <a:ea typeface="Cambria" panose="02040503050406030204" pitchFamily="18" charset="0"/>
                <a:cs typeface="Calibri"/>
              </a:rPr>
              <a:t>toward</a:t>
            </a:r>
            <a:r>
              <a:rPr lang="en-US" sz="1350" dirty="0">
                <a:latin typeface="Cambria" panose="02040503050406030204" pitchFamily="18" charset="0"/>
                <a:ea typeface="Cambria" panose="02040503050406030204" pitchFamily="18" charset="0"/>
                <a:cs typeface="Calibri"/>
              </a:rPr>
              <a:t>s</a:t>
            </a:r>
            <a:r>
              <a:rPr sz="1350" spc="-45" dirty="0">
                <a:latin typeface="Cambria" panose="02040503050406030204" pitchFamily="18" charset="0"/>
                <a:ea typeface="Cambria" panose="02040503050406030204" pitchFamily="18" charset="0"/>
                <a:cs typeface="Calibri"/>
              </a:rPr>
              <a:t> </a:t>
            </a:r>
            <a:r>
              <a:rPr sz="1350" dirty="0">
                <a:latin typeface="Cambria" panose="02040503050406030204" pitchFamily="18" charset="0"/>
                <a:ea typeface="Cambria" panose="02040503050406030204" pitchFamily="18" charset="0"/>
                <a:cs typeface="Calibri"/>
              </a:rPr>
              <a:t>initially</a:t>
            </a:r>
            <a:r>
              <a:rPr sz="1350" spc="-50" dirty="0">
                <a:latin typeface="Cambria" panose="02040503050406030204" pitchFamily="18" charset="0"/>
                <a:ea typeface="Cambria" panose="02040503050406030204" pitchFamily="18" charset="0"/>
                <a:cs typeface="Calibri"/>
              </a:rPr>
              <a:t> </a:t>
            </a:r>
            <a:r>
              <a:rPr sz="1350" spc="-10" dirty="0">
                <a:latin typeface="Cambria" panose="02040503050406030204" pitchFamily="18" charset="0"/>
                <a:ea typeface="Cambria" panose="02040503050406030204" pitchFamily="18" charset="0"/>
                <a:cs typeface="Calibri"/>
              </a:rPr>
              <a:t>unknown environments.</a:t>
            </a:r>
            <a:endParaRPr sz="1350" dirty="0">
              <a:latin typeface="Cambria" panose="02040503050406030204" pitchFamily="18" charset="0"/>
              <a:ea typeface="Cambria" panose="02040503050406030204" pitchFamily="18" charset="0"/>
              <a:cs typeface="Calibri"/>
            </a:endParaRPr>
          </a:p>
        </p:txBody>
      </p:sp>
      <p:pic>
        <p:nvPicPr>
          <p:cNvPr id="5" name="Picture 4">
            <a:extLst>
              <a:ext uri="{FF2B5EF4-FFF2-40B4-BE49-F238E27FC236}">
                <a16:creationId xmlns:a16="http://schemas.microsoft.com/office/drawing/2014/main" id="{CC441EC3-54EB-7171-C308-BC9214668418}"/>
              </a:ext>
            </a:extLst>
          </p:cNvPr>
          <p:cNvPicPr>
            <a:picLocks noChangeAspect="1"/>
          </p:cNvPicPr>
          <p:nvPr/>
        </p:nvPicPr>
        <p:blipFill>
          <a:blip r:embed="rId3"/>
          <a:stretch>
            <a:fillRect/>
          </a:stretch>
        </p:blipFill>
        <p:spPr>
          <a:xfrm>
            <a:off x="1035050" y="2178051"/>
            <a:ext cx="5667685" cy="28194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67372-ED92-87C2-E886-33783E8E85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B16A512-F46D-9396-7C02-78AD9B45B8F8}"/>
              </a:ext>
            </a:extLst>
          </p:cNvPr>
          <p:cNvSpPr txBox="1"/>
          <p:nvPr/>
        </p:nvSpPr>
        <p:spPr>
          <a:xfrm>
            <a:off x="196849" y="311150"/>
            <a:ext cx="6172201" cy="2115322"/>
          </a:xfrm>
          <a:prstGeom prst="rect">
            <a:avLst/>
          </a:prstGeom>
        </p:spPr>
        <p:txBody>
          <a:bodyPr vert="horz" wrap="square" lIns="0" tIns="14604" rIns="0" bIns="0" rtlCol="0">
            <a:spAutoFit/>
          </a:bodyPr>
          <a:lstStyle/>
          <a:p>
            <a:pPr marL="290830">
              <a:lnSpc>
                <a:spcPct val="100000"/>
              </a:lnSpc>
              <a:spcBef>
                <a:spcPts val="114"/>
              </a:spcBef>
            </a:pPr>
            <a:r>
              <a:rPr lang="en-US" sz="2200" b="1" dirty="0">
                <a:solidFill>
                  <a:srgbClr val="FF0000"/>
                </a:solidFill>
                <a:latin typeface="Cambria" panose="02040503050406030204" pitchFamily="18" charset="0"/>
                <a:ea typeface="Cambria" panose="02040503050406030204" pitchFamily="18" charset="0"/>
                <a:cs typeface="Calibri Light"/>
              </a:rPr>
              <a:t>Multi-Agent Systems (MAS)</a:t>
            </a:r>
            <a:endParaRPr sz="2200" b="1" dirty="0">
              <a:latin typeface="Cambria" panose="02040503050406030204" pitchFamily="18" charset="0"/>
              <a:ea typeface="Cambria" panose="02040503050406030204" pitchFamily="18" charset="0"/>
              <a:cs typeface="Calibri Light"/>
            </a:endParaRPr>
          </a:p>
          <a:p>
            <a:pPr marL="187325" marR="69215" indent="-175260">
              <a:lnSpc>
                <a:spcPts val="1750"/>
              </a:lnSpc>
              <a:spcBef>
                <a:spcPts val="1550"/>
              </a:spcBef>
              <a:buFont typeface="Arial"/>
              <a:buChar char="•"/>
              <a:tabLst>
                <a:tab pos="187325" algn="l"/>
              </a:tabLst>
            </a:pPr>
            <a:r>
              <a:rPr lang="en-US" sz="1600" dirty="0">
                <a:latin typeface="Cambria" panose="02040503050406030204" pitchFamily="18" charset="0"/>
                <a:ea typeface="Cambria" panose="02040503050406030204" pitchFamily="18" charset="0"/>
              </a:rPr>
              <a:t>Operate in environments shared with other agents, either cooperating or competing to achieve individual or group goals, often requiring communication, negotiation or coordination protocols.</a:t>
            </a:r>
            <a:endParaRPr sz="1600" dirty="0">
              <a:latin typeface="Cambria" panose="02040503050406030204" pitchFamily="18" charset="0"/>
              <a:ea typeface="Cambria" panose="02040503050406030204" pitchFamily="18" charset="0"/>
              <a:cs typeface="Calibri"/>
            </a:endParaRPr>
          </a:p>
          <a:p>
            <a:pPr marL="285750" lvl="2" indent="-285750" fontAlgn="base">
              <a:buFont typeface="Arial" panose="020B0604020202020204" pitchFamily="34" charset="0"/>
              <a:buChar char="•"/>
            </a:pPr>
            <a:r>
              <a:rPr lang="en-US" sz="1400" b="1" dirty="0">
                <a:latin typeface="Cambria" panose="02040503050406030204" pitchFamily="18" charset="0"/>
                <a:ea typeface="Cambria" panose="02040503050406030204" pitchFamily="18" charset="0"/>
              </a:rPr>
              <a:t>Cooperative MAS:</a:t>
            </a:r>
            <a:r>
              <a:rPr lang="en-US" sz="1400" dirty="0">
                <a:latin typeface="Cambria" panose="02040503050406030204" pitchFamily="18" charset="0"/>
                <a:ea typeface="Cambria" panose="02040503050406030204" pitchFamily="18" charset="0"/>
              </a:rPr>
              <a:t> Agents work together toward shared objectives.</a:t>
            </a:r>
          </a:p>
          <a:p>
            <a:pPr marL="285750" lvl="2" indent="-285750" fontAlgn="base">
              <a:buFont typeface="Arial" panose="020B0604020202020204" pitchFamily="34" charset="0"/>
              <a:buChar char="•"/>
            </a:pPr>
            <a:r>
              <a:rPr lang="en-US" sz="1400" b="1" dirty="0">
                <a:latin typeface="Cambria" panose="02040503050406030204" pitchFamily="18" charset="0"/>
                <a:ea typeface="Cambria" panose="02040503050406030204" pitchFamily="18" charset="0"/>
              </a:rPr>
              <a:t>Competitive MAS:</a:t>
            </a:r>
            <a:r>
              <a:rPr lang="en-US" sz="1400" dirty="0">
                <a:latin typeface="Cambria" panose="02040503050406030204" pitchFamily="18" charset="0"/>
                <a:ea typeface="Cambria" panose="02040503050406030204" pitchFamily="18" charset="0"/>
              </a:rPr>
              <a:t> Agents pursue individual goals that may conflict.</a:t>
            </a:r>
          </a:p>
          <a:p>
            <a:pPr marL="285750" lvl="2" indent="-285750" fontAlgn="base">
              <a:buFont typeface="Arial" panose="020B0604020202020204" pitchFamily="34" charset="0"/>
              <a:buChar char="•"/>
            </a:pPr>
            <a:r>
              <a:rPr lang="en-US" sz="1400" b="1" dirty="0">
                <a:latin typeface="Cambria" panose="02040503050406030204" pitchFamily="18" charset="0"/>
                <a:ea typeface="Cambria" panose="02040503050406030204" pitchFamily="18" charset="0"/>
              </a:rPr>
              <a:t>Mixed MAS:</a:t>
            </a:r>
            <a:r>
              <a:rPr lang="en-US" sz="1400" dirty="0">
                <a:latin typeface="Cambria" panose="02040503050406030204" pitchFamily="18" charset="0"/>
                <a:ea typeface="Cambria" panose="02040503050406030204" pitchFamily="18" charset="0"/>
              </a:rPr>
              <a:t> Agents cooperate in some scenarios and compete in others.</a:t>
            </a:r>
          </a:p>
          <a:p>
            <a:pPr marL="392430" marR="24765" lvl="1" indent="-116839" algn="just">
              <a:lnSpc>
                <a:spcPts val="1490"/>
              </a:lnSpc>
              <a:spcBef>
                <a:spcPts val="245"/>
              </a:spcBef>
              <a:buFont typeface="Arial"/>
              <a:buChar char="•"/>
              <a:tabLst>
                <a:tab pos="392430" algn="l"/>
              </a:tabLst>
            </a:pPr>
            <a:endParaRPr sz="1350" dirty="0">
              <a:latin typeface="Cambria" panose="02040503050406030204" pitchFamily="18" charset="0"/>
              <a:ea typeface="Cambria" panose="02040503050406030204" pitchFamily="18" charset="0"/>
              <a:cs typeface="Calibri"/>
            </a:endParaRPr>
          </a:p>
        </p:txBody>
      </p:sp>
      <p:pic>
        <p:nvPicPr>
          <p:cNvPr id="4" name="Picture 3">
            <a:extLst>
              <a:ext uri="{FF2B5EF4-FFF2-40B4-BE49-F238E27FC236}">
                <a16:creationId xmlns:a16="http://schemas.microsoft.com/office/drawing/2014/main" id="{7BE48367-5378-49B2-8702-80DBC84366D9}"/>
              </a:ext>
            </a:extLst>
          </p:cNvPr>
          <p:cNvPicPr>
            <a:picLocks noChangeAspect="1"/>
          </p:cNvPicPr>
          <p:nvPr/>
        </p:nvPicPr>
        <p:blipFill>
          <a:blip r:embed="rId3"/>
          <a:stretch>
            <a:fillRect/>
          </a:stretch>
        </p:blipFill>
        <p:spPr>
          <a:xfrm>
            <a:off x="1125220" y="2305759"/>
            <a:ext cx="5257800" cy="2728521"/>
          </a:xfrm>
          <a:prstGeom prst="rect">
            <a:avLst/>
          </a:prstGeom>
        </p:spPr>
      </p:pic>
    </p:spTree>
    <p:extLst>
      <p:ext uri="{BB962C8B-B14F-4D97-AF65-F5344CB8AC3E}">
        <p14:creationId xmlns:p14="http://schemas.microsoft.com/office/powerpoint/2010/main" val="23639927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C9D94-5C69-DACF-5DFF-9F0DA97A7B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780785-CE0B-737B-B3E3-82F59E8EF85E}"/>
              </a:ext>
            </a:extLst>
          </p:cNvPr>
          <p:cNvSpPr txBox="1"/>
          <p:nvPr/>
        </p:nvSpPr>
        <p:spPr>
          <a:xfrm>
            <a:off x="196849" y="311150"/>
            <a:ext cx="6172201" cy="1686999"/>
          </a:xfrm>
          <a:prstGeom prst="rect">
            <a:avLst/>
          </a:prstGeom>
        </p:spPr>
        <p:txBody>
          <a:bodyPr vert="horz" wrap="square" lIns="0" tIns="14604" rIns="0" bIns="0" rtlCol="0">
            <a:spAutoFit/>
          </a:bodyPr>
          <a:lstStyle/>
          <a:p>
            <a:pPr marL="290830">
              <a:lnSpc>
                <a:spcPct val="100000"/>
              </a:lnSpc>
              <a:spcBef>
                <a:spcPts val="114"/>
              </a:spcBef>
            </a:pPr>
            <a:r>
              <a:rPr lang="en-US" sz="2200" b="1" dirty="0">
                <a:solidFill>
                  <a:srgbClr val="FF0000"/>
                </a:solidFill>
                <a:latin typeface="Cambria" panose="02040503050406030204" pitchFamily="18" charset="0"/>
                <a:ea typeface="Cambria" panose="02040503050406030204" pitchFamily="18" charset="0"/>
                <a:cs typeface="Calibri Light"/>
              </a:rPr>
              <a:t>Hierarchical Agent</a:t>
            </a:r>
            <a:endParaRPr sz="2200" b="1" dirty="0">
              <a:latin typeface="Cambria" panose="02040503050406030204" pitchFamily="18" charset="0"/>
              <a:ea typeface="Cambria" panose="02040503050406030204" pitchFamily="18" charset="0"/>
              <a:cs typeface="Calibri Light"/>
            </a:endParaRPr>
          </a:p>
          <a:p>
            <a:pPr marL="187325" marR="69215" indent="-175260">
              <a:lnSpc>
                <a:spcPts val="1750"/>
              </a:lnSpc>
              <a:spcBef>
                <a:spcPts val="1550"/>
              </a:spcBef>
              <a:buFont typeface="Arial"/>
              <a:buChar char="•"/>
              <a:tabLst>
                <a:tab pos="187325" algn="l"/>
              </a:tabLst>
            </a:pPr>
            <a:r>
              <a:rPr lang="en-US" sz="1600" kern="1200" dirty="0">
                <a:solidFill>
                  <a:schemeClr val="tx1"/>
                </a:solidFill>
                <a:latin typeface="Cambria" panose="02040503050406030204" pitchFamily="18" charset="0"/>
                <a:ea typeface="Cambria" panose="02040503050406030204" pitchFamily="18" charset="0"/>
              </a:rPr>
              <a:t>Organize behavior into multiple layers such as strategic, tactical and operational</a:t>
            </a: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cs typeface="Calibri"/>
            </a:endParaRPr>
          </a:p>
          <a:p>
            <a:pPr marL="187325" marR="69215" indent="-175260">
              <a:lnSpc>
                <a:spcPts val="1750"/>
              </a:lnSpc>
              <a:spcBef>
                <a:spcPts val="1550"/>
              </a:spcBef>
              <a:buFont typeface="Arial"/>
              <a:buChar char="•"/>
              <a:tabLst>
                <a:tab pos="187325" algn="l"/>
              </a:tabLst>
            </a:pPr>
            <a:r>
              <a:rPr lang="en-US" sz="1600" kern="1200" dirty="0">
                <a:solidFill>
                  <a:schemeClr val="tx1"/>
                </a:solidFill>
                <a:latin typeface="Cambria" panose="02040503050406030204" pitchFamily="18" charset="0"/>
                <a:ea typeface="Cambria" panose="02040503050406030204" pitchFamily="18" charset="0"/>
              </a:rPr>
              <a:t>Higher levels make abstract decisions that break down into more specific subgoals for lower levels to execute.</a:t>
            </a:r>
            <a:endParaRPr sz="1600" dirty="0">
              <a:latin typeface="Cambria" panose="02040503050406030204" pitchFamily="18" charset="0"/>
              <a:ea typeface="Cambria" panose="02040503050406030204" pitchFamily="18" charset="0"/>
              <a:cs typeface="Calibri"/>
            </a:endParaRPr>
          </a:p>
        </p:txBody>
      </p:sp>
      <p:pic>
        <p:nvPicPr>
          <p:cNvPr id="5" name="Picture 4">
            <a:extLst>
              <a:ext uri="{FF2B5EF4-FFF2-40B4-BE49-F238E27FC236}">
                <a16:creationId xmlns:a16="http://schemas.microsoft.com/office/drawing/2014/main" id="{AC9B1BB3-5841-BBBC-8A84-E609F648A55B}"/>
              </a:ext>
            </a:extLst>
          </p:cNvPr>
          <p:cNvPicPr>
            <a:picLocks noChangeAspect="1"/>
          </p:cNvPicPr>
          <p:nvPr/>
        </p:nvPicPr>
        <p:blipFill>
          <a:blip r:embed="rId3"/>
          <a:stretch>
            <a:fillRect/>
          </a:stretch>
        </p:blipFill>
        <p:spPr>
          <a:xfrm>
            <a:off x="1035050" y="2091150"/>
            <a:ext cx="5250865" cy="2514803"/>
          </a:xfrm>
          <a:prstGeom prst="rect">
            <a:avLst/>
          </a:prstGeom>
        </p:spPr>
      </p:pic>
    </p:spTree>
    <p:extLst>
      <p:ext uri="{BB962C8B-B14F-4D97-AF65-F5344CB8AC3E}">
        <p14:creationId xmlns:p14="http://schemas.microsoft.com/office/powerpoint/2010/main" val="41946678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25450" y="311150"/>
            <a:ext cx="4038600" cy="354584"/>
          </a:xfrm>
          <a:prstGeom prst="rect">
            <a:avLst/>
          </a:prstGeom>
        </p:spPr>
        <p:txBody>
          <a:bodyPr vert="horz" wrap="square" lIns="0" tIns="15875" rIns="0" bIns="0" rtlCol="0">
            <a:spAutoFit/>
          </a:bodyPr>
          <a:lstStyle/>
          <a:p>
            <a:pPr marL="12700">
              <a:lnSpc>
                <a:spcPct val="100000"/>
              </a:lnSpc>
              <a:spcBef>
                <a:spcPts val="125"/>
              </a:spcBef>
            </a:pPr>
            <a:r>
              <a:rPr lang="en-US" sz="2200" b="1" spc="55" dirty="0">
                <a:solidFill>
                  <a:srgbClr val="FF0000"/>
                </a:solidFill>
                <a:latin typeface="Cambria" panose="02040503050406030204" pitchFamily="18" charset="0"/>
                <a:ea typeface="Cambria" panose="02040503050406030204" pitchFamily="18" charset="0"/>
                <a:cs typeface="Calibri Light"/>
              </a:rPr>
              <a:t>Comparison of Agent Types</a:t>
            </a:r>
            <a:endParaRPr sz="2200" b="1" dirty="0">
              <a:latin typeface="Cambria" panose="02040503050406030204" pitchFamily="18" charset="0"/>
              <a:ea typeface="Cambria" panose="02040503050406030204" pitchFamily="18" charset="0"/>
              <a:cs typeface="Calibri Light"/>
            </a:endParaRPr>
          </a:p>
        </p:txBody>
      </p:sp>
      <p:pic>
        <p:nvPicPr>
          <p:cNvPr id="3" name="Picture 2">
            <a:extLst>
              <a:ext uri="{FF2B5EF4-FFF2-40B4-BE49-F238E27FC236}">
                <a16:creationId xmlns:a16="http://schemas.microsoft.com/office/drawing/2014/main" id="{DE1E8719-B0EF-0445-642B-CEAB5BA5F8FE}"/>
              </a:ext>
            </a:extLst>
          </p:cNvPr>
          <p:cNvPicPr>
            <a:picLocks noChangeAspect="1"/>
          </p:cNvPicPr>
          <p:nvPr/>
        </p:nvPicPr>
        <p:blipFill>
          <a:blip r:embed="rId3"/>
          <a:stretch>
            <a:fillRect/>
          </a:stretch>
        </p:blipFill>
        <p:spPr>
          <a:xfrm>
            <a:off x="958850" y="768350"/>
            <a:ext cx="5943600" cy="4462447"/>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55EF9-1C90-70FB-249F-AEEC0EB645C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91EC01-AD78-9A9A-2C9A-4934AF350915}"/>
              </a:ext>
            </a:extLst>
          </p:cNvPr>
          <p:cNvSpPr txBox="1"/>
          <p:nvPr/>
        </p:nvSpPr>
        <p:spPr>
          <a:xfrm>
            <a:off x="425450" y="311150"/>
            <a:ext cx="3124200" cy="354584"/>
          </a:xfrm>
          <a:prstGeom prst="rect">
            <a:avLst/>
          </a:prstGeom>
        </p:spPr>
        <p:txBody>
          <a:bodyPr vert="horz" wrap="square" lIns="0" tIns="15875" rIns="0" bIns="0" rtlCol="0">
            <a:spAutoFit/>
          </a:bodyPr>
          <a:lstStyle/>
          <a:p>
            <a:pPr marL="12700">
              <a:lnSpc>
                <a:spcPct val="100000"/>
              </a:lnSpc>
              <a:spcBef>
                <a:spcPts val="125"/>
              </a:spcBef>
            </a:pPr>
            <a:r>
              <a:rPr sz="2200" b="1" spc="55" dirty="0">
                <a:solidFill>
                  <a:srgbClr val="FF0000"/>
                </a:solidFill>
                <a:latin typeface="Cambria" panose="02040503050406030204" pitchFamily="18" charset="0"/>
                <a:ea typeface="Cambria" panose="02040503050406030204" pitchFamily="18" charset="0"/>
                <a:cs typeface="Calibri Light"/>
              </a:rPr>
              <a:t>LLM-</a:t>
            </a:r>
            <a:r>
              <a:rPr sz="2200" b="1" spc="30" dirty="0">
                <a:solidFill>
                  <a:srgbClr val="FF0000"/>
                </a:solidFill>
                <a:latin typeface="Cambria" panose="02040503050406030204" pitchFamily="18" charset="0"/>
                <a:ea typeface="Cambria" panose="02040503050406030204" pitchFamily="18" charset="0"/>
                <a:cs typeface="Calibri Light"/>
              </a:rPr>
              <a:t>based</a:t>
            </a:r>
            <a:r>
              <a:rPr lang="en-US" sz="2200" b="1" spc="30" dirty="0">
                <a:solidFill>
                  <a:srgbClr val="FF0000"/>
                </a:solidFill>
                <a:latin typeface="Cambria" panose="02040503050406030204" pitchFamily="18" charset="0"/>
                <a:ea typeface="Cambria" panose="02040503050406030204" pitchFamily="18" charset="0"/>
                <a:cs typeface="Calibri Light"/>
              </a:rPr>
              <a:t> Agents</a:t>
            </a:r>
            <a:endParaRPr sz="2200" b="1" dirty="0">
              <a:latin typeface="Cambria" panose="02040503050406030204" pitchFamily="18" charset="0"/>
              <a:ea typeface="Cambria" panose="02040503050406030204" pitchFamily="18" charset="0"/>
              <a:cs typeface="Calibri Light"/>
            </a:endParaRPr>
          </a:p>
        </p:txBody>
      </p:sp>
      <p:pic>
        <p:nvPicPr>
          <p:cNvPr id="1026" name="Picture 2" descr="A Visual Guide to LLM Agents - by Maarten Grootendorst">
            <a:extLst>
              <a:ext uri="{FF2B5EF4-FFF2-40B4-BE49-F238E27FC236}">
                <a16:creationId xmlns:a16="http://schemas.microsoft.com/office/drawing/2014/main" id="{3EBA57CD-440B-63B3-D992-4007C3880F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3250" y="1530005"/>
            <a:ext cx="4273188" cy="30543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0BFC95A-5FC9-A5C7-55C4-96D3AED8AC3A}"/>
              </a:ext>
            </a:extLst>
          </p:cNvPr>
          <p:cNvSpPr txBox="1"/>
          <p:nvPr/>
        </p:nvSpPr>
        <p:spPr>
          <a:xfrm>
            <a:off x="273050" y="699008"/>
            <a:ext cx="5715000" cy="830997"/>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Use an LLM as their central "brain" or coordinator to autonomously plan, reason, and execute multi-step tasks to achieve specific goals.</a:t>
            </a:r>
            <a:endParaRPr lang="en-001"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522906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7850" y="311150"/>
            <a:ext cx="5175250" cy="3164777"/>
          </a:xfrm>
          <a:prstGeom prst="rect">
            <a:avLst/>
          </a:prstGeom>
        </p:spPr>
        <p:txBody>
          <a:bodyPr vert="horz" wrap="square" lIns="0" tIns="17145" rIns="0" bIns="0" rtlCol="0">
            <a:spAutoFit/>
          </a:bodyPr>
          <a:lstStyle/>
          <a:p>
            <a:pPr marL="245745">
              <a:lnSpc>
                <a:spcPct val="100000"/>
              </a:lnSpc>
              <a:spcBef>
                <a:spcPts val="135"/>
              </a:spcBef>
            </a:pPr>
            <a:r>
              <a:rPr sz="1900" b="1" spc="-10" dirty="0">
                <a:solidFill>
                  <a:srgbClr val="FF0000"/>
                </a:solidFill>
                <a:latin typeface="Cambria"/>
                <a:cs typeface="Cambria"/>
              </a:rPr>
              <a:t>Summary</a:t>
            </a:r>
            <a:endParaRPr sz="1900" dirty="0">
              <a:solidFill>
                <a:srgbClr val="FF0000"/>
              </a:solidFill>
              <a:latin typeface="Cambria"/>
              <a:cs typeface="Cambria"/>
            </a:endParaRPr>
          </a:p>
          <a:p>
            <a:pPr marL="194310" indent="-194945" algn="just">
              <a:lnSpc>
                <a:spcPts val="1560"/>
              </a:lnSpc>
              <a:spcBef>
                <a:spcPts val="2030"/>
              </a:spcBef>
              <a:buFont typeface="Arial"/>
              <a:buChar char="•"/>
              <a:tabLst>
                <a:tab pos="194310" algn="l"/>
              </a:tabLst>
            </a:pPr>
            <a:r>
              <a:rPr sz="1600" dirty="0">
                <a:latin typeface="Cambria"/>
                <a:cs typeface="Cambria"/>
              </a:rPr>
              <a:t>Four</a:t>
            </a:r>
            <a:r>
              <a:rPr sz="1600" spc="434" dirty="0">
                <a:latin typeface="Cambria"/>
                <a:cs typeface="Cambria"/>
              </a:rPr>
              <a:t> </a:t>
            </a:r>
            <a:r>
              <a:rPr sz="1600" dirty="0">
                <a:latin typeface="Cambria"/>
                <a:cs typeface="Cambria"/>
              </a:rPr>
              <a:t>main</a:t>
            </a:r>
            <a:r>
              <a:rPr sz="1600" spc="445" dirty="0">
                <a:latin typeface="Cambria"/>
                <a:cs typeface="Cambria"/>
              </a:rPr>
              <a:t> </a:t>
            </a:r>
            <a:r>
              <a:rPr sz="1600" dirty="0">
                <a:latin typeface="Cambria"/>
                <a:cs typeface="Cambria"/>
              </a:rPr>
              <a:t>paradigms</a:t>
            </a:r>
            <a:r>
              <a:rPr sz="1600" spc="440" dirty="0">
                <a:latin typeface="Cambria"/>
                <a:cs typeface="Cambria"/>
              </a:rPr>
              <a:t> </a:t>
            </a:r>
            <a:r>
              <a:rPr sz="1600" dirty="0">
                <a:latin typeface="Cambria"/>
                <a:cs typeface="Cambria"/>
              </a:rPr>
              <a:t>of</a:t>
            </a:r>
            <a:r>
              <a:rPr sz="1600" spc="440" dirty="0">
                <a:latin typeface="Cambria"/>
                <a:cs typeface="Cambria"/>
              </a:rPr>
              <a:t> </a:t>
            </a:r>
            <a:r>
              <a:rPr sz="1600" dirty="0">
                <a:solidFill>
                  <a:srgbClr val="FF0000"/>
                </a:solidFill>
                <a:latin typeface="Cambria"/>
                <a:cs typeface="Cambria"/>
              </a:rPr>
              <a:t>AI</a:t>
            </a:r>
            <a:r>
              <a:rPr sz="1600" spc="434" dirty="0">
                <a:solidFill>
                  <a:srgbClr val="FF0000"/>
                </a:solidFill>
                <a:latin typeface="Cambria"/>
                <a:cs typeface="Cambria"/>
              </a:rPr>
              <a:t> </a:t>
            </a:r>
            <a:r>
              <a:rPr sz="1600" dirty="0">
                <a:latin typeface="Cambria"/>
                <a:cs typeface="Cambria"/>
              </a:rPr>
              <a:t>(think</a:t>
            </a:r>
            <a:r>
              <a:rPr sz="1600" spc="450" dirty="0">
                <a:latin typeface="Cambria"/>
                <a:cs typeface="Cambria"/>
              </a:rPr>
              <a:t> </a:t>
            </a:r>
            <a:r>
              <a:rPr sz="1600" dirty="0">
                <a:latin typeface="Cambria"/>
                <a:cs typeface="Cambria"/>
              </a:rPr>
              <a:t>vs</a:t>
            </a:r>
            <a:r>
              <a:rPr sz="1600" spc="445" dirty="0">
                <a:latin typeface="Cambria"/>
                <a:cs typeface="Cambria"/>
              </a:rPr>
              <a:t> </a:t>
            </a:r>
            <a:r>
              <a:rPr sz="1600" dirty="0">
                <a:latin typeface="Cambria"/>
                <a:cs typeface="Cambria"/>
              </a:rPr>
              <a:t>act,</a:t>
            </a:r>
            <a:r>
              <a:rPr sz="1600" spc="430" dirty="0">
                <a:latin typeface="Cambria"/>
                <a:cs typeface="Cambria"/>
              </a:rPr>
              <a:t> </a:t>
            </a:r>
            <a:r>
              <a:rPr sz="1600" dirty="0">
                <a:latin typeface="Cambria"/>
                <a:cs typeface="Cambria"/>
              </a:rPr>
              <a:t>rational</a:t>
            </a:r>
            <a:r>
              <a:rPr sz="1600" spc="434" dirty="0">
                <a:latin typeface="Cambria"/>
                <a:cs typeface="Cambria"/>
              </a:rPr>
              <a:t> </a:t>
            </a:r>
            <a:r>
              <a:rPr sz="1600" spc="-25" dirty="0">
                <a:latin typeface="Cambria"/>
                <a:cs typeface="Cambria"/>
              </a:rPr>
              <a:t>vs </a:t>
            </a:r>
            <a:r>
              <a:rPr sz="1600" dirty="0">
                <a:latin typeface="Cambria"/>
                <a:cs typeface="Cambria"/>
              </a:rPr>
              <a:t>human-</a:t>
            </a:r>
            <a:r>
              <a:rPr sz="1600" spc="-20" dirty="0">
                <a:latin typeface="Cambria"/>
                <a:cs typeface="Cambria"/>
              </a:rPr>
              <a:t>like)</a:t>
            </a:r>
            <a:endParaRPr sz="1600" dirty="0">
              <a:latin typeface="Cambria"/>
              <a:cs typeface="Cambria"/>
            </a:endParaRPr>
          </a:p>
          <a:p>
            <a:pPr marL="427990" lvl="1" indent="-233679" algn="just">
              <a:lnSpc>
                <a:spcPct val="76600"/>
              </a:lnSpc>
              <a:spcBef>
                <a:spcPts val="415"/>
              </a:spcBef>
              <a:buFont typeface="Arial"/>
              <a:buChar char="•"/>
              <a:tabLst>
                <a:tab pos="427990" algn="l"/>
                <a:tab pos="429259" algn="l"/>
              </a:tabLst>
            </a:pPr>
            <a:r>
              <a:rPr sz="1600" dirty="0">
                <a:latin typeface="Cambria"/>
                <a:cs typeface="Cambria"/>
              </a:rPr>
              <a:t>	</a:t>
            </a:r>
            <a:r>
              <a:rPr sz="1600" i="1" dirty="0">
                <a:latin typeface="Cambria"/>
                <a:cs typeface="Cambria"/>
              </a:rPr>
              <a:t>How</a:t>
            </a:r>
            <a:r>
              <a:rPr sz="1600" i="1" spc="145" dirty="0">
                <a:latin typeface="Cambria"/>
                <a:cs typeface="Cambria"/>
              </a:rPr>
              <a:t> </a:t>
            </a:r>
            <a:r>
              <a:rPr sz="1600" i="1" dirty="0">
                <a:latin typeface="Cambria"/>
                <a:cs typeface="Cambria"/>
              </a:rPr>
              <a:t>you</a:t>
            </a:r>
            <a:r>
              <a:rPr sz="1600" i="1" spc="140" dirty="0">
                <a:latin typeface="Cambria"/>
                <a:cs typeface="Cambria"/>
              </a:rPr>
              <a:t> </a:t>
            </a:r>
            <a:r>
              <a:rPr sz="1600" i="1" dirty="0">
                <a:latin typeface="Cambria"/>
                <a:cs typeface="Cambria"/>
              </a:rPr>
              <a:t>choose</a:t>
            </a:r>
            <a:r>
              <a:rPr sz="1600" i="1" spc="140" dirty="0">
                <a:latin typeface="Cambria"/>
                <a:cs typeface="Cambria"/>
              </a:rPr>
              <a:t> </a:t>
            </a:r>
            <a:r>
              <a:rPr sz="1600" i="1" dirty="0">
                <a:latin typeface="Cambria"/>
                <a:cs typeface="Cambria"/>
              </a:rPr>
              <a:t>to</a:t>
            </a:r>
            <a:r>
              <a:rPr sz="1600" i="1" spc="135" dirty="0">
                <a:latin typeface="Cambria"/>
                <a:cs typeface="Cambria"/>
              </a:rPr>
              <a:t> </a:t>
            </a:r>
            <a:r>
              <a:rPr sz="1600" i="1" dirty="0">
                <a:latin typeface="Cambria"/>
                <a:cs typeface="Cambria"/>
              </a:rPr>
              <a:t>view</a:t>
            </a:r>
            <a:r>
              <a:rPr sz="1600" i="1" spc="145" dirty="0">
                <a:latin typeface="Cambria"/>
                <a:cs typeface="Cambria"/>
              </a:rPr>
              <a:t> </a:t>
            </a:r>
            <a:r>
              <a:rPr sz="1600" i="1" dirty="0">
                <a:latin typeface="Cambria"/>
                <a:cs typeface="Cambria"/>
              </a:rPr>
              <a:t>AI</a:t>
            </a:r>
            <a:r>
              <a:rPr sz="1600" i="1" spc="140" dirty="0">
                <a:latin typeface="Cambria"/>
                <a:cs typeface="Cambria"/>
              </a:rPr>
              <a:t> </a:t>
            </a:r>
            <a:r>
              <a:rPr sz="1600" i="1" dirty="0">
                <a:latin typeface="Cambria"/>
                <a:cs typeface="Cambria"/>
              </a:rPr>
              <a:t>will</a:t>
            </a:r>
            <a:r>
              <a:rPr sz="1600" i="1" spc="135" dirty="0">
                <a:latin typeface="Cambria"/>
                <a:cs typeface="Cambria"/>
              </a:rPr>
              <a:t> </a:t>
            </a:r>
            <a:r>
              <a:rPr sz="1600" i="1" dirty="0">
                <a:latin typeface="Cambria"/>
                <a:cs typeface="Cambria"/>
              </a:rPr>
              <a:t>define</a:t>
            </a:r>
            <a:r>
              <a:rPr sz="1600" i="1" spc="140" dirty="0">
                <a:latin typeface="Cambria"/>
                <a:cs typeface="Cambria"/>
              </a:rPr>
              <a:t> </a:t>
            </a:r>
            <a:r>
              <a:rPr sz="1600" i="1" dirty="0">
                <a:latin typeface="Cambria"/>
                <a:cs typeface="Cambria"/>
              </a:rPr>
              <a:t>the</a:t>
            </a:r>
            <a:r>
              <a:rPr sz="1600" i="1" spc="140" dirty="0">
                <a:latin typeface="Cambria"/>
                <a:cs typeface="Cambria"/>
              </a:rPr>
              <a:t> </a:t>
            </a:r>
            <a:r>
              <a:rPr sz="1600" i="1" spc="-10" dirty="0">
                <a:latin typeface="Cambria"/>
                <a:cs typeface="Cambria"/>
              </a:rPr>
              <a:t>appropriate techniques</a:t>
            </a:r>
            <a:endParaRPr sz="1600" dirty="0">
              <a:latin typeface="Cambria"/>
              <a:cs typeface="Cambria"/>
            </a:endParaRPr>
          </a:p>
          <a:p>
            <a:pPr marL="194945" indent="-194945" algn="just">
              <a:lnSpc>
                <a:spcPct val="100000"/>
              </a:lnSpc>
              <a:spcBef>
                <a:spcPts val="30"/>
              </a:spcBef>
              <a:buFont typeface="Arial"/>
              <a:buChar char="•"/>
              <a:tabLst>
                <a:tab pos="194945" algn="l"/>
              </a:tabLst>
            </a:pPr>
            <a:r>
              <a:rPr sz="1600" dirty="0">
                <a:latin typeface="Cambria"/>
                <a:cs typeface="Cambria"/>
              </a:rPr>
              <a:t>Main</a:t>
            </a:r>
            <a:r>
              <a:rPr sz="1600" spc="65" dirty="0">
                <a:latin typeface="Cambria"/>
                <a:cs typeface="Cambria"/>
              </a:rPr>
              <a:t> </a:t>
            </a:r>
            <a:r>
              <a:rPr sz="1600" dirty="0">
                <a:latin typeface="Cambria"/>
                <a:cs typeface="Cambria"/>
              </a:rPr>
              <a:t>characteristics</a:t>
            </a:r>
            <a:r>
              <a:rPr sz="1600" spc="70" dirty="0">
                <a:latin typeface="Cambria"/>
                <a:cs typeface="Cambria"/>
              </a:rPr>
              <a:t> </a:t>
            </a:r>
            <a:r>
              <a:rPr sz="1600" dirty="0">
                <a:latin typeface="Cambria"/>
                <a:cs typeface="Cambria"/>
              </a:rPr>
              <a:t>of</a:t>
            </a:r>
            <a:r>
              <a:rPr sz="1600" spc="60" dirty="0">
                <a:latin typeface="Cambria"/>
                <a:cs typeface="Cambria"/>
              </a:rPr>
              <a:t> </a:t>
            </a:r>
            <a:r>
              <a:rPr sz="1600" dirty="0">
                <a:solidFill>
                  <a:srgbClr val="FF0000"/>
                </a:solidFill>
                <a:latin typeface="Cambria"/>
                <a:cs typeface="Cambria"/>
              </a:rPr>
              <a:t>intelligent</a:t>
            </a:r>
            <a:r>
              <a:rPr sz="1600" spc="60" dirty="0">
                <a:solidFill>
                  <a:srgbClr val="FF0000"/>
                </a:solidFill>
                <a:latin typeface="Cambria"/>
                <a:cs typeface="Cambria"/>
              </a:rPr>
              <a:t> </a:t>
            </a:r>
            <a:r>
              <a:rPr sz="1600" spc="-10" dirty="0">
                <a:solidFill>
                  <a:srgbClr val="FF0000"/>
                </a:solidFill>
                <a:latin typeface="Cambria"/>
                <a:cs typeface="Cambria"/>
              </a:rPr>
              <a:t>systems</a:t>
            </a:r>
            <a:endParaRPr sz="1600" dirty="0">
              <a:latin typeface="Cambria"/>
              <a:cs typeface="Cambria"/>
            </a:endParaRPr>
          </a:p>
          <a:p>
            <a:pPr marL="427990" lvl="1" indent="-233679" algn="just">
              <a:lnSpc>
                <a:spcPct val="77400"/>
              </a:lnSpc>
              <a:spcBef>
                <a:spcPts val="450"/>
              </a:spcBef>
              <a:buFont typeface="Arial"/>
              <a:buChar char="•"/>
              <a:tabLst>
                <a:tab pos="427990" algn="l"/>
                <a:tab pos="429259" algn="l"/>
              </a:tabLst>
            </a:pPr>
            <a:r>
              <a:rPr sz="1600" dirty="0">
                <a:latin typeface="Cambria"/>
                <a:cs typeface="Cambria"/>
              </a:rPr>
              <a:t>	</a:t>
            </a:r>
            <a:r>
              <a:rPr sz="1600" i="1" dirty="0">
                <a:latin typeface="Cambria"/>
                <a:cs typeface="Cambria"/>
              </a:rPr>
              <a:t>To</a:t>
            </a:r>
            <a:r>
              <a:rPr sz="1600" i="1" spc="145" dirty="0">
                <a:latin typeface="Cambria"/>
                <a:cs typeface="Cambria"/>
              </a:rPr>
              <a:t> </a:t>
            </a:r>
            <a:r>
              <a:rPr sz="1600" i="1" dirty="0">
                <a:latin typeface="Cambria"/>
                <a:cs typeface="Cambria"/>
              </a:rPr>
              <a:t>develop</a:t>
            </a:r>
            <a:r>
              <a:rPr sz="1600" i="1" spc="150" dirty="0">
                <a:latin typeface="Cambria"/>
                <a:cs typeface="Cambria"/>
              </a:rPr>
              <a:t> </a:t>
            </a:r>
            <a:r>
              <a:rPr sz="1600" i="1" dirty="0">
                <a:latin typeface="Cambria"/>
                <a:cs typeface="Cambria"/>
              </a:rPr>
              <a:t>a</a:t>
            </a:r>
            <a:r>
              <a:rPr sz="1600" i="1" spc="145" dirty="0">
                <a:latin typeface="Cambria"/>
                <a:cs typeface="Cambria"/>
              </a:rPr>
              <a:t> </a:t>
            </a:r>
            <a:r>
              <a:rPr sz="1600" i="1" dirty="0">
                <a:latin typeface="Cambria"/>
                <a:cs typeface="Cambria"/>
              </a:rPr>
              <a:t>system</a:t>
            </a:r>
            <a:r>
              <a:rPr sz="1600" i="1" spc="155" dirty="0">
                <a:latin typeface="Cambria"/>
                <a:cs typeface="Cambria"/>
              </a:rPr>
              <a:t> </a:t>
            </a:r>
            <a:r>
              <a:rPr sz="1600" i="1" dirty="0">
                <a:latin typeface="Cambria"/>
                <a:cs typeface="Cambria"/>
              </a:rPr>
              <a:t>with</a:t>
            </a:r>
            <a:r>
              <a:rPr sz="1600" i="1" spc="150" dirty="0">
                <a:latin typeface="Cambria"/>
                <a:cs typeface="Cambria"/>
              </a:rPr>
              <a:t> </a:t>
            </a:r>
            <a:r>
              <a:rPr sz="1600" i="1" dirty="0">
                <a:latin typeface="Cambria"/>
                <a:cs typeface="Cambria"/>
              </a:rPr>
              <a:t>certain</a:t>
            </a:r>
            <a:r>
              <a:rPr sz="1600" i="1" spc="155" dirty="0">
                <a:latin typeface="Cambria"/>
                <a:cs typeface="Cambria"/>
              </a:rPr>
              <a:t> </a:t>
            </a:r>
            <a:r>
              <a:rPr sz="1600" i="1" dirty="0">
                <a:latin typeface="Cambria"/>
                <a:cs typeface="Cambria"/>
              </a:rPr>
              <a:t>characteristics,</a:t>
            </a:r>
            <a:r>
              <a:rPr sz="1600" i="1" spc="135" dirty="0">
                <a:latin typeface="Cambria"/>
                <a:cs typeface="Cambria"/>
              </a:rPr>
              <a:t> </a:t>
            </a:r>
            <a:r>
              <a:rPr sz="1600" i="1" spc="-20" dirty="0">
                <a:latin typeface="Cambria"/>
                <a:cs typeface="Cambria"/>
              </a:rPr>
              <a:t>some </a:t>
            </a:r>
            <a:r>
              <a:rPr sz="1600" i="1" dirty="0">
                <a:latin typeface="Cambria"/>
                <a:cs typeface="Cambria"/>
              </a:rPr>
              <a:t>AI</a:t>
            </a:r>
            <a:r>
              <a:rPr sz="1600" i="1" spc="210" dirty="0">
                <a:latin typeface="Cambria"/>
                <a:cs typeface="Cambria"/>
              </a:rPr>
              <a:t> </a:t>
            </a:r>
            <a:r>
              <a:rPr sz="1600" i="1" dirty="0">
                <a:latin typeface="Cambria"/>
                <a:cs typeface="Cambria"/>
              </a:rPr>
              <a:t>techniques</a:t>
            </a:r>
            <a:r>
              <a:rPr sz="1600" i="1" spc="210" dirty="0">
                <a:latin typeface="Cambria"/>
                <a:cs typeface="Cambria"/>
              </a:rPr>
              <a:t> </a:t>
            </a:r>
            <a:r>
              <a:rPr sz="1600" i="1" dirty="0">
                <a:latin typeface="Cambria"/>
                <a:cs typeface="Cambria"/>
              </a:rPr>
              <a:t>will</a:t>
            </a:r>
            <a:r>
              <a:rPr sz="1600" i="1" spc="210" dirty="0">
                <a:latin typeface="Cambria"/>
                <a:cs typeface="Cambria"/>
              </a:rPr>
              <a:t> </a:t>
            </a:r>
            <a:r>
              <a:rPr sz="1600" i="1" dirty="0">
                <a:latin typeface="Cambria"/>
                <a:cs typeface="Cambria"/>
              </a:rPr>
              <a:t>be</a:t>
            </a:r>
            <a:r>
              <a:rPr sz="1600" i="1" spc="215" dirty="0">
                <a:latin typeface="Cambria"/>
                <a:cs typeface="Cambria"/>
              </a:rPr>
              <a:t> </a:t>
            </a:r>
            <a:r>
              <a:rPr sz="1600" i="1" dirty="0">
                <a:latin typeface="Cambria"/>
                <a:cs typeface="Cambria"/>
              </a:rPr>
              <a:t>introduced</a:t>
            </a:r>
            <a:r>
              <a:rPr sz="1600" i="1" spc="215" dirty="0">
                <a:latin typeface="Cambria"/>
                <a:cs typeface="Cambria"/>
              </a:rPr>
              <a:t> </a:t>
            </a:r>
            <a:r>
              <a:rPr sz="1600" i="1" dirty="0">
                <a:latin typeface="Cambria"/>
                <a:cs typeface="Cambria"/>
              </a:rPr>
              <a:t>to</a:t>
            </a:r>
            <a:r>
              <a:rPr sz="1600" i="1" spc="210" dirty="0">
                <a:latin typeface="Cambria"/>
                <a:cs typeface="Cambria"/>
              </a:rPr>
              <a:t> </a:t>
            </a:r>
            <a:r>
              <a:rPr sz="1600" i="1" dirty="0">
                <a:latin typeface="Cambria"/>
                <a:cs typeface="Cambria"/>
              </a:rPr>
              <a:t>you</a:t>
            </a:r>
            <a:r>
              <a:rPr sz="1600" i="1" spc="215" dirty="0">
                <a:latin typeface="Cambria"/>
                <a:cs typeface="Cambria"/>
              </a:rPr>
              <a:t> </a:t>
            </a:r>
            <a:r>
              <a:rPr sz="1600" i="1" dirty="0">
                <a:latin typeface="Cambria"/>
                <a:cs typeface="Cambria"/>
              </a:rPr>
              <a:t>in</a:t>
            </a:r>
            <a:r>
              <a:rPr sz="1600" i="1" spc="215" dirty="0">
                <a:latin typeface="Cambria"/>
                <a:cs typeface="Cambria"/>
              </a:rPr>
              <a:t> </a:t>
            </a:r>
            <a:r>
              <a:rPr sz="1600" i="1" dirty="0">
                <a:latin typeface="Cambria"/>
                <a:cs typeface="Cambria"/>
              </a:rPr>
              <a:t>this</a:t>
            </a:r>
            <a:r>
              <a:rPr sz="1600" i="1" spc="210" dirty="0">
                <a:latin typeface="Cambria"/>
                <a:cs typeface="Cambria"/>
              </a:rPr>
              <a:t> </a:t>
            </a:r>
            <a:r>
              <a:rPr sz="1600" i="1" dirty="0">
                <a:latin typeface="Cambria"/>
                <a:cs typeface="Cambria"/>
              </a:rPr>
              <a:t>unit</a:t>
            </a:r>
            <a:r>
              <a:rPr sz="1600" i="1" spc="204" dirty="0">
                <a:latin typeface="Cambria"/>
                <a:cs typeface="Cambria"/>
              </a:rPr>
              <a:t> </a:t>
            </a:r>
            <a:r>
              <a:rPr sz="1600" i="1" spc="-25" dirty="0">
                <a:latin typeface="Cambria"/>
                <a:cs typeface="Cambria"/>
              </a:rPr>
              <a:t>of </a:t>
            </a:r>
            <a:r>
              <a:rPr sz="1600" i="1" spc="-10" dirty="0">
                <a:latin typeface="Cambria"/>
                <a:cs typeface="Cambria"/>
              </a:rPr>
              <a:t>study</a:t>
            </a:r>
            <a:endParaRPr sz="1600" dirty="0">
              <a:latin typeface="Cambria"/>
              <a:cs typeface="Cambria"/>
            </a:endParaRPr>
          </a:p>
          <a:p>
            <a:pPr marL="194945" indent="-194945" algn="just">
              <a:lnSpc>
                <a:spcPts val="1895"/>
              </a:lnSpc>
              <a:spcBef>
                <a:spcPts val="20"/>
              </a:spcBef>
              <a:buFont typeface="Arial"/>
              <a:buChar char="•"/>
              <a:tabLst>
                <a:tab pos="194945" algn="l"/>
              </a:tabLst>
            </a:pPr>
            <a:r>
              <a:rPr sz="1600" dirty="0">
                <a:solidFill>
                  <a:srgbClr val="FF0000"/>
                </a:solidFill>
                <a:latin typeface="Cambria"/>
                <a:cs typeface="Cambria"/>
              </a:rPr>
              <a:t>Intelligent</a:t>
            </a:r>
            <a:r>
              <a:rPr sz="1600" spc="85" dirty="0">
                <a:solidFill>
                  <a:srgbClr val="FF0000"/>
                </a:solidFill>
                <a:latin typeface="Cambria"/>
                <a:cs typeface="Cambria"/>
              </a:rPr>
              <a:t> </a:t>
            </a:r>
            <a:r>
              <a:rPr sz="1600" dirty="0">
                <a:solidFill>
                  <a:srgbClr val="FF0000"/>
                </a:solidFill>
                <a:latin typeface="Cambria"/>
                <a:cs typeface="Cambria"/>
              </a:rPr>
              <a:t>agents</a:t>
            </a:r>
            <a:r>
              <a:rPr sz="1600" spc="90" dirty="0">
                <a:solidFill>
                  <a:srgbClr val="FF0000"/>
                </a:solidFill>
                <a:latin typeface="Cambria"/>
                <a:cs typeface="Cambria"/>
              </a:rPr>
              <a:t> </a:t>
            </a:r>
            <a:r>
              <a:rPr sz="1600" spc="-20" dirty="0">
                <a:latin typeface="Cambria"/>
                <a:cs typeface="Cambria"/>
              </a:rPr>
              <a:t>(</a:t>
            </a:r>
            <a:r>
              <a:rPr sz="1600" spc="-20" dirty="0">
                <a:solidFill>
                  <a:srgbClr val="FF0000"/>
                </a:solidFill>
                <a:latin typeface="Cambria"/>
                <a:cs typeface="Cambria"/>
              </a:rPr>
              <a:t>IA</a:t>
            </a:r>
            <a:r>
              <a:rPr sz="1600" spc="-20" dirty="0">
                <a:latin typeface="Cambria"/>
                <a:cs typeface="Cambria"/>
              </a:rPr>
              <a:t>):</a:t>
            </a:r>
            <a:endParaRPr sz="1600" dirty="0">
              <a:latin typeface="Cambria"/>
              <a:cs typeface="Cambria"/>
            </a:endParaRPr>
          </a:p>
          <a:p>
            <a:pPr marL="427990" lvl="1" indent="-233679" algn="just">
              <a:lnSpc>
                <a:spcPct val="79100"/>
              </a:lnSpc>
              <a:spcBef>
                <a:spcPts val="375"/>
              </a:spcBef>
              <a:buFont typeface="Arial"/>
              <a:buChar char="•"/>
              <a:tabLst>
                <a:tab pos="427990" algn="l"/>
                <a:tab pos="429259" algn="l"/>
              </a:tabLst>
            </a:pPr>
            <a:r>
              <a:rPr sz="1600" dirty="0">
                <a:latin typeface="Cambria"/>
                <a:cs typeface="Cambria"/>
              </a:rPr>
              <a:t>	</a:t>
            </a:r>
            <a:r>
              <a:rPr lang="en-US" sz="1600" i="1" dirty="0">
                <a:latin typeface="Cambria"/>
                <a:cs typeface="Cambria"/>
              </a:rPr>
              <a:t>Some</a:t>
            </a:r>
            <a:r>
              <a:rPr sz="1600" i="1" spc="60" dirty="0">
                <a:latin typeface="Cambria"/>
                <a:cs typeface="Cambria"/>
              </a:rPr>
              <a:t> </a:t>
            </a:r>
            <a:r>
              <a:rPr sz="1600" i="1" dirty="0">
                <a:latin typeface="Cambria"/>
                <a:cs typeface="Cambria"/>
              </a:rPr>
              <a:t>basic</a:t>
            </a:r>
            <a:r>
              <a:rPr sz="1600" i="1" spc="65" dirty="0">
                <a:latin typeface="Cambria"/>
                <a:cs typeface="Cambria"/>
              </a:rPr>
              <a:t> </a:t>
            </a:r>
            <a:r>
              <a:rPr sz="1600" i="1" dirty="0">
                <a:latin typeface="Cambria"/>
                <a:cs typeface="Cambria"/>
              </a:rPr>
              <a:t>agent</a:t>
            </a:r>
            <a:r>
              <a:rPr sz="1600" i="1" spc="60" dirty="0">
                <a:latin typeface="Cambria"/>
                <a:cs typeface="Cambria"/>
              </a:rPr>
              <a:t> </a:t>
            </a:r>
            <a:r>
              <a:rPr sz="1600" i="1" dirty="0">
                <a:latin typeface="Cambria"/>
                <a:cs typeface="Cambria"/>
              </a:rPr>
              <a:t>types</a:t>
            </a:r>
            <a:r>
              <a:rPr sz="1600" i="1" spc="60" dirty="0">
                <a:latin typeface="Cambria"/>
                <a:cs typeface="Cambria"/>
              </a:rPr>
              <a:t> </a:t>
            </a:r>
            <a:r>
              <a:rPr sz="1600" i="1" dirty="0">
                <a:latin typeface="Cambria"/>
                <a:cs typeface="Cambria"/>
              </a:rPr>
              <a:t>+</a:t>
            </a:r>
            <a:r>
              <a:rPr sz="1600" i="1" spc="60" dirty="0">
                <a:latin typeface="Cambria"/>
                <a:cs typeface="Cambria"/>
              </a:rPr>
              <a:t> </a:t>
            </a:r>
            <a:r>
              <a:rPr lang="en-US" sz="1600" i="1" dirty="0">
                <a:latin typeface="Cambria"/>
                <a:cs typeface="Cambria"/>
              </a:rPr>
              <a:t>some</a:t>
            </a:r>
            <a:r>
              <a:rPr sz="1600" i="1" spc="65" dirty="0">
                <a:latin typeface="Cambria"/>
                <a:cs typeface="Cambria"/>
              </a:rPr>
              <a:t> </a:t>
            </a:r>
            <a:r>
              <a:rPr sz="1600" i="1" dirty="0">
                <a:latin typeface="Cambria"/>
                <a:cs typeface="Cambria"/>
              </a:rPr>
              <a:t>advanced</a:t>
            </a:r>
            <a:r>
              <a:rPr sz="1600" i="1" spc="70" dirty="0">
                <a:latin typeface="Cambria"/>
                <a:cs typeface="Cambria"/>
              </a:rPr>
              <a:t> </a:t>
            </a:r>
            <a:r>
              <a:rPr sz="1600" i="1" dirty="0">
                <a:latin typeface="Cambria"/>
                <a:cs typeface="Cambria"/>
              </a:rPr>
              <a:t>agent</a:t>
            </a:r>
            <a:r>
              <a:rPr sz="1600" i="1" spc="65" dirty="0">
                <a:latin typeface="Cambria"/>
                <a:cs typeface="Cambria"/>
              </a:rPr>
              <a:t> </a:t>
            </a:r>
            <a:r>
              <a:rPr sz="1600" i="1" dirty="0">
                <a:latin typeface="Cambria"/>
                <a:cs typeface="Cambria"/>
              </a:rPr>
              <a:t>types</a:t>
            </a:r>
            <a:r>
              <a:rPr sz="1600" i="1" spc="65" dirty="0">
                <a:latin typeface="Cambria"/>
                <a:cs typeface="Cambria"/>
              </a:rPr>
              <a:t> </a:t>
            </a:r>
            <a:r>
              <a:rPr sz="1600" i="1" spc="-25" dirty="0">
                <a:latin typeface="Cambria"/>
                <a:cs typeface="Cambria"/>
              </a:rPr>
              <a:t>(by </a:t>
            </a:r>
            <a:r>
              <a:rPr sz="1600" i="1" dirty="0">
                <a:latin typeface="Cambria"/>
                <a:cs typeface="Cambria"/>
              </a:rPr>
              <a:t>combining</a:t>
            </a:r>
            <a:r>
              <a:rPr sz="1600" i="1" spc="495" dirty="0">
                <a:latin typeface="Cambria"/>
                <a:cs typeface="Cambria"/>
              </a:rPr>
              <a:t> </a:t>
            </a:r>
            <a:r>
              <a:rPr sz="1600" i="1" dirty="0">
                <a:latin typeface="Cambria"/>
                <a:cs typeface="Cambria"/>
              </a:rPr>
              <a:t>each</a:t>
            </a:r>
            <a:r>
              <a:rPr sz="1600" i="1" spc="75" dirty="0">
                <a:latin typeface="Cambria"/>
                <a:cs typeface="Cambria"/>
              </a:rPr>
              <a:t>  </a:t>
            </a:r>
            <a:r>
              <a:rPr sz="1600" i="1" dirty="0">
                <a:latin typeface="Cambria"/>
                <a:cs typeface="Cambria"/>
              </a:rPr>
              <a:t>basic</a:t>
            </a:r>
            <a:r>
              <a:rPr sz="1600" i="1" spc="75" dirty="0">
                <a:latin typeface="Cambria"/>
                <a:cs typeface="Cambria"/>
              </a:rPr>
              <a:t>  </a:t>
            </a:r>
            <a:r>
              <a:rPr sz="1600" i="1" dirty="0">
                <a:latin typeface="Cambria"/>
                <a:cs typeface="Cambria"/>
              </a:rPr>
              <a:t>agent</a:t>
            </a:r>
            <a:r>
              <a:rPr sz="1600" i="1" spc="495" dirty="0">
                <a:latin typeface="Cambria"/>
                <a:cs typeface="Cambria"/>
              </a:rPr>
              <a:t> </a:t>
            </a:r>
            <a:r>
              <a:rPr sz="1600" i="1" dirty="0">
                <a:latin typeface="Cambria"/>
                <a:cs typeface="Cambria"/>
              </a:rPr>
              <a:t>type</a:t>
            </a:r>
            <a:r>
              <a:rPr sz="1600" i="1" spc="75" dirty="0">
                <a:latin typeface="Cambria"/>
                <a:cs typeface="Cambria"/>
              </a:rPr>
              <a:t>  </a:t>
            </a:r>
            <a:r>
              <a:rPr sz="1600" i="1" dirty="0">
                <a:latin typeface="Cambria"/>
                <a:cs typeface="Cambria"/>
              </a:rPr>
              <a:t>with</a:t>
            </a:r>
            <a:r>
              <a:rPr sz="1600" i="1" spc="75" dirty="0">
                <a:latin typeface="Cambria"/>
                <a:cs typeface="Cambria"/>
              </a:rPr>
              <a:t>  </a:t>
            </a:r>
            <a:r>
              <a:rPr sz="1600" i="1" dirty="0">
                <a:latin typeface="Cambria"/>
                <a:cs typeface="Cambria"/>
              </a:rPr>
              <a:t>the</a:t>
            </a:r>
            <a:r>
              <a:rPr sz="1600" i="1" spc="80" dirty="0">
                <a:latin typeface="Cambria"/>
                <a:cs typeface="Cambria"/>
              </a:rPr>
              <a:t>  </a:t>
            </a:r>
            <a:r>
              <a:rPr sz="1600" i="1" spc="-10" dirty="0">
                <a:latin typeface="Cambria"/>
                <a:cs typeface="Cambria"/>
              </a:rPr>
              <a:t>learning capability)</a:t>
            </a:r>
            <a:endParaRPr sz="1600" dirty="0">
              <a:latin typeface="Cambria"/>
              <a:cs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583b3fa-365b-4fa2-9885-a560b35483b3}" enabled="1" method="Standard" siteId="{df7f7579-3e9c-4a7e-b844-420280f53859}" contentBits="1" removed="0"/>
</clbl:labelList>
</file>

<file path=docProps/app.xml><?xml version="1.0" encoding="utf-8"?>
<Properties xmlns="http://schemas.openxmlformats.org/officeDocument/2006/extended-properties" xmlns:vt="http://schemas.openxmlformats.org/officeDocument/2006/docPropsVTypes">
  <Template/>
  <TotalTime>149</TotalTime>
  <Words>4593</Words>
  <Application>Microsoft Office PowerPoint</Application>
  <PresentationFormat>Custom</PresentationFormat>
  <Paragraphs>471</Paragraphs>
  <Slides>53</Slides>
  <Notes>18</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Aptos</vt:lpstr>
      <vt:lpstr>Arial</vt:lpstr>
      <vt:lpstr>Calibri</vt:lpstr>
      <vt:lpstr>Calibri Light</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COS30018_INTRO</dc:title>
  <dc:creator>Bao Quoc Vo</dc:creator>
  <cp:lastModifiedBy>Minh Hoang</cp:lastModifiedBy>
  <cp:revision>37</cp:revision>
  <dcterms:created xsi:type="dcterms:W3CDTF">2026-05-13T12:49:16Z</dcterms:created>
  <dcterms:modified xsi:type="dcterms:W3CDTF">2026-05-14T03:09:55Z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2025-07-30T00:00:00Z</vt:filetime>
  </property>
  <property fmtid="{D5CDD505-2E9C-101B-9397-08002B2CF9AE}" pid="3" name="Creator">
    <vt:lpwstr>pdftopdf filter</vt:lpwstr>
  </property>
  <property fmtid="{D5CDD505-2E9C-101B-9397-08002B2CF9AE}" pid="4" name="LastSaved">
    <vt:filetime>2026-05-13T00:00:00Z</vt:filetime>
  </property>
  <property fmtid="{D5CDD505-2E9C-101B-9397-08002B2CF9AE}" pid="5" name="Producer">
    <vt:lpwstr>3-Heights(TM) PDF Security Shell 4.8.25.2 (http://www.pdf-tools.com)</vt:lpwstr>
  </property>
  <property fmtid="{D5CDD505-2E9C-101B-9397-08002B2CF9AE}" pid="6" name="ClassificationContentMarkingHeaderLocations">
    <vt:lpwstr>Office Theme:8</vt:lpwstr>
  </property>
  <property fmtid="{D5CDD505-2E9C-101B-9397-08002B2CF9AE}" pid="7" name="ClassificationContentMarkingHeaderText">
    <vt:lpwstr>Internal</vt:lpwstr>
  </property>
</Properties>
</file>